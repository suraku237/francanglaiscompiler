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Original statements</c:v>
                </c:pt>
              </c:strCache>
            </c:strRef>
          </c:tx>
          <c:dPt>
            <c:idx val="0"/>
            <c:spPr>
              <a:solidFill>
                <a:srgbClr val="147E80"/>
              </a:solidFill>
              <a:ln>
                <a:noFill/>
              </a:ln>
            </c:spPr>
          </c:dPt>
          <c:dPt>
            <c:idx val="1"/>
            <c:spPr>
              <a:solidFill>
                <a:srgbClr val="A8583C"/>
              </a:solidFill>
              <a:ln>
                <a:noFill/>
              </a:ln>
            </c:spPr>
          </c:dPt>
          <c:cat>
            <c:strRef>
              <c:f>Sheet1!$A$2:$A$3</c:f>
              <c:strCache>
                <c:ptCount val="2"/>
                <c:pt idx="0">
                  <c:v>Accepted</c:v>
                </c:pt>
                <c:pt idx="1">
                  <c:v>Rejected</c:v>
                </c:pt>
              </c:strCache>
            </c:strRef>
          </c:cat>
          <c:val>
            <c:numRef>
              <c:f>Sheet1!$B$2:$B$3</c:f>
              <c:numCache>
                <c:formatCode>General</c:formatCode>
                <c:ptCount val="2"/>
                <c:pt idx="0">
                  <c:v>10</c:v>
                </c:pt>
                <c:pt idx="1">
                  <c:v>2</c:v>
                </c:pt>
              </c:numCache>
            </c:numRef>
          </c:val>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12 - Camfranglais</a:t>
            </a:r>
          </a:p>
          <a:p/>
          <a:p>
            <a:r>
              <a:t>Introduce the group and the project. CS4110 Compiler Construction, Summer 2026, SET A. Instructor: Engr. Tanwi Nkiamboh. This concise presentation has twelve slides and is intended for a roughly ten-minute oral presentation. The app is a deterministic lexical and syntactic analyzer, not an AI translator.</a:t>
            </a:r>
          </a:p>
          <a:p/>
          <a:p>
            <a:r>
              <a:t>RESPONSIBLE FILES / EVIDENCE</a:t>
            </a:r>
          </a:p>
          <a:p>
            <a:r>
              <a:t>README.md</a:t>
            </a:r>
          </a:p>
          <a:p>
            <a:r>
              <a:t>docs/document-style.tex</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12 - Our goal: make language analysis visible</a:t>
            </a:r>
          </a:p>
          <a:p/>
          <a:p>
            <a:r>
              <a:t>Explain the problem: informal mixed-language statements are difficult to understand through a single accept/reject badge. The app exposes the intermediate decisions. A grammar match is not proof of meaning or standard French correctness. Suggested speaking time: 40 seconds.</a:t>
            </a:r>
          </a:p>
          <a:p/>
          <a:p>
            <a:r>
              <a:t>RESPONSIBLE FILES / EVIDENCE</a:t>
            </a:r>
          </a:p>
          <a:p>
            <a:r>
              <a:t>compiler/lexer/tokenizer.py</a:t>
            </a:r>
          </a:p>
          <a:p>
            <a:r>
              <a:t>compiler/parser/predictive.py</a:t>
            </a:r>
          </a:p>
          <a:p>
            <a:r>
              <a:t>backend/analyzer_history.py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12 - Five pages, one public workspace</a:t>
            </a:r>
          </a:p>
          <a:p/>
          <a:p>
            <a:r>
              <a:t>App.tsx owns the five-page navigation. PublicSession prepares anonymous access; public_access.py enforces the allowed operations. Public visitors cannot edit Collection, the saved grammar or recordings. The cards link to the matching short walkthrough slides. Suggested speaking time: 45 seconds.</a:t>
            </a:r>
          </a:p>
          <a:p/>
          <a:p>
            <a:r>
              <a:t>RESPONSIBLE FILES / EVIDENCE</a:t>
            </a:r>
          </a:p>
          <a:p>
            <a:r>
              <a:t>frontend/src/App.tsx</a:t>
            </a:r>
          </a:p>
          <a:p>
            <a:r>
              <a:t>frontend/src/PublicSession.tsx</a:t>
            </a:r>
          </a:p>
          <a:p>
            <a:r>
              <a:t>backend/public_access.py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12 - What happens when we press Analyze?</a:t>
            </a:r>
          </a:p>
          <a:p/>
          <a:p>
            <a:r>
              <a:t>Trace the main path from the React input to POST /api/analyzer/tests. The backend validates access and the shared grammar, runs lexical and syntactic analysis, and saves an immutable snapshot. A rejected sentence is still saved as a legitimate test result. Suggested speaking time: 55 seconds.</a:t>
            </a:r>
          </a:p>
          <a:p/>
          <a:p>
            <a:r>
              <a:t>RESPONSIBLE FILES / EVIDENCE</a:t>
            </a:r>
          </a:p>
          <a:p>
            <a:r>
              <a:t>frontend/src/FrancAnalyzer.tsx</a:t>
            </a:r>
          </a:p>
          <a:p>
            <a:r>
              <a:t>backend/analyzer_api.py</a:t>
            </a:r>
          </a:p>
          <a:p>
            <a:r>
              <a:t>compiler/lexer/tokenizer.py</a:t>
            </a:r>
          </a:p>
          <a:p>
            <a:r>
              <a:t>compiler/parser/predictive.py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12 - Franc Analyzer: the main action</a:t>
            </a:r>
          </a:p>
          <a:p/>
          <a:p>
            <a:r>
              <a:t>Use the real input screenshot to explain the user action. The main input is limited to 4,000 characters and can intentionally test empty input. Warn that submitting saves the text publicly, even when rejected. The screenshot was captured without submitting a new test. Suggested speaking time: 50 seconds.</a:t>
            </a:r>
          </a:p>
          <a:p/>
          <a:p>
            <a:r>
              <a:t>RESPONSIBLE FILES / EVIDENCE</a:t>
            </a:r>
          </a:p>
          <a:p>
            <a:r>
              <a:t>frontend/src/FrancAnalyzer.tsx</a:t>
            </a:r>
          </a:p>
          <a:p>
            <a:r>
              <a:t>backend/analyzer_api.py</a:t>
            </a:r>
          </a:p>
          <a:p>
            <a:r>
              <a:t>backend/analyzer_history.py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12 - Two verdicts explain the result</a:t>
            </a:r>
          </a:p>
          <a:p/>
          <a:p>
            <a:r>
              <a:t>Show the genuine saved S02 result. Its categories are French function word, verb, adjective, French function word, verb, verb. Known words can still fail grammar: the constructed control je je suis is one example. The trace explains the decision; acceptance does not certify linguistic correctness. Suggested speaking time: 65 seconds.</a:t>
            </a:r>
          </a:p>
          <a:p/>
          <a:p>
            <a:r>
              <a:t>RESPONSIBLE FILES / EVIDENCE</a:t>
            </a:r>
          </a:p>
          <a:p>
            <a:r>
              <a:t>frontend/src/CourseworkResults.tsx</a:t>
            </a:r>
          </a:p>
          <a:p>
            <a:r>
              <a:t>frontend/src/VocabularyVerdict.tsx</a:t>
            </a:r>
          </a:p>
          <a:p>
            <a:r>
              <a:t>compiler/parser/predictive.py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12 - Reference pages support the analysis</a:t>
            </a:r>
          </a:p>
          <a:p/>
          <a:p>
            <a:r>
              <a:t>The screenshot is a real search for kass: supplied meaning tired/exhausted/worn out, category adjective. Opening a reference only drafts text in the Analyzer; it does not automatically save a test. Existing recordings can be played, but the public workflow does not generate speech. Suggested speaking time: 50 seconds.</a:t>
            </a:r>
          </a:p>
          <a:p/>
          <a:p>
            <a:r>
              <a:t>RESPONSIBLE FILES / EVIDENCE</a:t>
            </a:r>
          </a:p>
          <a:p>
            <a:r>
              <a:t>frontend/src/Collection.tsx</a:t>
            </a:r>
          </a:p>
          <a:p>
            <a:r>
              <a:t>frontend/src/Dictionary.tsx</a:t>
            </a:r>
          </a:p>
          <a:p>
            <a:r>
              <a:t>frontend/src/Examples.tsx</a:t>
            </a:r>
          </a:p>
          <a:p>
            <a:r>
              <a:t>backend/dictionary.py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12 - Three layers and their key files</a:t>
            </a:r>
          </a:p>
          <a:p/>
          <a:p>
            <a:r>
              <a:t>The browser presents the workflow, the backend validates and coordinates requests, and the compiler performs the rule-based computation. SharedWorkspaceStore persists public test snapshots in SQLite. The documented site is https://camfranglais.duckdns.org, with a private 127.0.0.1:2021 upstream behind Nginx. Suggested speaking time: 55 seconds.</a:t>
            </a:r>
          </a:p>
          <a:p/>
          <a:p>
            <a:r>
              <a:t>RESPONSIBLE FILES / EVIDENCE</a:t>
            </a:r>
          </a:p>
          <a:p>
            <a:r>
              <a:t>frontend/src/App.tsx</a:t>
            </a:r>
          </a:p>
          <a:p>
            <a:r>
              <a:t>backend/main.py</a:t>
            </a:r>
          </a:p>
          <a:p>
            <a:r>
              <a:t>compiler/lexer/tokenizer.py</a:t>
            </a:r>
          </a:p>
          <a:p>
            <a:r>
              <a:t>compiler/parser/predictive.py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12 - Lexer: from characters to tokens</a:t>
            </a:r>
          </a:p>
          <a:p/>
          <a:p>
            <a:r>
              <a:t>The implementation uses Python's regex matcher, not a hand-written DFA class. Double circles accept token forms. W is word, I integer, F fraction, P punctuation and O other; J and R await continuation. Example: j'ai is one word, while 3. becomes 3 and a punctuation token. A word-shaped token can still receive UNKNOWN. Suggested speaking time: 65 seconds.</a:t>
            </a:r>
          </a:p>
          <a:p/>
          <a:p>
            <a:r>
              <a:t>RESPONSIBLE FILES / EVIDENCE</a:t>
            </a:r>
          </a:p>
          <a:p>
            <a:r>
              <a:t>compiler/lexer/tokenizer.py</a:t>
            </a:r>
          </a:p>
          <a:p>
            <a:r>
              <a:t>compiler/lexer/lexicon.py</a:t>
            </a:r>
          </a:p>
          <a:p>
            <a:r>
              <a:t>docs/diagrams/automaton-lexer.puml</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12 - Parser: categories plus a stack</a:t>
            </a:r>
          </a:p>
          <a:p/>
          <a:p>
            <a:r>
              <a:t>This pushdown model explains the implementation rather than introducing invented classes. Stack top is on the right; expansion pushes the reversed production. FIRST/FOLLOW and the LL(1) table are computed from the grammar. The study's transformed grammar has 39 productions, 47 populated table cells and no conflicts. The implementation has token, trace and stack bounds. Suggested speaking time: 70 seconds.</a:t>
            </a:r>
          </a:p>
          <a:p/>
          <a:p>
            <a:r>
              <a:t>RESPONSIBLE FILES / EVIDENCE</a:t>
            </a:r>
          </a:p>
          <a:p>
            <a:r>
              <a:t>compiler/parser/analysis.py</a:t>
            </a:r>
          </a:p>
          <a:p>
            <a:r>
              <a:t>compiler/parser/predictive.py</a:t>
            </a:r>
          </a:p>
          <a:p>
            <a:r>
              <a:t>docs/diagrams/automaton-parser.puml</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12 - What the controlled study shows</a:t>
            </a:r>
          </a:p>
          <a:p/>
          <a:p>
            <a:r>
              <a:t>The 83.3 percent match rate applies only to these twelve unchanged originals and this saved grammar. It is not a language-wide accuracy measurement. Original fieldwork provenance and supplied meanings still need human confirmation. The dashboard's live history totals are a different dataset. Suggested speaking time: 55 seconds.</a:t>
            </a:r>
          </a:p>
          <a:p/>
          <a:p>
            <a:r>
              <a:t>RESPONSIBLE FILES / EVIDENCE</a:t>
            </a:r>
          </a:p>
          <a:p>
            <a:r>
              <a:t>docs/evidence/final-analysis-20260927.json</a:t>
            </a:r>
          </a:p>
          <a:p>
            <a:r>
              <a:t>compiler/tests/yaounde_cases.py</a:t>
            </a:r>
          </a:p>
          <a:p>
            <a:r>
              <a:t>compiler/parser/yaounde.py</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12 - Transparent rules. Visible evidence.</a:t>
            </a:r>
          </a:p>
          <a:p/>
          <a:p>
            <a:r>
              <a:t>Summarize the main value: a public, deterministic application that makes lexical and syntactic decisions inspectable and keeps their original results. Invite questions or demonstrate an existing saved test. The website is https://camfranglais.duckdns.org. Suggested speaking time: 20 seconds, leaving time for transitions and the group handoff.</a:t>
            </a:r>
          </a:p>
          <a:p/>
          <a:p>
            <a:r>
              <a:t>RESPONSIBLE FILES / EVIDENCE</a:t>
            </a:r>
          </a:p>
          <a:p>
            <a:r>
              <a:t>README.md</a:t>
            </a:r>
          </a:p>
          <a:p>
            <a:r>
              <a:t>docs/README.md</a:t>
            </a:r>
          </a:p>
          <a:p/>
          <a:p>
            <a:r>
              <a:t>Visuals: real app screenshots or clearly labelled original explanatory artwork. Source paths are repository-relative. No application or VPS change is performed by this presentation.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README.md" TargetMode="External"/><Relationship Id="rId4" Type="http://schemas.openxmlformats.org/officeDocument/2006/relationships/hyperlink" Target="../docs/document-style.tex"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compiler/lexer/tokenizer.py" TargetMode="External"/><Relationship Id="rId3" Type="http://schemas.openxmlformats.org/officeDocument/2006/relationships/hyperlink" Target="../compiler/parser/predictive.py" TargetMode="External"/><Relationship Id="rId4" Type="http://schemas.openxmlformats.org/officeDocument/2006/relationships/hyperlink" Target="../backend/analyzer_history.py" TargetMode="Externa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App.tsx" TargetMode="External"/><Relationship Id="rId3" Type="http://schemas.openxmlformats.org/officeDocument/2006/relationships/hyperlink" Target="../frontend/src/PublicSession.tsx" TargetMode="External"/><Relationship Id="rId4" Type="http://schemas.openxmlformats.org/officeDocument/2006/relationships/hyperlink" Target="../backend/public_access.py" TargetMode="External"/><Relationship Id="rId5" Type="http://schemas.openxmlformats.org/officeDocument/2006/relationships/notesSlide" Target="../notesSlides/notesSlide3.xml"/><Relationship Id="rId6" Type="http://schemas.openxmlformats.org/officeDocument/2006/relationships/slide" Target="slide5.xml"/><Relationship Id="rId7" Type="http://schemas.openxmlformats.org/officeDocument/2006/relationships/slide" Target="slide6.xml"/><Relationship Id="rId8" Type="http://schemas.openxmlformats.org/officeDocument/2006/relationships/slide" Target="slide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rontend/src/FrancAnalyzer.tsx" TargetMode="External"/><Relationship Id="rId3" Type="http://schemas.openxmlformats.org/officeDocument/2006/relationships/hyperlink" Target="../backend/analyzer_api.py" TargetMode="External"/><Relationship Id="rId4" Type="http://schemas.openxmlformats.org/officeDocument/2006/relationships/hyperlink" Target="../compiler/lexer/tokenizer.py" TargetMode="External"/><Relationship Id="rId5" Type="http://schemas.openxmlformats.org/officeDocument/2006/relationships/hyperlink" Target="../compiler/parser/predictive.py" TargetMode="Externa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frontend/src/FrancAnalyzer.tsx" TargetMode="External"/><Relationship Id="rId4" Type="http://schemas.openxmlformats.org/officeDocument/2006/relationships/hyperlink" Target="../backend/analyzer_api.py" TargetMode="External"/><Relationship Id="rId5" Type="http://schemas.openxmlformats.org/officeDocument/2006/relationships/hyperlink" Target="../backend/analyzer_history.py" TargetMode="Externa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frontend/src/CourseworkResults.tsx" TargetMode="External"/><Relationship Id="rId4" Type="http://schemas.openxmlformats.org/officeDocument/2006/relationships/hyperlink" Target="../frontend/src/VocabularyVerdict.tsx" TargetMode="External"/><Relationship Id="rId5" Type="http://schemas.openxmlformats.org/officeDocument/2006/relationships/hyperlink" Target="../compiler/parser/predictive.py" TargetMode="Externa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frontend/src/Collection.tsx" TargetMode="External"/><Relationship Id="rId4" Type="http://schemas.openxmlformats.org/officeDocument/2006/relationships/hyperlink" Target="../frontend/src/Dictionary.tsx" TargetMode="External"/><Relationship Id="rId5" Type="http://schemas.openxmlformats.org/officeDocument/2006/relationships/hyperlink" Target="../frontend/src/Examples.tsx" TargetMode="External"/><Relationship Id="rId6" Type="http://schemas.openxmlformats.org/officeDocument/2006/relationships/hyperlink" Target="../backend/dictionary.py" TargetMode="Externa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hyperlink" Target="../frontend/src/App.tsx" TargetMode="External"/><Relationship Id="rId4" Type="http://schemas.openxmlformats.org/officeDocument/2006/relationships/hyperlink" Target="../backend/main.py" TargetMode="External"/><Relationship Id="rId5" Type="http://schemas.openxmlformats.org/officeDocument/2006/relationships/hyperlink" Target="../compiler/lexer/tokenizer.py" TargetMode="External"/><Relationship Id="rId6" Type="http://schemas.openxmlformats.org/officeDocument/2006/relationships/hyperlink" Target="../compiler/parser/predictive.py" TargetMode="Externa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hyperlink" Target="../compiler/lexer/tokenizer.py" TargetMode="External"/><Relationship Id="rId4" Type="http://schemas.openxmlformats.org/officeDocument/2006/relationships/hyperlink" Target="../compiler/lexer/lexicon.py" TargetMode="External"/><Relationship Id="rId5" Type="http://schemas.openxmlformats.org/officeDocument/2006/relationships/hyperlink" Target="../docs/diagrams/automaton-lexer.puml" TargetMode="Externa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hyperlink" Target="../compiler/parser/analysis.py" TargetMode="External"/><Relationship Id="rId4" Type="http://schemas.openxmlformats.org/officeDocument/2006/relationships/hyperlink" Target="../compiler/parser/predictive.py" TargetMode="External"/><Relationship Id="rId5" Type="http://schemas.openxmlformats.org/officeDocument/2006/relationships/hyperlink" Target="../docs/diagrams/automaton-parser.puml" TargetMode="Externa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hyperlink" Target="../docs/evidence/final-analysis-20260927.json" TargetMode="External"/><Relationship Id="rId4" Type="http://schemas.openxmlformats.org/officeDocument/2006/relationships/hyperlink" Target="../compiler/tests/yaounde_cases.py" TargetMode="External"/><Relationship Id="rId5" Type="http://schemas.openxmlformats.org/officeDocument/2006/relationships/hyperlink" Target="../compiler/parser/yaounde.py" TargetMode="Externa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amfranglais.duckdns.org" TargetMode="External"/><Relationship Id="rId3" Type="http://schemas.openxmlformats.org/officeDocument/2006/relationships/hyperlink" Target="../README.md" TargetMode="External"/><Relationship Id="rId4" Type="http://schemas.openxmlformats.org/officeDocument/2006/relationships/hyperlink" Target="../docs/README.md" TargetMode="External"/><Relationship Id="rId5"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3041"/>
        </a:solidFill>
        <a:effectLst/>
      </p:bgPr>
    </p:bg>
    <p:spTree>
      <p:nvGrpSpPr>
        <p:cNvPr id="1" name=""/>
        <p:cNvGrpSpPr/>
        <p:nvPr/>
      </p:nvGrpSpPr>
      <p:grpSpPr/>
      <p:sp>
        <p:nvSpPr>
          <p:cNvPr id="2" name="Rectangle 1"/>
          <p:cNvSpPr/>
          <p:nvPr/>
        </p:nvSpPr>
        <p:spPr>
          <a:xfrm>
            <a:off x="539496" y="576072"/>
            <a:ext cx="941832" cy="5029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section-1"/>
          <p:cNvSpPr txBox="1"/>
          <p:nvPr/>
        </p:nvSpPr>
        <p:spPr>
          <a:xfrm>
            <a:off x="539496" y="905256"/>
            <a:ext cx="9418320" cy="265176"/>
          </a:xfrm>
          <a:prstGeom prst="rect">
            <a:avLst/>
          </a:prstGeom>
          <a:noFill/>
        </p:spPr>
        <p:txBody>
          <a:bodyPr wrap="none" lIns="0" rIns="0" tIns="0" bIns="0" anchor="t">
            <a:noAutofit/>
          </a:bodyPr>
          <a:lstStyle/>
          <a:p>
            <a:pPr algn="l">
              <a:lnSpc>
                <a:spcPts val="1391"/>
              </a:lnSpc>
              <a:spcBef>
                <a:spcPts val="0"/>
              </a:spcBef>
              <a:spcAft>
                <a:spcPts val="0"/>
              </a:spcAft>
              <a:defRPr sz="1200" b="1">
                <a:solidFill>
                  <a:srgbClr val="85BABB"/>
                </a:solidFill>
                <a:latin typeface="Arial"/>
              </a:defRPr>
            </a:pPr>
            <a:r>
              <a:t>CAMFRANGLAIS / COMPILER WORKSPACE</a:t>
            </a:r>
          </a:p>
        </p:txBody>
      </p:sp>
      <p:sp>
        <p:nvSpPr>
          <p:cNvPr id="4" name="title-2"/>
          <p:cNvSpPr txBox="1"/>
          <p:nvPr/>
        </p:nvSpPr>
        <p:spPr>
          <a:xfrm>
            <a:off x="539496" y="1508760"/>
            <a:ext cx="6035040" cy="950976"/>
          </a:xfrm>
          <a:prstGeom prst="rect">
            <a:avLst/>
          </a:prstGeom>
          <a:noFill/>
        </p:spPr>
        <p:txBody>
          <a:bodyPr wrap="none" lIns="0" rIns="0" tIns="0" bIns="0" anchor="t">
            <a:noAutofit/>
          </a:bodyPr>
          <a:lstStyle/>
          <a:p>
            <a:pPr algn="l">
              <a:lnSpc>
                <a:spcPts val="5452"/>
              </a:lnSpc>
              <a:spcBef>
                <a:spcPts val="0"/>
              </a:spcBef>
              <a:spcAft>
                <a:spcPts val="0"/>
              </a:spcAft>
              <a:defRPr sz="4700" b="1">
                <a:solidFill>
                  <a:srgbClr val="FFFFFF"/>
                </a:solidFill>
                <a:latin typeface="Georgia"/>
              </a:defRPr>
            </a:pPr>
            <a:r>
              <a:t>Camfranglais</a:t>
            </a:r>
          </a:p>
        </p:txBody>
      </p:sp>
      <p:sp>
        <p:nvSpPr>
          <p:cNvPr id="5" name="subtitle-3"/>
          <p:cNvSpPr txBox="1"/>
          <p:nvPr/>
        </p:nvSpPr>
        <p:spPr>
          <a:xfrm>
            <a:off x="585216" y="2697480"/>
            <a:ext cx="4818888" cy="1389888"/>
          </a:xfrm>
          <a:prstGeom prst="rect">
            <a:avLst/>
          </a:prstGeom>
          <a:noFill/>
        </p:spPr>
        <p:txBody>
          <a:bodyPr wrap="none" lIns="0" rIns="0" tIns="0" bIns="0" anchor="t">
            <a:noAutofit/>
          </a:bodyPr>
          <a:lstStyle/>
          <a:p>
            <a:pPr algn="l">
              <a:lnSpc>
                <a:spcPts val="3596"/>
              </a:lnSpc>
              <a:spcBef>
                <a:spcPts val="0"/>
              </a:spcBef>
              <a:spcAft>
                <a:spcPts val="0"/>
              </a:spcAft>
              <a:defRPr sz="3100" b="0">
                <a:solidFill>
                  <a:srgbClr val="FFFFFF"/>
                </a:solidFill>
                <a:latin typeface="Arial"/>
              </a:defRPr>
            </a:pPr>
            <a:r>
              <a:t>How the app works.</a:t>
            </a:r>
          </a:p>
          <a:p>
            <a:pPr algn="l">
              <a:lnSpc>
                <a:spcPts val="3596"/>
              </a:lnSpc>
              <a:spcBef>
                <a:spcPts val="0"/>
              </a:spcBef>
              <a:spcAft>
                <a:spcPts val="0"/>
              </a:spcAft>
              <a:defRPr sz="3100" b="0">
                <a:solidFill>
                  <a:srgbClr val="FFFFFF"/>
                </a:solidFill>
                <a:latin typeface="Arial"/>
              </a:defRPr>
            </a:pPr>
            <a:r>
              <a:t>The essential source files.</a:t>
            </a:r>
          </a:p>
        </p:txBody>
      </p:sp>
      <p:sp>
        <p:nvSpPr>
          <p:cNvPr id="6" name="body-4"/>
          <p:cNvSpPr txBox="1"/>
          <p:nvPr/>
        </p:nvSpPr>
        <p:spPr>
          <a:xfrm>
            <a:off x="594360" y="4306824"/>
            <a:ext cx="5029200" cy="246888"/>
          </a:xfrm>
          <a:prstGeom prst="rect">
            <a:avLst/>
          </a:prstGeom>
          <a:noFill/>
        </p:spPr>
        <p:txBody>
          <a:bodyPr wrap="none" lIns="0" rIns="0" tIns="0" bIns="0" anchor="t">
            <a:noAutofit/>
          </a:bodyPr>
          <a:lstStyle/>
          <a:p>
            <a:pPr algn="l">
              <a:lnSpc>
                <a:spcPts val="1391"/>
              </a:lnSpc>
              <a:spcBef>
                <a:spcPts val="0"/>
              </a:spcBef>
              <a:spcAft>
                <a:spcPts val="0"/>
              </a:spcAft>
              <a:defRPr sz="1200" b="1">
                <a:solidFill>
                  <a:srgbClr val="CBA261"/>
                </a:solidFill>
                <a:latin typeface="Arial"/>
              </a:defRPr>
            </a:pPr>
            <a:r>
              <a:t>CS4110 / SUMMER 2026 / SET A</a:t>
            </a:r>
          </a:p>
        </p:txBody>
      </p:sp>
      <p:sp>
        <p:nvSpPr>
          <p:cNvPr id="7" name="body-5"/>
          <p:cNvSpPr txBox="1"/>
          <p:nvPr/>
        </p:nvSpPr>
        <p:spPr>
          <a:xfrm>
            <a:off x="594360" y="4736592"/>
            <a:ext cx="5175504" cy="246888"/>
          </a:xfrm>
          <a:prstGeom prst="rect">
            <a:avLst/>
          </a:prstGeom>
          <a:noFill/>
        </p:spPr>
        <p:txBody>
          <a:bodyPr wrap="none" lIns="0" rIns="0" tIns="0" bIns="0" anchor="t">
            <a:noAutofit/>
          </a:bodyPr>
          <a:lstStyle/>
          <a:p>
            <a:pPr algn="l">
              <a:lnSpc>
                <a:spcPts val="1449"/>
              </a:lnSpc>
              <a:spcBef>
                <a:spcPts val="0"/>
              </a:spcBef>
              <a:spcAft>
                <a:spcPts val="0"/>
              </a:spcAft>
              <a:defRPr sz="1250" b="0">
                <a:solidFill>
                  <a:srgbClr val="D1E2E1"/>
                </a:solidFill>
                <a:latin typeface="Arial"/>
              </a:defRPr>
            </a:pPr>
            <a:r>
              <a:t>Kwete Ngouba Junior Rayan / ICTU20241377</a:t>
            </a:r>
          </a:p>
        </p:txBody>
      </p:sp>
      <p:sp>
        <p:nvSpPr>
          <p:cNvPr id="8" name="body-6"/>
          <p:cNvSpPr txBox="1"/>
          <p:nvPr/>
        </p:nvSpPr>
        <p:spPr>
          <a:xfrm>
            <a:off x="594360" y="5056631"/>
            <a:ext cx="5175504" cy="246888"/>
          </a:xfrm>
          <a:prstGeom prst="rect">
            <a:avLst/>
          </a:prstGeom>
          <a:noFill/>
        </p:spPr>
        <p:txBody>
          <a:bodyPr wrap="none" lIns="0" rIns="0" tIns="0" bIns="0" anchor="t">
            <a:noAutofit/>
          </a:bodyPr>
          <a:lstStyle/>
          <a:p>
            <a:pPr algn="l">
              <a:lnSpc>
                <a:spcPts val="1449"/>
              </a:lnSpc>
              <a:spcBef>
                <a:spcPts val="0"/>
              </a:spcBef>
              <a:spcAft>
                <a:spcPts val="0"/>
              </a:spcAft>
              <a:defRPr sz="1250" b="0">
                <a:solidFill>
                  <a:srgbClr val="D1E2E1"/>
                </a:solidFill>
                <a:latin typeface="Arial"/>
              </a:defRPr>
            </a:pPr>
            <a:r>
              <a:t>Djemtchimo Noukui Bruno Jonatan / ICTU20241585</a:t>
            </a:r>
          </a:p>
        </p:txBody>
      </p:sp>
      <p:sp>
        <p:nvSpPr>
          <p:cNvPr id="9" name="body-7"/>
          <p:cNvSpPr txBox="1"/>
          <p:nvPr/>
        </p:nvSpPr>
        <p:spPr>
          <a:xfrm>
            <a:off x="594360" y="5376672"/>
            <a:ext cx="5175504" cy="246888"/>
          </a:xfrm>
          <a:prstGeom prst="rect">
            <a:avLst/>
          </a:prstGeom>
          <a:noFill/>
        </p:spPr>
        <p:txBody>
          <a:bodyPr wrap="none" lIns="0" rIns="0" tIns="0" bIns="0" anchor="t">
            <a:noAutofit/>
          </a:bodyPr>
          <a:lstStyle/>
          <a:p>
            <a:pPr algn="l">
              <a:lnSpc>
                <a:spcPts val="1449"/>
              </a:lnSpc>
              <a:spcBef>
                <a:spcPts val="0"/>
              </a:spcBef>
              <a:spcAft>
                <a:spcPts val="0"/>
              </a:spcAft>
              <a:defRPr sz="1250" b="0">
                <a:solidFill>
                  <a:srgbClr val="D1E2E1"/>
                </a:solidFill>
                <a:latin typeface="Arial"/>
              </a:defRPr>
            </a:pPr>
            <a:r>
              <a:t>Amina Boubakary / ICTU20241870</a:t>
            </a:r>
          </a:p>
        </p:txBody>
      </p:sp>
      <p:sp>
        <p:nvSpPr>
          <p:cNvPr id="10" name="Rounded Rectangle 9"/>
          <p:cNvSpPr/>
          <p:nvPr/>
        </p:nvSpPr>
        <p:spPr>
          <a:xfrm>
            <a:off x="6103620" y="1691640"/>
            <a:ext cx="5559552" cy="4041648"/>
          </a:xfrm>
          <a:prstGeom prst="roundRect">
            <a:avLst>
              <a:gd name="adj" fmla="val 11000"/>
            </a:avLst>
          </a:prstGeom>
          <a:solidFill>
            <a:srgbClr val="DCE5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6062472" y="1636776"/>
            <a:ext cx="5559552" cy="4041648"/>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6062472" y="1636776"/>
            <a:ext cx="5559552" cy="292608"/>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Oval 12"/>
          <p:cNvSpPr/>
          <p:nvPr/>
        </p:nvSpPr>
        <p:spPr>
          <a:xfrm>
            <a:off x="6190488" y="1728216"/>
            <a:ext cx="73152" cy="73152"/>
          </a:xfrm>
          <a:prstGeom prst="ellipse">
            <a:avLst/>
          </a:prstGeom>
          <a:solidFill>
            <a:srgbClr val="A858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6327648" y="1728216"/>
            <a:ext cx="73152" cy="73152"/>
          </a:xfrm>
          <a:prstGeom prst="ellipse">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6464807" y="1728216"/>
            <a:ext cx="73152" cy="73152"/>
          </a:xfrm>
          <a:prstGeom prst="ellipse">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caption-8"/>
          <p:cNvSpPr txBox="1"/>
          <p:nvPr/>
        </p:nvSpPr>
        <p:spPr>
          <a:xfrm>
            <a:off x="6739128" y="1696212"/>
            <a:ext cx="4553712" cy="173736"/>
          </a:xfrm>
          <a:prstGeom prst="rect">
            <a:avLst/>
          </a:prstGeom>
          <a:noFill/>
        </p:spPr>
        <p:txBody>
          <a:bodyPr wrap="none" lIns="0" rIns="0" tIns="0" bIns="0" anchor="t">
            <a:noAutofit/>
          </a:bodyPr>
          <a:lstStyle/>
          <a:p>
            <a:pPr algn="l">
              <a:lnSpc>
                <a:spcPts val="1160"/>
              </a:lnSpc>
              <a:spcBef>
                <a:spcPts val="0"/>
              </a:spcBef>
              <a:spcAft>
                <a:spcPts val="0"/>
              </a:spcAft>
              <a:defRPr sz="1000" b="0">
                <a:solidFill>
                  <a:srgbClr val="587080"/>
                </a:solidFill>
                <a:latin typeface="Arial"/>
              </a:defRPr>
            </a:pPr>
            <a:r>
              <a:t>camfranglais.duckdns.org</a:t>
            </a:r>
          </a:p>
        </p:txBody>
      </p:sp>
      <p:pic>
        <p:nvPicPr>
          <p:cNvPr id="17" name="Picture 16" descr="analyzer-desktop.png"/>
          <p:cNvPicPr>
            <a:picLocks noChangeAspect="1"/>
          </p:cNvPicPr>
          <p:nvPr/>
        </p:nvPicPr>
        <p:blipFill>
          <a:blip r:embed="rId2"/>
          <a:stretch>
            <a:fillRect/>
          </a:stretch>
        </p:blipFill>
        <p:spPr>
          <a:xfrm>
            <a:off x="6117336" y="1969008"/>
            <a:ext cx="5449824" cy="3633216"/>
          </a:xfrm>
          <a:prstGeom prst="rect">
            <a:avLst/>
          </a:prstGeom>
        </p:spPr>
      </p:pic>
      <p:cxnSp>
        <p:nvCxnSpPr>
          <p:cNvPr id="18" name="Connector 17"/>
          <p:cNvCxnSpPr/>
          <p:nvPr/>
        </p:nvCxnSpPr>
        <p:spPr>
          <a:xfrm>
            <a:off x="530352" y="6062472"/>
            <a:ext cx="11128248" cy="0"/>
          </a:xfrm>
          <a:prstGeom prst="line">
            <a:avLst/>
          </a:prstGeom>
          <a:ln w="8890">
            <a:solidFill>
              <a:srgbClr val="355565"/>
            </a:solidFill>
          </a:ln>
          <a:effectLst/>
        </p:spPr>
        <p:style>
          <a:lnRef idx="2">
            <a:schemeClr val="accent1"/>
          </a:lnRef>
          <a:fillRef idx="0">
            <a:schemeClr val="accent1"/>
          </a:fillRef>
          <a:effectRef idx="0">
            <a:schemeClr val="accent1"/>
          </a:effectRef>
          <a:fontRef idx="minor">
            <a:schemeClr val="tx1"/>
          </a:fontRef>
        </p:style>
      </p:cxnSp>
      <p:sp>
        <p:nvSpPr>
          <p:cNvPr id="19" name="footer-9"/>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CBA261"/>
                </a:solidFill>
                <a:latin typeface="Arial"/>
              </a:defRPr>
            </a:pPr>
            <a:r>
              <a:t>IMPLEMENTATION / EVIDENCE</a:t>
            </a:r>
          </a:p>
        </p:txBody>
      </p:sp>
      <p:sp>
        <p:nvSpPr>
          <p:cNvPr id="20" name="source-10">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B2CBCB"/>
                </a:solidFill>
                <a:latin typeface="Consolas"/>
              </a:defRPr>
            </a:pPr>
            <a:r>
              <a:t>README.md</a:t>
            </a:r>
          </a:p>
        </p:txBody>
      </p:sp>
      <p:sp>
        <p:nvSpPr>
          <p:cNvPr id="21" name="source-11">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B2CBCB"/>
                </a:solidFill>
                <a:latin typeface="Consolas"/>
              </a:defRPr>
            </a:pPr>
            <a:r>
              <a:t>docs/document-style.tex</a:t>
            </a:r>
          </a:p>
        </p:txBody>
      </p:sp>
      <p:sp>
        <p:nvSpPr>
          <p:cNvPr id="22" name="footer-12"/>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B2CBCB"/>
                </a:solidFill>
                <a:latin typeface="Arial"/>
              </a:defRPr>
            </a:pPr>
            <a:r>
              <a:t>CS4110  /  SET A  /  27 SEP 2026</a:t>
            </a:r>
          </a:p>
        </p:txBody>
      </p:sp>
      <p:sp>
        <p:nvSpPr>
          <p:cNvPr id="23" name="footer-13"/>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B2CBCB"/>
                </a:solidFill>
                <a:latin typeface="Arial"/>
              </a:defRPr>
            </a:pPr>
            <a:r>
              <a:t>01 / 12</a:t>
            </a:r>
          </a:p>
        </p:txBody>
      </p:sp>
      <p:sp>
        <p:nvSpPr>
          <p:cNvPr id="24" name="Rectangle 23"/>
          <p:cNvSpPr/>
          <p:nvPr/>
        </p:nvSpPr>
        <p:spPr>
          <a:xfrm>
            <a:off x="0" y="6821424"/>
            <a:ext cx="12191999" cy="36576"/>
          </a:xfrm>
          <a:prstGeom prst="rect">
            <a:avLst/>
          </a:prstGeom>
          <a:solidFill>
            <a:srgbClr val="28485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0" y="6821424"/>
            <a:ext cx="1015999" cy="36576"/>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THE ESSENTIALS / CS4110</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Our goal: make language analysis visible</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 transparent teaching tool for Camfranglais statements.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39496" y="2029968"/>
            <a:ext cx="357225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539496" y="2029968"/>
            <a:ext cx="50292" cy="36850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val 8"/>
          <p:cNvSpPr/>
          <p:nvPr/>
        </p:nvSpPr>
        <p:spPr>
          <a:xfrm>
            <a:off x="768096" y="2304288"/>
            <a:ext cx="603504" cy="603504"/>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5"/>
          <p:cNvSpPr txBox="1"/>
          <p:nvPr/>
        </p:nvSpPr>
        <p:spPr>
          <a:xfrm>
            <a:off x="768096" y="2450592"/>
            <a:ext cx="603504" cy="292608"/>
          </a:xfrm>
          <a:prstGeom prst="rect">
            <a:avLst/>
          </a:prstGeom>
          <a:noFill/>
        </p:spPr>
        <p:txBody>
          <a:bodyPr wrap="none" lIns="0" rIns="0" tIns="0" bIns="0" anchor="t">
            <a:noAutofit/>
          </a:bodyPr>
          <a:lstStyle/>
          <a:p>
            <a:pPr algn="ctr">
              <a:lnSpc>
                <a:spcPts val="1972"/>
              </a:lnSpc>
              <a:spcBef>
                <a:spcPts val="0"/>
              </a:spcBef>
              <a:spcAft>
                <a:spcPts val="0"/>
              </a:spcAft>
              <a:defRPr sz="1700" b="1">
                <a:solidFill>
                  <a:srgbClr val="147E80"/>
                </a:solidFill>
                <a:latin typeface="Arial"/>
              </a:defRPr>
            </a:pPr>
            <a:r>
              <a:t>01</a:t>
            </a:r>
          </a:p>
        </p:txBody>
      </p:sp>
      <p:sp>
        <p:nvSpPr>
          <p:cNvPr id="11" name="body-6"/>
          <p:cNvSpPr txBox="1"/>
          <p:nvPr/>
        </p:nvSpPr>
        <p:spPr>
          <a:xfrm>
            <a:off x="795528" y="3182112"/>
            <a:ext cx="3060192" cy="685800"/>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83747"/>
                </a:solidFill>
                <a:latin typeface="Arial"/>
              </a:defRPr>
            </a:pPr>
            <a:r>
              <a:t>PRESERVE</a:t>
            </a:r>
          </a:p>
        </p:txBody>
      </p:sp>
      <p:sp>
        <p:nvSpPr>
          <p:cNvPr id="12" name="body-7"/>
          <p:cNvSpPr txBox="1"/>
          <p:nvPr/>
        </p:nvSpPr>
        <p:spPr>
          <a:xfrm>
            <a:off x="795528" y="3977639"/>
            <a:ext cx="3060192" cy="1581912"/>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Keep the original words,</a:t>
            </a:r>
          </a:p>
          <a:p>
            <a:pPr algn="l">
              <a:lnSpc>
                <a:spcPts val="2320"/>
              </a:lnSpc>
              <a:spcBef>
                <a:spcPts val="0"/>
              </a:spcBef>
              <a:spcAft>
                <a:spcPts val="0"/>
              </a:spcAft>
              <a:defRPr sz="2000" b="0">
                <a:solidFill>
                  <a:srgbClr val="587080"/>
                </a:solidFill>
                <a:latin typeface="Arial"/>
              </a:defRPr>
            </a:pPr>
            <a:r>
              <a:t>spelling and punctuation.</a:t>
            </a:r>
          </a:p>
        </p:txBody>
      </p:sp>
      <p:sp>
        <p:nvSpPr>
          <p:cNvPr id="13" name="Rounded Rectangle 12"/>
          <p:cNvSpPr/>
          <p:nvPr/>
        </p:nvSpPr>
        <p:spPr>
          <a:xfrm>
            <a:off x="4312920" y="2029968"/>
            <a:ext cx="357225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312920" y="2029968"/>
            <a:ext cx="50292" cy="368503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4541520" y="2304288"/>
            <a:ext cx="603504" cy="603504"/>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body-8"/>
          <p:cNvSpPr txBox="1"/>
          <p:nvPr/>
        </p:nvSpPr>
        <p:spPr>
          <a:xfrm>
            <a:off x="4541520" y="2450592"/>
            <a:ext cx="603504" cy="292608"/>
          </a:xfrm>
          <a:prstGeom prst="rect">
            <a:avLst/>
          </a:prstGeom>
          <a:noFill/>
        </p:spPr>
        <p:txBody>
          <a:bodyPr wrap="none" lIns="0" rIns="0" tIns="0" bIns="0" anchor="t">
            <a:noAutofit/>
          </a:bodyPr>
          <a:lstStyle/>
          <a:p>
            <a:pPr algn="ctr">
              <a:lnSpc>
                <a:spcPts val="1972"/>
              </a:lnSpc>
              <a:spcBef>
                <a:spcPts val="0"/>
              </a:spcBef>
              <a:spcAft>
                <a:spcPts val="0"/>
              </a:spcAft>
              <a:defRPr sz="1700" b="1">
                <a:solidFill>
                  <a:srgbClr val="147E80"/>
                </a:solidFill>
                <a:latin typeface="Arial"/>
              </a:defRPr>
            </a:pPr>
            <a:r>
              <a:t>02</a:t>
            </a:r>
          </a:p>
        </p:txBody>
      </p:sp>
      <p:sp>
        <p:nvSpPr>
          <p:cNvPr id="17" name="body-9"/>
          <p:cNvSpPr txBox="1"/>
          <p:nvPr/>
        </p:nvSpPr>
        <p:spPr>
          <a:xfrm>
            <a:off x="4568952" y="3182112"/>
            <a:ext cx="3060192" cy="685800"/>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83747"/>
                </a:solidFill>
                <a:latin typeface="Arial"/>
              </a:defRPr>
            </a:pPr>
            <a:r>
              <a:t>EXPLAIN</a:t>
            </a:r>
          </a:p>
        </p:txBody>
      </p:sp>
      <p:sp>
        <p:nvSpPr>
          <p:cNvPr id="18" name="body-10"/>
          <p:cNvSpPr txBox="1"/>
          <p:nvPr/>
        </p:nvSpPr>
        <p:spPr>
          <a:xfrm>
            <a:off x="4568952" y="3977639"/>
            <a:ext cx="3060192" cy="1581912"/>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Show token categories</a:t>
            </a:r>
          </a:p>
          <a:p>
            <a:pPr algn="l">
              <a:lnSpc>
                <a:spcPts val="2320"/>
              </a:lnSpc>
              <a:spcBef>
                <a:spcPts val="0"/>
              </a:spcBef>
              <a:spcAft>
                <a:spcPts val="0"/>
              </a:spcAft>
              <a:defRPr sz="2000" b="0">
                <a:solidFill>
                  <a:srgbClr val="587080"/>
                </a:solidFill>
                <a:latin typeface="Arial"/>
              </a:defRPr>
            </a:pPr>
            <a:r>
              <a:t>and the grammar decision.</a:t>
            </a:r>
          </a:p>
        </p:txBody>
      </p:sp>
      <p:sp>
        <p:nvSpPr>
          <p:cNvPr id="19" name="Rounded Rectangle 18"/>
          <p:cNvSpPr/>
          <p:nvPr/>
        </p:nvSpPr>
        <p:spPr>
          <a:xfrm>
            <a:off x="8086344" y="2029968"/>
            <a:ext cx="3572256" cy="368503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8086344" y="2029968"/>
            <a:ext cx="50292" cy="3685032"/>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8314944" y="2304288"/>
            <a:ext cx="603504" cy="603504"/>
          </a:xfrm>
          <a:prstGeom prst="ellipse">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body-11"/>
          <p:cNvSpPr txBox="1"/>
          <p:nvPr/>
        </p:nvSpPr>
        <p:spPr>
          <a:xfrm>
            <a:off x="8314944" y="2450592"/>
            <a:ext cx="603504" cy="292608"/>
          </a:xfrm>
          <a:prstGeom prst="rect">
            <a:avLst/>
          </a:prstGeom>
          <a:noFill/>
        </p:spPr>
        <p:txBody>
          <a:bodyPr wrap="none" lIns="0" rIns="0" tIns="0" bIns="0" anchor="t">
            <a:noAutofit/>
          </a:bodyPr>
          <a:lstStyle/>
          <a:p>
            <a:pPr algn="ctr">
              <a:lnSpc>
                <a:spcPts val="1972"/>
              </a:lnSpc>
              <a:spcBef>
                <a:spcPts val="0"/>
              </a:spcBef>
              <a:spcAft>
                <a:spcPts val="0"/>
              </a:spcAft>
              <a:defRPr sz="1700" b="1">
                <a:solidFill>
                  <a:srgbClr val="147E80"/>
                </a:solidFill>
                <a:latin typeface="Arial"/>
              </a:defRPr>
            </a:pPr>
            <a:r>
              <a:t>03</a:t>
            </a:r>
          </a:p>
        </p:txBody>
      </p:sp>
      <p:sp>
        <p:nvSpPr>
          <p:cNvPr id="23" name="body-12"/>
          <p:cNvSpPr txBox="1"/>
          <p:nvPr/>
        </p:nvSpPr>
        <p:spPr>
          <a:xfrm>
            <a:off x="8342376" y="3182112"/>
            <a:ext cx="3060192" cy="685800"/>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83747"/>
                </a:solidFill>
                <a:latin typeface="Arial"/>
              </a:defRPr>
            </a:pPr>
            <a:r>
              <a:t>REVIEW</a:t>
            </a:r>
          </a:p>
        </p:txBody>
      </p:sp>
      <p:sp>
        <p:nvSpPr>
          <p:cNvPr id="24" name="body-13"/>
          <p:cNvSpPr txBox="1"/>
          <p:nvPr/>
        </p:nvSpPr>
        <p:spPr>
          <a:xfrm>
            <a:off x="8342376" y="3977639"/>
            <a:ext cx="3060192" cy="1581912"/>
          </a:xfrm>
          <a:prstGeom prst="rect">
            <a:avLst/>
          </a:prstGeom>
          <a:noFill/>
        </p:spPr>
        <p:txBody>
          <a:bodyPr wrap="none" lIns="0" rIns="0" tIns="0" bIns="0" anchor="t">
            <a:noAutofit/>
          </a:bodyPr>
          <a:lstStyle/>
          <a:p>
            <a:pPr algn="l">
              <a:lnSpc>
                <a:spcPts val="2320"/>
              </a:lnSpc>
              <a:spcBef>
                <a:spcPts val="0"/>
              </a:spcBef>
              <a:spcAft>
                <a:spcPts val="0"/>
              </a:spcAft>
              <a:defRPr sz="2000" b="0">
                <a:solidFill>
                  <a:srgbClr val="587080"/>
                </a:solidFill>
                <a:latin typeface="Arial"/>
              </a:defRPr>
            </a:pPr>
            <a:r>
              <a:t>Save the result and</a:t>
            </a:r>
          </a:p>
          <a:p>
            <a:pPr algn="l">
              <a:lnSpc>
                <a:spcPts val="2320"/>
              </a:lnSpc>
              <a:spcBef>
                <a:spcPts val="0"/>
              </a:spcBef>
              <a:spcAft>
                <a:spcPts val="0"/>
              </a:spcAft>
              <a:defRPr sz="2000" b="0">
                <a:solidFill>
                  <a:srgbClr val="587080"/>
                </a:solidFill>
                <a:latin typeface="Arial"/>
              </a:defRPr>
            </a:pPr>
            <a:r>
              <a:t>inspect its evidence.</a:t>
            </a:r>
          </a:p>
        </p:txBody>
      </p:sp>
      <p:cxnSp>
        <p:nvCxnSpPr>
          <p:cNvPr id="25" name="Connector 2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6" name="footer-14"/>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7" name="source-15">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28" name="source-16">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29" name="source-17">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backend/analyzer_history.py</a:t>
            </a:r>
          </a:p>
        </p:txBody>
      </p:sp>
      <p:sp>
        <p:nvSpPr>
          <p:cNvPr id="30" name="footer-18"/>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1" name="footer-19"/>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02 / 12</a:t>
            </a:r>
          </a:p>
        </p:txBody>
      </p:sp>
      <p:sp>
        <p:nvSpPr>
          <p:cNvPr id="32" name="Rectangle 3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0" y="6821424"/>
            <a:ext cx="20319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THE ESSENTIALS / CS4110</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Five pages, one public workspace</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No login: analyze and save tests; reference data stays read-only.</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a:hlinkClick action="ppaction://hlinksldjump" r:id="rId6"/>
          </p:cNvPr>
          <p:cNvSpPr/>
          <p:nvPr/>
        </p:nvSpPr>
        <p:spPr>
          <a:xfrm>
            <a:off x="548640" y="2020824"/>
            <a:ext cx="3547872" cy="170078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a:hlinkClick action="ppaction://hlinksldjump" r:id="rId6"/>
          </p:cNvPr>
          <p:cNvSpPr txBox="1"/>
          <p:nvPr/>
        </p:nvSpPr>
        <p:spPr>
          <a:xfrm>
            <a:off x="758952" y="2194560"/>
            <a:ext cx="502920" cy="301752"/>
          </a:xfrm>
          <a:prstGeom prst="rect">
            <a:avLst/>
          </a:prstGeom>
          <a:noFill/>
        </p:spPr>
        <p:txBody>
          <a:bodyPr wrap="none" lIns="0" rIns="0" tIns="0" bIns="0" anchor="t">
            <a:noAutofit/>
          </a:bodyPr>
          <a:lstStyle/>
          <a:p>
            <a:pPr algn="l">
              <a:lnSpc>
                <a:spcPts val="1972"/>
              </a:lnSpc>
              <a:spcBef>
                <a:spcPts val="0"/>
              </a:spcBef>
              <a:spcAft>
                <a:spcPts val="0"/>
              </a:spcAft>
              <a:defRPr sz="1700" b="1">
                <a:solidFill>
                  <a:srgbClr val="CBA261"/>
                </a:solidFill>
                <a:latin typeface="Arial"/>
              </a:defRPr>
            </a:pPr>
            <a:r>
              <a:t>01</a:t>
            </a:r>
          </a:p>
        </p:txBody>
      </p:sp>
      <p:sp>
        <p:nvSpPr>
          <p:cNvPr id="9" name="body-6">
            <a:hlinkClick action="ppaction://hlinksldjump" r:id="rId6"/>
          </p:cNvPr>
          <p:cNvSpPr txBox="1"/>
          <p:nvPr/>
        </p:nvSpPr>
        <p:spPr>
          <a:xfrm>
            <a:off x="758952" y="2624328"/>
            <a:ext cx="3108960" cy="374904"/>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47E80"/>
                </a:solidFill>
                <a:latin typeface="Arial"/>
              </a:defRPr>
            </a:pPr>
            <a:r>
              <a:t>Franc Analyzer</a:t>
            </a:r>
          </a:p>
        </p:txBody>
      </p:sp>
      <p:sp>
        <p:nvSpPr>
          <p:cNvPr id="10" name="body-7">
            <a:hlinkClick action="ppaction://hlinksldjump" r:id="rId6"/>
          </p:cNvPr>
          <p:cNvSpPr txBox="1"/>
          <p:nvPr/>
        </p:nvSpPr>
        <p:spPr>
          <a:xfrm>
            <a:off x="758952" y="3127248"/>
            <a:ext cx="3108960" cy="5394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Enter a statement and run a</a:t>
            </a:r>
          </a:p>
          <a:p>
            <a:pPr algn="l">
              <a:lnSpc>
                <a:spcPts val="1972"/>
              </a:lnSpc>
              <a:spcBef>
                <a:spcPts val="0"/>
              </a:spcBef>
              <a:spcAft>
                <a:spcPts val="0"/>
              </a:spcAft>
              <a:defRPr sz="1700" b="0">
                <a:solidFill>
                  <a:srgbClr val="587080"/>
                </a:solidFill>
                <a:latin typeface="Arial"/>
              </a:defRPr>
            </a:pPr>
            <a:r>
              <a:t>test.</a:t>
            </a:r>
          </a:p>
        </p:txBody>
      </p:sp>
      <p:sp>
        <p:nvSpPr>
          <p:cNvPr id="11" name="Rounded Rectangle 10">
            <a:hlinkClick action="ppaction://hlinksldjump" r:id="rId7"/>
          </p:cNvPr>
          <p:cNvSpPr/>
          <p:nvPr/>
        </p:nvSpPr>
        <p:spPr>
          <a:xfrm>
            <a:off x="4315968" y="2020824"/>
            <a:ext cx="3547872" cy="170078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body-8">
            <a:hlinkClick action="ppaction://hlinksldjump" r:id="rId7"/>
          </p:cNvPr>
          <p:cNvSpPr txBox="1"/>
          <p:nvPr/>
        </p:nvSpPr>
        <p:spPr>
          <a:xfrm>
            <a:off x="4526280" y="2194560"/>
            <a:ext cx="502920" cy="301752"/>
          </a:xfrm>
          <a:prstGeom prst="rect">
            <a:avLst/>
          </a:prstGeom>
          <a:noFill/>
        </p:spPr>
        <p:txBody>
          <a:bodyPr wrap="none" lIns="0" rIns="0" tIns="0" bIns="0" anchor="t">
            <a:noAutofit/>
          </a:bodyPr>
          <a:lstStyle/>
          <a:p>
            <a:pPr algn="l">
              <a:lnSpc>
                <a:spcPts val="1972"/>
              </a:lnSpc>
              <a:spcBef>
                <a:spcPts val="0"/>
              </a:spcBef>
              <a:spcAft>
                <a:spcPts val="0"/>
              </a:spcAft>
              <a:defRPr sz="1700" b="1">
                <a:solidFill>
                  <a:srgbClr val="CBA261"/>
                </a:solidFill>
                <a:latin typeface="Arial"/>
              </a:defRPr>
            </a:pPr>
            <a:r>
              <a:t>02</a:t>
            </a:r>
          </a:p>
        </p:txBody>
      </p:sp>
      <p:sp>
        <p:nvSpPr>
          <p:cNvPr id="13" name="body-9">
            <a:hlinkClick action="ppaction://hlinksldjump" r:id="rId7"/>
          </p:cNvPr>
          <p:cNvSpPr txBox="1"/>
          <p:nvPr/>
        </p:nvSpPr>
        <p:spPr>
          <a:xfrm>
            <a:off x="4526280" y="2624328"/>
            <a:ext cx="3108960" cy="374904"/>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47E80"/>
                </a:solidFill>
                <a:latin typeface="Arial"/>
              </a:defRPr>
            </a:pPr>
            <a:r>
              <a:t>Analysis</a:t>
            </a:r>
          </a:p>
        </p:txBody>
      </p:sp>
      <p:sp>
        <p:nvSpPr>
          <p:cNvPr id="14" name="body-10">
            <a:hlinkClick action="ppaction://hlinksldjump" r:id="rId7"/>
          </p:cNvPr>
          <p:cNvSpPr txBox="1"/>
          <p:nvPr/>
        </p:nvSpPr>
        <p:spPr>
          <a:xfrm>
            <a:off x="4526280" y="3127248"/>
            <a:ext cx="3108960" cy="5394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Inspect saved results and</a:t>
            </a:r>
          </a:p>
          <a:p>
            <a:pPr algn="l">
              <a:lnSpc>
                <a:spcPts val="1972"/>
              </a:lnSpc>
              <a:spcBef>
                <a:spcPts val="0"/>
              </a:spcBef>
              <a:spcAft>
                <a:spcPts val="0"/>
              </a:spcAft>
              <a:defRPr sz="1700" b="0">
                <a:solidFill>
                  <a:srgbClr val="587080"/>
                </a:solidFill>
                <a:latin typeface="Arial"/>
              </a:defRPr>
            </a:pPr>
            <a:r>
              <a:t>statistics.</a:t>
            </a:r>
          </a:p>
        </p:txBody>
      </p:sp>
      <p:sp>
        <p:nvSpPr>
          <p:cNvPr id="15" name="Rounded Rectangle 14">
            <a:hlinkClick action="ppaction://hlinksldjump" r:id="rId8"/>
          </p:cNvPr>
          <p:cNvSpPr/>
          <p:nvPr/>
        </p:nvSpPr>
        <p:spPr>
          <a:xfrm>
            <a:off x="8083296" y="2020824"/>
            <a:ext cx="3547872" cy="170078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body-11">
            <a:hlinkClick action="ppaction://hlinksldjump" r:id="rId8"/>
          </p:cNvPr>
          <p:cNvSpPr txBox="1"/>
          <p:nvPr/>
        </p:nvSpPr>
        <p:spPr>
          <a:xfrm>
            <a:off x="8293608" y="2194560"/>
            <a:ext cx="502920" cy="301752"/>
          </a:xfrm>
          <a:prstGeom prst="rect">
            <a:avLst/>
          </a:prstGeom>
          <a:noFill/>
        </p:spPr>
        <p:txBody>
          <a:bodyPr wrap="none" lIns="0" rIns="0" tIns="0" bIns="0" anchor="t">
            <a:noAutofit/>
          </a:bodyPr>
          <a:lstStyle/>
          <a:p>
            <a:pPr algn="l">
              <a:lnSpc>
                <a:spcPts val="1972"/>
              </a:lnSpc>
              <a:spcBef>
                <a:spcPts val="0"/>
              </a:spcBef>
              <a:spcAft>
                <a:spcPts val="0"/>
              </a:spcAft>
              <a:defRPr sz="1700" b="1">
                <a:solidFill>
                  <a:srgbClr val="CBA261"/>
                </a:solidFill>
                <a:latin typeface="Arial"/>
              </a:defRPr>
            </a:pPr>
            <a:r>
              <a:t>03</a:t>
            </a:r>
          </a:p>
        </p:txBody>
      </p:sp>
      <p:sp>
        <p:nvSpPr>
          <p:cNvPr id="17" name="body-12">
            <a:hlinkClick action="ppaction://hlinksldjump" r:id="rId8"/>
          </p:cNvPr>
          <p:cNvSpPr txBox="1"/>
          <p:nvPr/>
        </p:nvSpPr>
        <p:spPr>
          <a:xfrm>
            <a:off x="8293608" y="2624328"/>
            <a:ext cx="3108960" cy="374904"/>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47E80"/>
                </a:solidFill>
                <a:latin typeface="Arial"/>
              </a:defRPr>
            </a:pPr>
            <a:r>
              <a:t>Collection</a:t>
            </a:r>
          </a:p>
        </p:txBody>
      </p:sp>
      <p:sp>
        <p:nvSpPr>
          <p:cNvPr id="18" name="body-13">
            <a:hlinkClick action="ppaction://hlinksldjump" r:id="rId8"/>
          </p:cNvPr>
          <p:cNvSpPr txBox="1"/>
          <p:nvPr/>
        </p:nvSpPr>
        <p:spPr>
          <a:xfrm>
            <a:off x="8293608" y="3127248"/>
            <a:ext cx="3108960" cy="5394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Browse supplied statements</a:t>
            </a:r>
          </a:p>
          <a:p>
            <a:pPr algn="l">
              <a:lnSpc>
                <a:spcPts val="1972"/>
              </a:lnSpc>
              <a:spcBef>
                <a:spcPts val="0"/>
              </a:spcBef>
              <a:spcAft>
                <a:spcPts val="0"/>
              </a:spcAft>
              <a:defRPr sz="1700" b="0">
                <a:solidFill>
                  <a:srgbClr val="587080"/>
                </a:solidFill>
                <a:latin typeface="Arial"/>
              </a:defRPr>
            </a:pPr>
            <a:r>
              <a:t>and audio.</a:t>
            </a:r>
          </a:p>
        </p:txBody>
      </p:sp>
      <p:sp>
        <p:nvSpPr>
          <p:cNvPr id="19" name="Rounded Rectangle 18">
            <a:hlinkClick action="ppaction://hlinksldjump" r:id="rId8"/>
          </p:cNvPr>
          <p:cNvSpPr/>
          <p:nvPr/>
        </p:nvSpPr>
        <p:spPr>
          <a:xfrm>
            <a:off x="548640" y="3922776"/>
            <a:ext cx="3547872" cy="170078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body-14">
            <a:hlinkClick action="ppaction://hlinksldjump" r:id="rId8"/>
          </p:cNvPr>
          <p:cNvSpPr txBox="1"/>
          <p:nvPr/>
        </p:nvSpPr>
        <p:spPr>
          <a:xfrm>
            <a:off x="758952" y="4096512"/>
            <a:ext cx="502920" cy="301752"/>
          </a:xfrm>
          <a:prstGeom prst="rect">
            <a:avLst/>
          </a:prstGeom>
          <a:noFill/>
        </p:spPr>
        <p:txBody>
          <a:bodyPr wrap="none" lIns="0" rIns="0" tIns="0" bIns="0" anchor="t">
            <a:noAutofit/>
          </a:bodyPr>
          <a:lstStyle/>
          <a:p>
            <a:pPr algn="l">
              <a:lnSpc>
                <a:spcPts val="1972"/>
              </a:lnSpc>
              <a:spcBef>
                <a:spcPts val="0"/>
              </a:spcBef>
              <a:spcAft>
                <a:spcPts val="0"/>
              </a:spcAft>
              <a:defRPr sz="1700" b="1">
                <a:solidFill>
                  <a:srgbClr val="CBA261"/>
                </a:solidFill>
                <a:latin typeface="Arial"/>
              </a:defRPr>
            </a:pPr>
            <a:r>
              <a:t>04</a:t>
            </a:r>
          </a:p>
        </p:txBody>
      </p:sp>
      <p:sp>
        <p:nvSpPr>
          <p:cNvPr id="21" name="body-15">
            <a:hlinkClick action="ppaction://hlinksldjump" r:id="rId8"/>
          </p:cNvPr>
          <p:cNvSpPr txBox="1"/>
          <p:nvPr/>
        </p:nvSpPr>
        <p:spPr>
          <a:xfrm>
            <a:off x="758952" y="4526280"/>
            <a:ext cx="3108960" cy="374904"/>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47E80"/>
                </a:solidFill>
                <a:latin typeface="Arial"/>
              </a:defRPr>
            </a:pPr>
            <a:r>
              <a:t>Dictionary</a:t>
            </a:r>
          </a:p>
        </p:txBody>
      </p:sp>
      <p:sp>
        <p:nvSpPr>
          <p:cNvPr id="22" name="body-16">
            <a:hlinkClick action="ppaction://hlinksldjump" r:id="rId8"/>
          </p:cNvPr>
          <p:cNvSpPr txBox="1"/>
          <p:nvPr/>
        </p:nvSpPr>
        <p:spPr>
          <a:xfrm>
            <a:off x="758952" y="5029200"/>
            <a:ext cx="3108960" cy="5394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Look up reference vocabulary.</a:t>
            </a:r>
          </a:p>
        </p:txBody>
      </p:sp>
      <p:sp>
        <p:nvSpPr>
          <p:cNvPr id="23" name="Rounded Rectangle 22">
            <a:hlinkClick action="ppaction://hlinksldjump" r:id="rId8"/>
          </p:cNvPr>
          <p:cNvSpPr/>
          <p:nvPr/>
        </p:nvSpPr>
        <p:spPr>
          <a:xfrm>
            <a:off x="4315968" y="3922776"/>
            <a:ext cx="3547872" cy="170078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body-17">
            <a:hlinkClick action="ppaction://hlinksldjump" r:id="rId8"/>
          </p:cNvPr>
          <p:cNvSpPr txBox="1"/>
          <p:nvPr/>
        </p:nvSpPr>
        <p:spPr>
          <a:xfrm>
            <a:off x="4526280" y="4096512"/>
            <a:ext cx="502920" cy="301752"/>
          </a:xfrm>
          <a:prstGeom prst="rect">
            <a:avLst/>
          </a:prstGeom>
          <a:noFill/>
        </p:spPr>
        <p:txBody>
          <a:bodyPr wrap="none" lIns="0" rIns="0" tIns="0" bIns="0" anchor="t">
            <a:noAutofit/>
          </a:bodyPr>
          <a:lstStyle/>
          <a:p>
            <a:pPr algn="l">
              <a:lnSpc>
                <a:spcPts val="1972"/>
              </a:lnSpc>
              <a:spcBef>
                <a:spcPts val="0"/>
              </a:spcBef>
              <a:spcAft>
                <a:spcPts val="0"/>
              </a:spcAft>
              <a:defRPr sz="1700" b="1">
                <a:solidFill>
                  <a:srgbClr val="CBA261"/>
                </a:solidFill>
                <a:latin typeface="Arial"/>
              </a:defRPr>
            </a:pPr>
            <a:r>
              <a:t>05</a:t>
            </a:r>
          </a:p>
        </p:txBody>
      </p:sp>
      <p:sp>
        <p:nvSpPr>
          <p:cNvPr id="25" name="body-18">
            <a:hlinkClick action="ppaction://hlinksldjump" r:id="rId8"/>
          </p:cNvPr>
          <p:cNvSpPr txBox="1"/>
          <p:nvPr/>
        </p:nvSpPr>
        <p:spPr>
          <a:xfrm>
            <a:off x="4526280" y="4526280"/>
            <a:ext cx="3108960" cy="374904"/>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147E80"/>
                </a:solidFill>
                <a:latin typeface="Arial"/>
              </a:defRPr>
            </a:pPr>
            <a:r>
              <a:t>Synthetic examples</a:t>
            </a:r>
          </a:p>
        </p:txBody>
      </p:sp>
      <p:sp>
        <p:nvSpPr>
          <p:cNvPr id="26" name="body-19">
            <a:hlinkClick action="ppaction://hlinksldjump" r:id="rId8"/>
          </p:cNvPr>
          <p:cNvSpPr txBox="1"/>
          <p:nvPr/>
        </p:nvSpPr>
        <p:spPr>
          <a:xfrm>
            <a:off x="4526280" y="5029200"/>
            <a:ext cx="3108960" cy="5394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Try clearly labelled practice</a:t>
            </a:r>
          </a:p>
          <a:p>
            <a:pPr algn="l">
              <a:lnSpc>
                <a:spcPts val="1972"/>
              </a:lnSpc>
              <a:spcBef>
                <a:spcPts val="0"/>
              </a:spcBef>
              <a:spcAft>
                <a:spcPts val="0"/>
              </a:spcAft>
              <a:defRPr sz="1700" b="0">
                <a:solidFill>
                  <a:srgbClr val="587080"/>
                </a:solidFill>
                <a:latin typeface="Arial"/>
              </a:defRPr>
            </a:pPr>
            <a:r>
              <a:t>material.</a:t>
            </a:r>
          </a:p>
        </p:txBody>
      </p:sp>
      <p:sp>
        <p:nvSpPr>
          <p:cNvPr id="27" name="Rounded Rectangle 26"/>
          <p:cNvSpPr/>
          <p:nvPr/>
        </p:nvSpPr>
        <p:spPr>
          <a:xfrm>
            <a:off x="8083296" y="3922776"/>
            <a:ext cx="3547872" cy="1700784"/>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body-20"/>
          <p:cNvSpPr txBox="1"/>
          <p:nvPr/>
        </p:nvSpPr>
        <p:spPr>
          <a:xfrm>
            <a:off x="8311896" y="4279392"/>
            <a:ext cx="3017520" cy="1005840"/>
          </a:xfrm>
          <a:prstGeom prst="rect">
            <a:avLst/>
          </a:prstGeom>
          <a:noFill/>
        </p:spPr>
        <p:txBody>
          <a:bodyPr wrap="none" lIns="0" rIns="0" tIns="0" bIns="0" anchor="t">
            <a:noAutofit/>
          </a:bodyPr>
          <a:lstStyle/>
          <a:p>
            <a:pPr algn="l">
              <a:lnSpc>
                <a:spcPts val="2552"/>
              </a:lnSpc>
              <a:spcBef>
                <a:spcPts val="0"/>
              </a:spcBef>
              <a:spcAft>
                <a:spcPts val="0"/>
              </a:spcAft>
              <a:defRPr sz="2200" b="1">
                <a:solidFill>
                  <a:srgbClr val="FFFFFF"/>
                </a:solidFill>
                <a:latin typeface="Arial"/>
              </a:defRPr>
            </a:pPr>
            <a:r>
              <a:t>ONE SHARED</a:t>
            </a:r>
          </a:p>
          <a:p>
            <a:pPr algn="l">
              <a:lnSpc>
                <a:spcPts val="2552"/>
              </a:lnSpc>
              <a:spcBef>
                <a:spcPts val="0"/>
              </a:spcBef>
              <a:spcAft>
                <a:spcPts val="0"/>
              </a:spcAft>
              <a:defRPr sz="2200" b="1">
                <a:solidFill>
                  <a:srgbClr val="FFFFFF"/>
                </a:solidFill>
                <a:latin typeface="Arial"/>
              </a:defRPr>
            </a:pPr>
            <a:r>
              <a:t>PUBLIC WORKSPACE</a:t>
            </a:r>
          </a:p>
        </p:txBody>
      </p:sp>
      <p:cxnSp>
        <p:nvCxnSpPr>
          <p:cNvPr id="29" name="Connector 28"/>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0" name="footer-2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1" name="source-22">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frontend/src/App.tsx</a:t>
            </a:r>
          </a:p>
        </p:txBody>
      </p:sp>
      <p:sp>
        <p:nvSpPr>
          <p:cNvPr id="32" name="source-23">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frontend/src/PublicSession.tsx</a:t>
            </a:r>
          </a:p>
        </p:txBody>
      </p:sp>
      <p:sp>
        <p:nvSpPr>
          <p:cNvPr id="33" name="source-24">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backend/public_access.py</a:t>
            </a:r>
          </a:p>
        </p:txBody>
      </p:sp>
      <p:sp>
        <p:nvSpPr>
          <p:cNvPr id="34" name="footer-2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5" name="footer-2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03 / 12</a:t>
            </a:r>
          </a:p>
        </p:txBody>
      </p:sp>
      <p:sp>
        <p:nvSpPr>
          <p:cNvPr id="36" name="Rectangle 35"/>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ectangle 36"/>
          <p:cNvSpPr/>
          <p:nvPr/>
        </p:nvSpPr>
        <p:spPr>
          <a:xfrm>
            <a:off x="0" y="6821424"/>
            <a:ext cx="30479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THE ESSENTIALS / CS4110</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What happens when we press Analyze?</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One input becomes a traceable, saved result.</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31520"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01</a:t>
            </a:r>
          </a:p>
        </p:txBody>
      </p:sp>
      <p:sp>
        <p:nvSpPr>
          <p:cNvPr id="9" name="body-6"/>
          <p:cNvSpPr txBox="1"/>
          <p:nvPr/>
        </p:nvSpPr>
        <p:spPr>
          <a:xfrm>
            <a:off x="731520"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INPUT</a:t>
            </a:r>
          </a:p>
        </p:txBody>
      </p:sp>
      <p:sp>
        <p:nvSpPr>
          <p:cNvPr id="10" name="body-7"/>
          <p:cNvSpPr txBox="1"/>
          <p:nvPr/>
        </p:nvSpPr>
        <p:spPr>
          <a:xfrm>
            <a:off x="731520" y="4041648"/>
            <a:ext cx="1629460"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Keep the</a:t>
            </a:r>
          </a:p>
          <a:p>
            <a:pPr algn="l">
              <a:lnSpc>
                <a:spcPts val="2088"/>
              </a:lnSpc>
              <a:spcBef>
                <a:spcPts val="0"/>
              </a:spcBef>
              <a:spcAft>
                <a:spcPts val="0"/>
              </a:spcAft>
              <a:defRPr sz="1800" b="0">
                <a:solidFill>
                  <a:srgbClr val="587080"/>
                </a:solidFill>
                <a:latin typeface="Arial"/>
              </a:defRPr>
            </a:pPr>
            <a:r>
              <a:t>original text</a:t>
            </a:r>
          </a:p>
        </p:txBody>
      </p:sp>
      <p:sp>
        <p:nvSpPr>
          <p:cNvPr id="11" name="Chevron 10"/>
          <p:cNvSpPr/>
          <p:nvPr/>
        </p:nvSpPr>
        <p:spPr>
          <a:xfrm>
            <a:off x="2621584"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2827324"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8"/>
          <p:cNvSpPr txBox="1"/>
          <p:nvPr/>
        </p:nvSpPr>
        <p:spPr>
          <a:xfrm>
            <a:off x="3010204"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02</a:t>
            </a:r>
          </a:p>
        </p:txBody>
      </p:sp>
      <p:sp>
        <p:nvSpPr>
          <p:cNvPr id="14" name="body-9"/>
          <p:cNvSpPr txBox="1"/>
          <p:nvPr/>
        </p:nvSpPr>
        <p:spPr>
          <a:xfrm>
            <a:off x="3010204"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LEXER</a:t>
            </a:r>
          </a:p>
        </p:txBody>
      </p:sp>
      <p:sp>
        <p:nvSpPr>
          <p:cNvPr id="15" name="body-10"/>
          <p:cNvSpPr txBox="1"/>
          <p:nvPr/>
        </p:nvSpPr>
        <p:spPr>
          <a:xfrm>
            <a:off x="3010204" y="4041648"/>
            <a:ext cx="1629460"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Split and</a:t>
            </a:r>
          </a:p>
          <a:p>
            <a:pPr algn="l">
              <a:lnSpc>
                <a:spcPts val="2088"/>
              </a:lnSpc>
              <a:spcBef>
                <a:spcPts val="0"/>
              </a:spcBef>
              <a:spcAft>
                <a:spcPts val="0"/>
              </a:spcAft>
              <a:defRPr sz="1800" b="0">
                <a:solidFill>
                  <a:srgbClr val="587080"/>
                </a:solidFill>
                <a:latin typeface="Arial"/>
              </a:defRPr>
            </a:pPr>
            <a:r>
              <a:t>classify tokens</a:t>
            </a:r>
          </a:p>
        </p:txBody>
      </p:sp>
      <p:sp>
        <p:nvSpPr>
          <p:cNvPr id="16" name="Chevron 15"/>
          <p:cNvSpPr/>
          <p:nvPr/>
        </p:nvSpPr>
        <p:spPr>
          <a:xfrm>
            <a:off x="4900269"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5106009"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dy-11"/>
          <p:cNvSpPr txBox="1"/>
          <p:nvPr/>
        </p:nvSpPr>
        <p:spPr>
          <a:xfrm>
            <a:off x="5288889"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03</a:t>
            </a:r>
          </a:p>
        </p:txBody>
      </p:sp>
      <p:sp>
        <p:nvSpPr>
          <p:cNvPr id="19" name="body-12"/>
          <p:cNvSpPr txBox="1"/>
          <p:nvPr/>
        </p:nvSpPr>
        <p:spPr>
          <a:xfrm>
            <a:off x="5288889"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PARSER</a:t>
            </a:r>
          </a:p>
        </p:txBody>
      </p:sp>
      <p:sp>
        <p:nvSpPr>
          <p:cNvPr id="20" name="body-13"/>
          <p:cNvSpPr txBox="1"/>
          <p:nvPr/>
        </p:nvSpPr>
        <p:spPr>
          <a:xfrm>
            <a:off x="5288889" y="4041648"/>
            <a:ext cx="1629460"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Test the saved</a:t>
            </a:r>
          </a:p>
          <a:p>
            <a:pPr algn="l">
              <a:lnSpc>
                <a:spcPts val="2088"/>
              </a:lnSpc>
              <a:spcBef>
                <a:spcPts val="0"/>
              </a:spcBef>
              <a:spcAft>
                <a:spcPts val="0"/>
              </a:spcAft>
              <a:defRPr sz="1800" b="0">
                <a:solidFill>
                  <a:srgbClr val="587080"/>
                </a:solidFill>
                <a:latin typeface="Arial"/>
              </a:defRPr>
            </a:pPr>
            <a:r>
              <a:t>grammar</a:t>
            </a:r>
          </a:p>
        </p:txBody>
      </p:sp>
      <p:sp>
        <p:nvSpPr>
          <p:cNvPr id="21" name="Chevron 20"/>
          <p:cNvSpPr/>
          <p:nvPr/>
        </p:nvSpPr>
        <p:spPr>
          <a:xfrm>
            <a:off x="7178954"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7384694"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body-14"/>
          <p:cNvSpPr txBox="1"/>
          <p:nvPr/>
        </p:nvSpPr>
        <p:spPr>
          <a:xfrm>
            <a:off x="7567574"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04</a:t>
            </a:r>
          </a:p>
        </p:txBody>
      </p:sp>
      <p:sp>
        <p:nvSpPr>
          <p:cNvPr id="24" name="body-15"/>
          <p:cNvSpPr txBox="1"/>
          <p:nvPr/>
        </p:nvSpPr>
        <p:spPr>
          <a:xfrm>
            <a:off x="7567574"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SAVE</a:t>
            </a:r>
          </a:p>
        </p:txBody>
      </p:sp>
      <p:sp>
        <p:nvSpPr>
          <p:cNvPr id="25" name="body-16"/>
          <p:cNvSpPr txBox="1"/>
          <p:nvPr/>
        </p:nvSpPr>
        <p:spPr>
          <a:xfrm>
            <a:off x="7567574" y="4041648"/>
            <a:ext cx="1629460" cy="768096"/>
          </a:xfrm>
          <a:prstGeom prst="rect">
            <a:avLst/>
          </a:prstGeom>
          <a:noFill/>
        </p:spPr>
        <p:txBody>
          <a:bodyPr wrap="none" lIns="0" rIns="0" tIns="0" bIns="0" anchor="t">
            <a:noAutofit/>
          </a:bodyPr>
          <a:lstStyle/>
          <a:p>
            <a:pPr algn="l">
              <a:lnSpc>
                <a:spcPts val="1972"/>
              </a:lnSpc>
              <a:spcBef>
                <a:spcPts val="0"/>
              </a:spcBef>
              <a:spcAft>
                <a:spcPts val="0"/>
              </a:spcAft>
              <a:defRPr sz="1700" b="0">
                <a:solidFill>
                  <a:srgbClr val="587080"/>
                </a:solidFill>
                <a:latin typeface="Arial"/>
              </a:defRPr>
            </a:pPr>
            <a:r>
              <a:t>Retain the</a:t>
            </a:r>
          </a:p>
          <a:p>
            <a:pPr algn="l">
              <a:lnSpc>
                <a:spcPts val="1972"/>
              </a:lnSpc>
              <a:spcBef>
                <a:spcPts val="0"/>
              </a:spcBef>
              <a:spcAft>
                <a:spcPts val="0"/>
              </a:spcAft>
              <a:defRPr sz="1700" b="0">
                <a:solidFill>
                  <a:srgbClr val="587080"/>
                </a:solidFill>
                <a:latin typeface="Arial"/>
              </a:defRPr>
            </a:pPr>
            <a:r>
              <a:t>original</a:t>
            </a:r>
          </a:p>
          <a:p>
            <a:pPr algn="l">
              <a:lnSpc>
                <a:spcPts val="1972"/>
              </a:lnSpc>
              <a:spcBef>
                <a:spcPts val="0"/>
              </a:spcBef>
              <a:spcAft>
                <a:spcPts val="0"/>
              </a:spcAft>
              <a:defRPr sz="1700" b="0">
                <a:solidFill>
                  <a:srgbClr val="587080"/>
                </a:solidFill>
                <a:latin typeface="Arial"/>
              </a:defRPr>
            </a:pPr>
            <a:r>
              <a:t>snapshot</a:t>
            </a:r>
          </a:p>
        </p:txBody>
      </p:sp>
      <p:sp>
        <p:nvSpPr>
          <p:cNvPr id="26" name="Chevron 25"/>
          <p:cNvSpPr/>
          <p:nvPr/>
        </p:nvSpPr>
        <p:spPr>
          <a:xfrm>
            <a:off x="9457639" y="3520440"/>
            <a:ext cx="128016" cy="219456"/>
          </a:xfrm>
          <a:prstGeom prst="chevron">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p:cNvSpPr/>
          <p:nvPr/>
        </p:nvSpPr>
        <p:spPr>
          <a:xfrm>
            <a:off x="9663379" y="2468880"/>
            <a:ext cx="1995220" cy="2569464"/>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body-17"/>
          <p:cNvSpPr txBox="1"/>
          <p:nvPr/>
        </p:nvSpPr>
        <p:spPr>
          <a:xfrm>
            <a:off x="9846259" y="2688336"/>
            <a:ext cx="1629460" cy="484632"/>
          </a:xfrm>
          <a:prstGeom prst="rect">
            <a:avLst/>
          </a:prstGeom>
          <a:noFill/>
        </p:spPr>
        <p:txBody>
          <a:bodyPr wrap="none" lIns="0" rIns="0" tIns="0" bIns="0" anchor="t">
            <a:noAutofit/>
          </a:bodyPr>
          <a:lstStyle/>
          <a:p>
            <a:pPr algn="l">
              <a:lnSpc>
                <a:spcPts val="3247"/>
              </a:lnSpc>
              <a:spcBef>
                <a:spcPts val="0"/>
              </a:spcBef>
              <a:spcAft>
                <a:spcPts val="0"/>
              </a:spcAft>
              <a:defRPr sz="2800" b="1">
                <a:solidFill>
                  <a:srgbClr val="CBA261"/>
                </a:solidFill>
                <a:latin typeface="Arial"/>
              </a:defRPr>
            </a:pPr>
            <a:r>
              <a:t>05</a:t>
            </a:r>
          </a:p>
        </p:txBody>
      </p:sp>
      <p:sp>
        <p:nvSpPr>
          <p:cNvPr id="29" name="body-18"/>
          <p:cNvSpPr txBox="1"/>
          <p:nvPr/>
        </p:nvSpPr>
        <p:spPr>
          <a:xfrm>
            <a:off x="9846259" y="3410712"/>
            <a:ext cx="1629460" cy="548640"/>
          </a:xfrm>
          <a:prstGeom prst="rect">
            <a:avLst/>
          </a:prstGeom>
          <a:noFill/>
        </p:spPr>
        <p:txBody>
          <a:bodyPr wrap="none" lIns="0" rIns="0" tIns="0" bIns="0" anchor="t">
            <a:noAutofit/>
          </a:bodyPr>
          <a:lstStyle/>
          <a:p>
            <a:pPr algn="l">
              <a:lnSpc>
                <a:spcPts val="1913"/>
              </a:lnSpc>
              <a:spcBef>
                <a:spcPts val="0"/>
              </a:spcBef>
              <a:spcAft>
                <a:spcPts val="0"/>
              </a:spcAft>
              <a:defRPr sz="1650" b="1">
                <a:solidFill>
                  <a:srgbClr val="147E80"/>
                </a:solidFill>
                <a:latin typeface="Arial"/>
              </a:defRPr>
            </a:pPr>
            <a:r>
              <a:t>DISPLAY</a:t>
            </a:r>
          </a:p>
        </p:txBody>
      </p:sp>
      <p:sp>
        <p:nvSpPr>
          <p:cNvPr id="30" name="body-19"/>
          <p:cNvSpPr txBox="1"/>
          <p:nvPr/>
        </p:nvSpPr>
        <p:spPr>
          <a:xfrm>
            <a:off x="9846259" y="4041648"/>
            <a:ext cx="1629460" cy="768096"/>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Show verdicts</a:t>
            </a:r>
          </a:p>
          <a:p>
            <a:pPr algn="l">
              <a:lnSpc>
                <a:spcPts val="2088"/>
              </a:lnSpc>
              <a:spcBef>
                <a:spcPts val="0"/>
              </a:spcBef>
              <a:spcAft>
                <a:spcPts val="0"/>
              </a:spcAft>
              <a:defRPr sz="1800" b="0">
                <a:solidFill>
                  <a:srgbClr val="587080"/>
                </a:solidFill>
                <a:latin typeface="Arial"/>
              </a:defRPr>
            </a:pPr>
            <a:r>
              <a:t>and evidence</a:t>
            </a:r>
          </a:p>
        </p:txBody>
      </p:sp>
      <p:sp>
        <p:nvSpPr>
          <p:cNvPr id="31" name="caption-20"/>
          <p:cNvSpPr txBox="1"/>
          <p:nvPr/>
        </p:nvSpPr>
        <p:spPr>
          <a:xfrm>
            <a:off x="557784" y="5431536"/>
            <a:ext cx="10972800" cy="256032"/>
          </a:xfrm>
          <a:prstGeom prst="rect">
            <a:avLst/>
          </a:prstGeom>
          <a:noFill/>
        </p:spPr>
        <p:txBody>
          <a:bodyPr wrap="none" lIns="0" rIns="0" tIns="0" bIns="0" anchor="t">
            <a:noAutofit/>
          </a:bodyPr>
          <a:lstStyle/>
          <a:p>
            <a:pPr algn="l">
              <a:lnSpc>
                <a:spcPts val="1334"/>
              </a:lnSpc>
              <a:spcBef>
                <a:spcPts val="0"/>
              </a:spcBef>
              <a:spcAft>
                <a:spcPts val="0"/>
              </a:spcAft>
              <a:defRPr sz="1150" b="1">
                <a:solidFill>
                  <a:srgbClr val="587080"/>
                </a:solidFill>
                <a:latin typeface="Arial"/>
              </a:defRPr>
            </a:pPr>
            <a:r>
              <a:t>FOLLOW THE DATA  /  KEEP EACH RESPONSIBILITY VISIBLE</a:t>
            </a:r>
          </a:p>
        </p:txBody>
      </p:sp>
      <p:cxnSp>
        <p:nvCxnSpPr>
          <p:cNvPr id="32" name="Connector 31"/>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33" name="footer-2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34" name="source-22">
            <a:hlinkClick r:id="rId2"/>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frontend/src/FrancAnalyzer.tsx</a:t>
            </a:r>
          </a:p>
        </p:txBody>
      </p:sp>
      <p:sp>
        <p:nvSpPr>
          <p:cNvPr id="35" name="source-23">
            <a:hlinkClick r:id="rId3"/>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backend/analyzer_api.py</a:t>
            </a:r>
          </a:p>
        </p:txBody>
      </p:sp>
      <p:sp>
        <p:nvSpPr>
          <p:cNvPr id="36" name="source-24">
            <a:hlinkClick r:id="rId4"/>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37" name="source-25">
            <a:hlinkClick r:id="rId5"/>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38" name="footer-2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9" name="footer-2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04 / 12</a:t>
            </a:r>
          </a:p>
        </p:txBody>
      </p:sp>
      <p:sp>
        <p:nvSpPr>
          <p:cNvPr id="40" name="Rectangle 39"/>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ectangle 40"/>
          <p:cNvSpPr/>
          <p:nvPr/>
        </p:nvSpPr>
        <p:spPr>
          <a:xfrm>
            <a:off x="0" y="6821424"/>
            <a:ext cx="40639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THE ESSENTIALS / CS4110</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Franc Analyzer: the main action</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Type or paste a statement, then explicitly choose Analyze.</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85216" y="211226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68096" y="2093976"/>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Original text</a:t>
            </a:r>
          </a:p>
        </p:txBody>
      </p:sp>
      <p:sp>
        <p:nvSpPr>
          <p:cNvPr id="9" name="body-6"/>
          <p:cNvSpPr txBox="1"/>
          <p:nvPr/>
        </p:nvSpPr>
        <p:spPr>
          <a:xfrm>
            <a:off x="768096" y="2532888"/>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No silent spelling</a:t>
            </a:r>
          </a:p>
          <a:p>
            <a:pPr algn="l">
              <a:lnSpc>
                <a:spcPts val="2088"/>
              </a:lnSpc>
              <a:spcBef>
                <a:spcPts val="0"/>
              </a:spcBef>
              <a:spcAft>
                <a:spcPts val="0"/>
              </a:spcAft>
              <a:defRPr sz="1800" b="0">
                <a:solidFill>
                  <a:srgbClr val="587080"/>
                </a:solidFill>
                <a:latin typeface="Arial"/>
              </a:defRPr>
            </a:pPr>
            <a:r>
              <a:t>correction.</a:t>
            </a:r>
          </a:p>
        </p:txBody>
      </p:sp>
      <p:sp>
        <p:nvSpPr>
          <p:cNvPr id="10" name="Rectangle 9"/>
          <p:cNvSpPr/>
          <p:nvPr/>
        </p:nvSpPr>
        <p:spPr>
          <a:xfrm>
            <a:off x="585216" y="3304032"/>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768096" y="3285744"/>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Saved grammar</a:t>
            </a:r>
          </a:p>
        </p:txBody>
      </p:sp>
      <p:sp>
        <p:nvSpPr>
          <p:cNvPr id="12" name="body-8"/>
          <p:cNvSpPr txBox="1"/>
          <p:nvPr/>
        </p:nvSpPr>
        <p:spPr>
          <a:xfrm>
            <a:off x="768096" y="3724656"/>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The public visitor cannot</a:t>
            </a:r>
          </a:p>
          <a:p>
            <a:pPr algn="l">
              <a:lnSpc>
                <a:spcPts val="2088"/>
              </a:lnSpc>
              <a:spcBef>
                <a:spcPts val="0"/>
              </a:spcBef>
              <a:spcAft>
                <a:spcPts val="0"/>
              </a:spcAft>
              <a:defRPr sz="1800" b="0">
                <a:solidFill>
                  <a:srgbClr val="587080"/>
                </a:solidFill>
                <a:latin typeface="Arial"/>
              </a:defRPr>
            </a:pPr>
            <a:r>
              <a:t>edit it.</a:t>
            </a:r>
          </a:p>
        </p:txBody>
      </p:sp>
      <p:sp>
        <p:nvSpPr>
          <p:cNvPr id="13" name="Rectangle 12"/>
          <p:cNvSpPr/>
          <p:nvPr/>
        </p:nvSpPr>
        <p:spPr>
          <a:xfrm>
            <a:off x="585216" y="4495799"/>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68096" y="4477512"/>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Public result</a:t>
            </a:r>
          </a:p>
        </p:txBody>
      </p:sp>
      <p:sp>
        <p:nvSpPr>
          <p:cNvPr id="15" name="body-10"/>
          <p:cNvSpPr txBox="1"/>
          <p:nvPr/>
        </p:nvSpPr>
        <p:spPr>
          <a:xfrm>
            <a:off x="768096" y="4916424"/>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The test is retained, not</a:t>
            </a:r>
          </a:p>
          <a:p>
            <a:pPr algn="l">
              <a:lnSpc>
                <a:spcPts val="2088"/>
              </a:lnSpc>
              <a:spcBef>
                <a:spcPts val="0"/>
              </a:spcBef>
              <a:spcAft>
                <a:spcPts val="0"/>
              </a:spcAft>
              <a:defRPr sz="1800" b="0">
                <a:solidFill>
                  <a:srgbClr val="587080"/>
                </a:solidFill>
                <a:latin typeface="Arial"/>
              </a:defRPr>
            </a:pPr>
            <a:r>
              <a:t>added to Collection.</a:t>
            </a:r>
          </a:p>
        </p:txBody>
      </p:sp>
      <p:sp>
        <p:nvSpPr>
          <p:cNvPr id="16" name="Rounded Rectangle 15"/>
          <p:cNvSpPr/>
          <p:nvPr/>
        </p:nvSpPr>
        <p:spPr>
          <a:xfrm>
            <a:off x="3927348" y="2057400"/>
            <a:ext cx="7754112" cy="3730752"/>
          </a:xfrm>
          <a:prstGeom prst="roundRect">
            <a:avLst>
              <a:gd name="adj" fmla="val 11000"/>
            </a:avLst>
          </a:prstGeom>
          <a:solidFill>
            <a:srgbClr val="DCE5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886200" y="2002536"/>
            <a:ext cx="7754112" cy="373075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886200" y="2002536"/>
            <a:ext cx="7754112" cy="292608"/>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4014215" y="2093976"/>
            <a:ext cx="73152" cy="73152"/>
          </a:xfrm>
          <a:prstGeom prst="ellipse">
            <a:avLst/>
          </a:prstGeom>
          <a:solidFill>
            <a:srgbClr val="A858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4151376" y="2093976"/>
            <a:ext cx="73152" cy="73152"/>
          </a:xfrm>
          <a:prstGeom prst="ellipse">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4288536" y="2093976"/>
            <a:ext cx="73152" cy="73152"/>
          </a:xfrm>
          <a:prstGeom prst="ellipse">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caption-11"/>
          <p:cNvSpPr txBox="1"/>
          <p:nvPr/>
        </p:nvSpPr>
        <p:spPr>
          <a:xfrm>
            <a:off x="4562856" y="2061972"/>
            <a:ext cx="6748272" cy="173736"/>
          </a:xfrm>
          <a:prstGeom prst="rect">
            <a:avLst/>
          </a:prstGeom>
          <a:noFill/>
        </p:spPr>
        <p:txBody>
          <a:bodyPr wrap="none" lIns="0" rIns="0" tIns="0" bIns="0" anchor="t">
            <a:noAutofit/>
          </a:bodyPr>
          <a:lstStyle/>
          <a:p>
            <a:pPr algn="l">
              <a:lnSpc>
                <a:spcPts val="1160"/>
              </a:lnSpc>
              <a:spcBef>
                <a:spcPts val="0"/>
              </a:spcBef>
              <a:spcAft>
                <a:spcPts val="0"/>
              </a:spcAft>
              <a:defRPr sz="1000" b="0">
                <a:solidFill>
                  <a:srgbClr val="587080"/>
                </a:solidFill>
                <a:latin typeface="Arial"/>
              </a:defRPr>
            </a:pPr>
            <a:r>
              <a:t>camfranglais.duckdns.org</a:t>
            </a:r>
          </a:p>
        </p:txBody>
      </p:sp>
      <p:pic>
        <p:nvPicPr>
          <p:cNvPr id="23" name="Picture 22" descr="analyzer-input.png"/>
          <p:cNvPicPr>
            <a:picLocks noChangeAspect="1"/>
          </p:cNvPicPr>
          <p:nvPr/>
        </p:nvPicPr>
        <p:blipFill>
          <a:blip r:embed="rId2"/>
          <a:stretch>
            <a:fillRect/>
          </a:stretch>
        </p:blipFill>
        <p:spPr>
          <a:xfrm>
            <a:off x="4300319" y="2322576"/>
            <a:ext cx="6925873" cy="3346704"/>
          </a:xfrm>
          <a:prstGeom prst="rect">
            <a:avLst/>
          </a:prstGeom>
        </p:spPr>
      </p:pic>
      <p:sp>
        <p:nvSpPr>
          <p:cNvPr id="24" name="caption-12"/>
          <p:cNvSpPr txBox="1"/>
          <p:nvPr/>
        </p:nvSpPr>
        <p:spPr>
          <a:xfrm>
            <a:off x="3922776" y="5815584"/>
            <a:ext cx="7543800" cy="173736"/>
          </a:xfrm>
          <a:prstGeom prst="rect">
            <a:avLst/>
          </a:prstGeom>
          <a:noFill/>
        </p:spPr>
        <p:txBody>
          <a:bodyPr wrap="none" lIns="0" rIns="0" tIns="0" bIns="0" anchor="t">
            <a:noAutofit/>
          </a:bodyPr>
          <a:lstStyle/>
          <a:p>
            <a:pPr algn="l">
              <a:lnSpc>
                <a:spcPts val="1102"/>
              </a:lnSpc>
              <a:spcBef>
                <a:spcPts val="0"/>
              </a:spcBef>
              <a:spcAft>
                <a:spcPts val="0"/>
              </a:spcAft>
              <a:defRPr sz="950" b="0">
                <a:solidFill>
                  <a:srgbClr val="587080"/>
                </a:solidFill>
                <a:latin typeface="Arial"/>
              </a:defRPr>
            </a:pPr>
            <a:r>
              <a:t>REAL DEPLOYED APP / 27 SEP 2026 / crop only where noted</a:t>
            </a:r>
          </a:p>
        </p:txBody>
      </p:sp>
      <p:cxnSp>
        <p:nvCxnSpPr>
          <p:cNvPr id="25" name="Connector 2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6"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7" name="source-14">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frontend/src/FrancAnalyzer.tsx</a:t>
            </a:r>
          </a:p>
        </p:txBody>
      </p:sp>
      <p:sp>
        <p:nvSpPr>
          <p:cNvPr id="28" name="source-15">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backend/analyzer_api.py</a:t>
            </a:r>
          </a:p>
        </p:txBody>
      </p:sp>
      <p:sp>
        <p:nvSpPr>
          <p:cNvPr id="29" name="source-16">
            <a:hlinkClick r:id="rId5"/>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backend/analyzer_history.py</a:t>
            </a:r>
          </a:p>
        </p:txBody>
      </p:sp>
      <p:sp>
        <p:nvSpPr>
          <p:cNvPr id="30" name="footer-17"/>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1" name="footer-18"/>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05 / 12</a:t>
            </a:r>
          </a:p>
        </p:txBody>
      </p:sp>
      <p:sp>
        <p:nvSpPr>
          <p:cNvPr id="32" name="Rectangle 3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0" y="6821424"/>
            <a:ext cx="50799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THE ESSENTIALS / CS4110</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Two verdicts explain the result</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Example: je suis kass je go nang</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85216" y="211226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68096" y="2093976"/>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Vocabulary</a:t>
            </a:r>
          </a:p>
        </p:txBody>
      </p:sp>
      <p:sp>
        <p:nvSpPr>
          <p:cNvPr id="9" name="body-6"/>
          <p:cNvSpPr txBox="1"/>
          <p:nvPr/>
        </p:nvSpPr>
        <p:spPr>
          <a:xfrm>
            <a:off x="768096" y="2532888"/>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Passes when no token is</a:t>
            </a:r>
          </a:p>
          <a:p>
            <a:pPr algn="l">
              <a:lnSpc>
                <a:spcPts val="2088"/>
              </a:lnSpc>
              <a:spcBef>
                <a:spcPts val="0"/>
              </a:spcBef>
              <a:spcAft>
                <a:spcPts val="0"/>
              </a:spcAft>
              <a:defRPr sz="1800" b="0">
                <a:solidFill>
                  <a:srgbClr val="587080"/>
                </a:solidFill>
                <a:latin typeface="Arial"/>
              </a:defRPr>
            </a:pPr>
            <a:r>
              <a:t>UNKNOWN.</a:t>
            </a:r>
          </a:p>
        </p:txBody>
      </p:sp>
      <p:sp>
        <p:nvSpPr>
          <p:cNvPr id="10" name="Rectangle 9"/>
          <p:cNvSpPr/>
          <p:nvPr/>
        </p:nvSpPr>
        <p:spPr>
          <a:xfrm>
            <a:off x="585216" y="3304032"/>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768096" y="3285744"/>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Grammar</a:t>
            </a:r>
          </a:p>
        </p:txBody>
      </p:sp>
      <p:sp>
        <p:nvSpPr>
          <p:cNvPr id="12" name="body-8"/>
          <p:cNvSpPr txBox="1"/>
          <p:nvPr/>
        </p:nvSpPr>
        <p:spPr>
          <a:xfrm>
            <a:off x="768096" y="3724656"/>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Passes when categories fit</a:t>
            </a:r>
          </a:p>
          <a:p>
            <a:pPr algn="l">
              <a:lnSpc>
                <a:spcPts val="2088"/>
              </a:lnSpc>
              <a:spcBef>
                <a:spcPts val="0"/>
              </a:spcBef>
              <a:spcAft>
                <a:spcPts val="0"/>
              </a:spcAft>
              <a:defRPr sz="1800" b="0">
                <a:solidFill>
                  <a:srgbClr val="587080"/>
                </a:solidFill>
                <a:latin typeface="Arial"/>
              </a:defRPr>
            </a:pPr>
            <a:r>
              <a:t>the saved rules.</a:t>
            </a:r>
          </a:p>
        </p:txBody>
      </p:sp>
      <p:sp>
        <p:nvSpPr>
          <p:cNvPr id="13" name="Rectangle 12"/>
          <p:cNvSpPr/>
          <p:nvPr/>
        </p:nvSpPr>
        <p:spPr>
          <a:xfrm>
            <a:off x="585216" y="4495799"/>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68096" y="4477512"/>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Evidence</a:t>
            </a:r>
          </a:p>
        </p:txBody>
      </p:sp>
      <p:sp>
        <p:nvSpPr>
          <p:cNvPr id="15" name="body-10"/>
          <p:cNvSpPr txBox="1"/>
          <p:nvPr/>
        </p:nvSpPr>
        <p:spPr>
          <a:xfrm>
            <a:off x="768096" y="4916424"/>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S02: six tokens consumed;</a:t>
            </a:r>
          </a:p>
          <a:p>
            <a:pPr algn="l">
              <a:lnSpc>
                <a:spcPts val="2088"/>
              </a:lnSpc>
              <a:spcBef>
                <a:spcPts val="0"/>
              </a:spcBef>
              <a:spcAft>
                <a:spcPts val="0"/>
              </a:spcAft>
              <a:defRPr sz="1800" b="0">
                <a:solidFill>
                  <a:srgbClr val="587080"/>
                </a:solidFill>
                <a:latin typeface="Arial"/>
              </a:defRPr>
            </a:pPr>
            <a:r>
              <a:t>the CFG accepts.</a:t>
            </a:r>
          </a:p>
        </p:txBody>
      </p:sp>
      <p:sp>
        <p:nvSpPr>
          <p:cNvPr id="16" name="Rounded Rectangle 15"/>
          <p:cNvSpPr/>
          <p:nvPr/>
        </p:nvSpPr>
        <p:spPr>
          <a:xfrm>
            <a:off x="3927348" y="2057400"/>
            <a:ext cx="7754112" cy="3730752"/>
          </a:xfrm>
          <a:prstGeom prst="roundRect">
            <a:avLst>
              <a:gd name="adj" fmla="val 11000"/>
            </a:avLst>
          </a:prstGeom>
          <a:solidFill>
            <a:srgbClr val="DCE5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886200" y="2002536"/>
            <a:ext cx="7754112" cy="373075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886200" y="2002536"/>
            <a:ext cx="7754112" cy="292608"/>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4014215" y="2093976"/>
            <a:ext cx="73152" cy="73152"/>
          </a:xfrm>
          <a:prstGeom prst="ellipse">
            <a:avLst/>
          </a:prstGeom>
          <a:solidFill>
            <a:srgbClr val="A858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4151376" y="2093976"/>
            <a:ext cx="73152" cy="73152"/>
          </a:xfrm>
          <a:prstGeom prst="ellipse">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4288536" y="2093976"/>
            <a:ext cx="73152" cy="73152"/>
          </a:xfrm>
          <a:prstGeom prst="ellipse">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caption-11"/>
          <p:cNvSpPr txBox="1"/>
          <p:nvPr/>
        </p:nvSpPr>
        <p:spPr>
          <a:xfrm>
            <a:off x="4562856" y="2061972"/>
            <a:ext cx="6748272" cy="173736"/>
          </a:xfrm>
          <a:prstGeom prst="rect">
            <a:avLst/>
          </a:prstGeom>
          <a:noFill/>
        </p:spPr>
        <p:txBody>
          <a:bodyPr wrap="none" lIns="0" rIns="0" tIns="0" bIns="0" anchor="t">
            <a:noAutofit/>
          </a:bodyPr>
          <a:lstStyle/>
          <a:p>
            <a:pPr algn="l">
              <a:lnSpc>
                <a:spcPts val="1160"/>
              </a:lnSpc>
              <a:spcBef>
                <a:spcPts val="0"/>
              </a:spcBef>
              <a:spcAft>
                <a:spcPts val="0"/>
              </a:spcAft>
              <a:defRPr sz="1000" b="0">
                <a:solidFill>
                  <a:srgbClr val="587080"/>
                </a:solidFill>
                <a:latin typeface="Arial"/>
              </a:defRPr>
            </a:pPr>
            <a:r>
              <a:t>camfranglais.duckdns.org</a:t>
            </a:r>
          </a:p>
        </p:txBody>
      </p:sp>
      <p:pic>
        <p:nvPicPr>
          <p:cNvPr id="23" name="Picture 22" descr="public-test-20260927.png"/>
          <p:cNvPicPr>
            <a:picLocks noChangeAspect="1"/>
          </p:cNvPicPr>
          <p:nvPr/>
        </p:nvPicPr>
        <p:blipFill>
          <a:blip r:embed="rId2"/>
          <a:stretch>
            <a:fillRect/>
          </a:stretch>
        </p:blipFill>
        <p:spPr>
          <a:xfrm>
            <a:off x="5516838" y="2322576"/>
            <a:ext cx="4492835" cy="3346704"/>
          </a:xfrm>
          <a:prstGeom prst="rect">
            <a:avLst/>
          </a:prstGeom>
        </p:spPr>
      </p:pic>
      <p:sp>
        <p:nvSpPr>
          <p:cNvPr id="24" name="caption-12"/>
          <p:cNvSpPr txBox="1"/>
          <p:nvPr/>
        </p:nvSpPr>
        <p:spPr>
          <a:xfrm>
            <a:off x="3922776" y="5815584"/>
            <a:ext cx="7543800" cy="173736"/>
          </a:xfrm>
          <a:prstGeom prst="rect">
            <a:avLst/>
          </a:prstGeom>
          <a:noFill/>
        </p:spPr>
        <p:txBody>
          <a:bodyPr wrap="none" lIns="0" rIns="0" tIns="0" bIns="0" anchor="t">
            <a:noAutofit/>
          </a:bodyPr>
          <a:lstStyle/>
          <a:p>
            <a:pPr algn="l">
              <a:lnSpc>
                <a:spcPts val="1102"/>
              </a:lnSpc>
              <a:spcBef>
                <a:spcPts val="0"/>
              </a:spcBef>
              <a:spcAft>
                <a:spcPts val="0"/>
              </a:spcAft>
              <a:defRPr sz="950" b="0">
                <a:solidFill>
                  <a:srgbClr val="587080"/>
                </a:solidFill>
                <a:latin typeface="Arial"/>
              </a:defRPr>
            </a:pPr>
            <a:r>
              <a:t>REAL DEPLOYED APP / 27 SEP 2026 / crop only where noted</a:t>
            </a:r>
          </a:p>
        </p:txBody>
      </p:sp>
      <p:cxnSp>
        <p:nvCxnSpPr>
          <p:cNvPr id="25" name="Connector 2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6"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7" name="source-14">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frontend/src/CourseworkResults.tsx</a:t>
            </a:r>
          </a:p>
        </p:txBody>
      </p:sp>
      <p:sp>
        <p:nvSpPr>
          <p:cNvPr id="28" name="source-15">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frontend/src/VocabularyVerdict.tsx</a:t>
            </a:r>
          </a:p>
        </p:txBody>
      </p:sp>
      <p:sp>
        <p:nvSpPr>
          <p:cNvPr id="29" name="source-16">
            <a:hlinkClick r:id="rId5"/>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30" name="footer-17"/>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1" name="footer-18"/>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06 / 12</a:t>
            </a:r>
          </a:p>
        </p:txBody>
      </p:sp>
      <p:sp>
        <p:nvSpPr>
          <p:cNvPr id="32" name="Rectangle 3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0" y="6821424"/>
            <a:ext cx="60959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THE ESSENTIALS / CS4110</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Reference pages support the analysis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Browse the evidence without changing it.</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85216" y="211226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68096" y="2093976"/>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Collection</a:t>
            </a:r>
          </a:p>
        </p:txBody>
      </p:sp>
      <p:sp>
        <p:nvSpPr>
          <p:cNvPr id="9" name="body-6"/>
          <p:cNvSpPr txBox="1"/>
          <p:nvPr/>
        </p:nvSpPr>
        <p:spPr>
          <a:xfrm>
            <a:off x="768096" y="2532888"/>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Original statements,</a:t>
            </a:r>
          </a:p>
          <a:p>
            <a:pPr algn="l">
              <a:lnSpc>
                <a:spcPts val="2088"/>
              </a:lnSpc>
              <a:spcBef>
                <a:spcPts val="0"/>
              </a:spcBef>
              <a:spcAft>
                <a:spcPts val="0"/>
              </a:spcAft>
              <a:defRPr sz="1800" b="0">
                <a:solidFill>
                  <a:srgbClr val="587080"/>
                </a:solidFill>
                <a:latin typeface="Arial"/>
              </a:defRPr>
            </a:pPr>
            <a:r>
              <a:t>context and existing audio.</a:t>
            </a:r>
          </a:p>
        </p:txBody>
      </p:sp>
      <p:sp>
        <p:nvSpPr>
          <p:cNvPr id="10" name="Rectangle 9"/>
          <p:cNvSpPr/>
          <p:nvPr/>
        </p:nvSpPr>
        <p:spPr>
          <a:xfrm>
            <a:off x="585216" y="3304032"/>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768096" y="3285744"/>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Dictionary</a:t>
            </a:r>
          </a:p>
        </p:txBody>
      </p:sp>
      <p:sp>
        <p:nvSpPr>
          <p:cNvPr id="12" name="body-8"/>
          <p:cNvSpPr txBox="1"/>
          <p:nvPr/>
        </p:nvSpPr>
        <p:spPr>
          <a:xfrm>
            <a:off x="768096" y="3724656"/>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938 source-labelled</a:t>
            </a:r>
          </a:p>
          <a:p>
            <a:pPr algn="l">
              <a:lnSpc>
                <a:spcPts val="2088"/>
              </a:lnSpc>
              <a:spcBef>
                <a:spcPts val="0"/>
              </a:spcBef>
              <a:spcAft>
                <a:spcPts val="0"/>
              </a:spcAft>
              <a:defRPr sz="1800" b="0">
                <a:solidFill>
                  <a:srgbClr val="587080"/>
                </a:solidFill>
                <a:latin typeface="Arial"/>
              </a:defRPr>
            </a:pPr>
            <a:r>
              <a:t>reference entries.</a:t>
            </a:r>
          </a:p>
        </p:txBody>
      </p:sp>
      <p:sp>
        <p:nvSpPr>
          <p:cNvPr id="13" name="Rectangle 12"/>
          <p:cNvSpPr/>
          <p:nvPr/>
        </p:nvSpPr>
        <p:spPr>
          <a:xfrm>
            <a:off x="585216" y="4495799"/>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68096" y="4477512"/>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Examples</a:t>
            </a:r>
          </a:p>
        </p:txBody>
      </p:sp>
      <p:sp>
        <p:nvSpPr>
          <p:cNvPr id="15" name="body-10"/>
          <p:cNvSpPr txBox="1"/>
          <p:nvPr/>
        </p:nvSpPr>
        <p:spPr>
          <a:xfrm>
            <a:off x="768096" y="4916424"/>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26 constructed practice</a:t>
            </a:r>
          </a:p>
          <a:p>
            <a:pPr algn="l">
              <a:lnSpc>
                <a:spcPts val="2088"/>
              </a:lnSpc>
              <a:spcBef>
                <a:spcPts val="0"/>
              </a:spcBef>
              <a:spcAft>
                <a:spcPts val="0"/>
              </a:spcAft>
              <a:defRPr sz="1800" b="0">
                <a:solidFill>
                  <a:srgbClr val="587080"/>
                </a:solidFill>
                <a:latin typeface="Arial"/>
              </a:defRPr>
            </a:pPr>
            <a:r>
              <a:t>statements, not fieldwork.</a:t>
            </a:r>
          </a:p>
        </p:txBody>
      </p:sp>
      <p:sp>
        <p:nvSpPr>
          <p:cNvPr id="16" name="Rounded Rectangle 15"/>
          <p:cNvSpPr/>
          <p:nvPr/>
        </p:nvSpPr>
        <p:spPr>
          <a:xfrm>
            <a:off x="3927348" y="2057400"/>
            <a:ext cx="7754112" cy="3730752"/>
          </a:xfrm>
          <a:prstGeom prst="roundRect">
            <a:avLst>
              <a:gd name="adj" fmla="val 11000"/>
            </a:avLst>
          </a:prstGeom>
          <a:solidFill>
            <a:srgbClr val="DCE5E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886200" y="2002536"/>
            <a:ext cx="7754112" cy="3730752"/>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3886200" y="2002536"/>
            <a:ext cx="7754112" cy="292608"/>
          </a:xfrm>
          <a:prstGeom prst="rect">
            <a:avLst/>
          </a:prstGeom>
          <a:solidFill>
            <a:srgbClr val="E8F3E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Oval 18"/>
          <p:cNvSpPr/>
          <p:nvPr/>
        </p:nvSpPr>
        <p:spPr>
          <a:xfrm>
            <a:off x="4014215" y="2093976"/>
            <a:ext cx="73152" cy="73152"/>
          </a:xfrm>
          <a:prstGeom prst="ellipse">
            <a:avLst/>
          </a:prstGeom>
          <a:solidFill>
            <a:srgbClr val="A8583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4151376" y="2093976"/>
            <a:ext cx="73152" cy="73152"/>
          </a:xfrm>
          <a:prstGeom prst="ellipse">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4288536" y="2093976"/>
            <a:ext cx="73152" cy="73152"/>
          </a:xfrm>
          <a:prstGeom prst="ellipse">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caption-11"/>
          <p:cNvSpPr txBox="1"/>
          <p:nvPr/>
        </p:nvSpPr>
        <p:spPr>
          <a:xfrm>
            <a:off x="4562856" y="2061972"/>
            <a:ext cx="6748272" cy="173736"/>
          </a:xfrm>
          <a:prstGeom prst="rect">
            <a:avLst/>
          </a:prstGeom>
          <a:noFill/>
        </p:spPr>
        <p:txBody>
          <a:bodyPr wrap="none" lIns="0" rIns="0" tIns="0" bIns="0" anchor="t">
            <a:noAutofit/>
          </a:bodyPr>
          <a:lstStyle/>
          <a:p>
            <a:pPr algn="l">
              <a:lnSpc>
                <a:spcPts val="1160"/>
              </a:lnSpc>
              <a:spcBef>
                <a:spcPts val="0"/>
              </a:spcBef>
              <a:spcAft>
                <a:spcPts val="0"/>
              </a:spcAft>
              <a:defRPr sz="1000" b="0">
                <a:solidFill>
                  <a:srgbClr val="587080"/>
                </a:solidFill>
                <a:latin typeface="Arial"/>
              </a:defRPr>
            </a:pPr>
            <a:r>
              <a:t>camfranglais.duckdns.org</a:t>
            </a:r>
          </a:p>
        </p:txBody>
      </p:sp>
      <p:pic>
        <p:nvPicPr>
          <p:cNvPr id="23" name="Picture 22" descr="dictionary-kass.png"/>
          <p:cNvPicPr>
            <a:picLocks noChangeAspect="1"/>
          </p:cNvPicPr>
          <p:nvPr/>
        </p:nvPicPr>
        <p:blipFill>
          <a:blip r:embed="rId2"/>
          <a:stretch>
            <a:fillRect/>
          </a:stretch>
        </p:blipFill>
        <p:spPr>
          <a:xfrm>
            <a:off x="3941063" y="2562606"/>
            <a:ext cx="7644384" cy="2866644"/>
          </a:xfrm>
          <a:prstGeom prst="rect">
            <a:avLst/>
          </a:prstGeom>
        </p:spPr>
      </p:pic>
      <p:sp>
        <p:nvSpPr>
          <p:cNvPr id="24" name="caption-12"/>
          <p:cNvSpPr txBox="1"/>
          <p:nvPr/>
        </p:nvSpPr>
        <p:spPr>
          <a:xfrm>
            <a:off x="3922776" y="5815584"/>
            <a:ext cx="7543800" cy="173736"/>
          </a:xfrm>
          <a:prstGeom prst="rect">
            <a:avLst/>
          </a:prstGeom>
          <a:noFill/>
        </p:spPr>
        <p:txBody>
          <a:bodyPr wrap="none" lIns="0" rIns="0" tIns="0" bIns="0" anchor="t">
            <a:noAutofit/>
          </a:bodyPr>
          <a:lstStyle/>
          <a:p>
            <a:pPr algn="l">
              <a:lnSpc>
                <a:spcPts val="1102"/>
              </a:lnSpc>
              <a:spcBef>
                <a:spcPts val="0"/>
              </a:spcBef>
              <a:spcAft>
                <a:spcPts val="0"/>
              </a:spcAft>
              <a:defRPr sz="950" b="0">
                <a:solidFill>
                  <a:srgbClr val="587080"/>
                </a:solidFill>
                <a:latin typeface="Arial"/>
              </a:defRPr>
            </a:pPr>
            <a:r>
              <a:t>REAL DEPLOYED APP / 27 SEP 2026 / crop only where noted</a:t>
            </a:r>
          </a:p>
        </p:txBody>
      </p:sp>
      <p:cxnSp>
        <p:nvCxnSpPr>
          <p:cNvPr id="25" name="Connector 2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26" name="footer-13"/>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7" name="source-14">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frontend/src/Collection.tsx</a:t>
            </a:r>
          </a:p>
        </p:txBody>
      </p:sp>
      <p:sp>
        <p:nvSpPr>
          <p:cNvPr id="28" name="source-15">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frontend/src/Dictionary.tsx</a:t>
            </a:r>
          </a:p>
        </p:txBody>
      </p:sp>
      <p:sp>
        <p:nvSpPr>
          <p:cNvPr id="29" name="source-16">
            <a:hlinkClick r:id="rId5"/>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frontend/src/Examples.tsx</a:t>
            </a:r>
          </a:p>
        </p:txBody>
      </p:sp>
      <p:sp>
        <p:nvSpPr>
          <p:cNvPr id="30" name="source-17">
            <a:hlinkClick r:id="rId6"/>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backend/dictionary.py</a:t>
            </a:r>
          </a:p>
        </p:txBody>
      </p:sp>
      <p:sp>
        <p:nvSpPr>
          <p:cNvPr id="31" name="footer-18"/>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32" name="footer-19"/>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07 / 12</a:t>
            </a:r>
          </a:p>
        </p:txBody>
      </p:sp>
      <p:sp>
        <p:nvSpPr>
          <p:cNvPr id="33" name="Rectangle 32"/>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ectangle 33"/>
          <p:cNvSpPr/>
          <p:nvPr/>
        </p:nvSpPr>
        <p:spPr>
          <a:xfrm>
            <a:off x="0" y="6821424"/>
            <a:ext cx="71119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THE ESSENTIALS / CS4110</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Three layers and their key files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Each layer has one clear responsibility.</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074920" y="1984248"/>
            <a:ext cx="6547104" cy="3803904"/>
          </a:xfrm>
          <a:prstGeom prst="roundRect">
            <a:avLst>
              <a:gd name="adj" fmla="val 11000"/>
            </a:avLst>
          </a:prstGeom>
          <a:solidFill>
            <a:srgbClr val="12304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Picture 7" descr="illustration-architecture.png"/>
          <p:cNvPicPr>
            <a:picLocks noChangeAspect="1"/>
          </p:cNvPicPr>
          <p:nvPr/>
        </p:nvPicPr>
        <p:blipFill>
          <a:blip r:embed="rId2"/>
          <a:stretch>
            <a:fillRect/>
          </a:stretch>
        </p:blipFill>
        <p:spPr>
          <a:xfrm>
            <a:off x="5722837" y="2048256"/>
            <a:ext cx="5251268" cy="3675887"/>
          </a:xfrm>
          <a:prstGeom prst="rect">
            <a:avLst/>
          </a:prstGeom>
        </p:spPr>
      </p:pic>
      <p:sp>
        <p:nvSpPr>
          <p:cNvPr id="9" name="Rectangle 8"/>
          <p:cNvSpPr/>
          <p:nvPr/>
        </p:nvSpPr>
        <p:spPr>
          <a:xfrm>
            <a:off x="594360" y="209397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5"/>
          <p:cNvSpPr txBox="1"/>
          <p:nvPr/>
        </p:nvSpPr>
        <p:spPr>
          <a:xfrm>
            <a:off x="777240" y="2075688"/>
            <a:ext cx="3813048"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React interface</a:t>
            </a:r>
          </a:p>
        </p:txBody>
      </p:sp>
      <p:sp>
        <p:nvSpPr>
          <p:cNvPr id="11" name="body-6"/>
          <p:cNvSpPr txBox="1"/>
          <p:nvPr/>
        </p:nvSpPr>
        <p:spPr>
          <a:xfrm>
            <a:off x="777240" y="2514600"/>
            <a:ext cx="3794760" cy="701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App.tsx: pages and navigation.</a:t>
            </a:r>
          </a:p>
        </p:txBody>
      </p:sp>
      <p:sp>
        <p:nvSpPr>
          <p:cNvPr id="12" name="Rectangle 11"/>
          <p:cNvSpPr/>
          <p:nvPr/>
        </p:nvSpPr>
        <p:spPr>
          <a:xfrm>
            <a:off x="594360" y="329793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7"/>
          <p:cNvSpPr txBox="1"/>
          <p:nvPr/>
        </p:nvSpPr>
        <p:spPr>
          <a:xfrm>
            <a:off x="777240" y="3279648"/>
            <a:ext cx="3813048"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FastAPI backend</a:t>
            </a:r>
          </a:p>
        </p:txBody>
      </p:sp>
      <p:sp>
        <p:nvSpPr>
          <p:cNvPr id="14" name="body-8"/>
          <p:cNvSpPr txBox="1"/>
          <p:nvPr/>
        </p:nvSpPr>
        <p:spPr>
          <a:xfrm>
            <a:off x="777240" y="3718560"/>
            <a:ext cx="3794760" cy="701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main.py: public API wiring.</a:t>
            </a:r>
          </a:p>
        </p:txBody>
      </p:sp>
      <p:sp>
        <p:nvSpPr>
          <p:cNvPr id="15" name="Rectangle 14"/>
          <p:cNvSpPr/>
          <p:nvPr/>
        </p:nvSpPr>
        <p:spPr>
          <a:xfrm>
            <a:off x="594360" y="4501896"/>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body-9"/>
          <p:cNvSpPr txBox="1"/>
          <p:nvPr/>
        </p:nvSpPr>
        <p:spPr>
          <a:xfrm>
            <a:off x="777240" y="4483608"/>
            <a:ext cx="3813048"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Python compiler</a:t>
            </a:r>
          </a:p>
        </p:txBody>
      </p:sp>
      <p:sp>
        <p:nvSpPr>
          <p:cNvPr id="17" name="body-10"/>
          <p:cNvSpPr txBox="1"/>
          <p:nvPr/>
        </p:nvSpPr>
        <p:spPr>
          <a:xfrm>
            <a:off x="777240" y="4922520"/>
            <a:ext cx="3794760" cy="701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tokenizer.py and predictive.py: the</a:t>
            </a:r>
          </a:p>
          <a:p>
            <a:pPr algn="l">
              <a:lnSpc>
                <a:spcPts val="2088"/>
              </a:lnSpc>
              <a:spcBef>
                <a:spcPts val="0"/>
              </a:spcBef>
              <a:spcAft>
                <a:spcPts val="0"/>
              </a:spcAft>
              <a:defRPr sz="1800" b="0">
                <a:solidFill>
                  <a:srgbClr val="587080"/>
                </a:solidFill>
                <a:latin typeface="Arial"/>
              </a:defRPr>
            </a:pPr>
            <a:r>
              <a:t>analysis rules.</a:t>
            </a:r>
          </a:p>
        </p:txBody>
      </p:sp>
      <p:cxnSp>
        <p:nvCxnSpPr>
          <p:cNvPr id="18" name="Connector 17"/>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9"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0" name="source-12">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frontend/src/App.tsx</a:t>
            </a:r>
          </a:p>
        </p:txBody>
      </p:sp>
      <p:sp>
        <p:nvSpPr>
          <p:cNvPr id="21" name="source-13">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backend/main.py</a:t>
            </a:r>
          </a:p>
        </p:txBody>
      </p:sp>
      <p:sp>
        <p:nvSpPr>
          <p:cNvPr id="22" name="source-14">
            <a:hlinkClick r:id="rId5"/>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23" name="source-15">
            <a:hlinkClick r:id="rId6"/>
          </p:cNvPr>
          <p:cNvSpPr txBox="1"/>
          <p:nvPr/>
        </p:nvSpPr>
        <p:spPr>
          <a:xfrm>
            <a:off x="611733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24" name="footer-1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5" name="footer-1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08 / 12</a:t>
            </a:r>
          </a:p>
        </p:txBody>
      </p:sp>
      <p:sp>
        <p:nvSpPr>
          <p:cNvPr id="26" name="Rectangle 25"/>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0" y="6821424"/>
            <a:ext cx="81279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THE ESSENTIALS / CS4110</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Lexer: from characters to tokens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An equivalent DFA explains the actual segmentation regex.</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85216" y="2112264"/>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5"/>
          <p:cNvSpPr txBox="1"/>
          <p:nvPr/>
        </p:nvSpPr>
        <p:spPr>
          <a:xfrm>
            <a:off x="768096" y="2093976"/>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Recognize</a:t>
            </a:r>
          </a:p>
        </p:txBody>
      </p:sp>
      <p:sp>
        <p:nvSpPr>
          <p:cNvPr id="9" name="body-6"/>
          <p:cNvSpPr txBox="1"/>
          <p:nvPr/>
        </p:nvSpPr>
        <p:spPr>
          <a:xfrm>
            <a:off x="768096" y="2532888"/>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Word, number and</a:t>
            </a:r>
          </a:p>
          <a:p>
            <a:pPr algn="l">
              <a:lnSpc>
                <a:spcPts val="2088"/>
              </a:lnSpc>
              <a:spcBef>
                <a:spcPts val="0"/>
              </a:spcBef>
              <a:spcAft>
                <a:spcPts val="0"/>
              </a:spcAft>
              <a:defRPr sz="1800" b="0">
                <a:solidFill>
                  <a:srgbClr val="587080"/>
                </a:solidFill>
                <a:latin typeface="Arial"/>
              </a:defRPr>
            </a:pPr>
            <a:r>
              <a:t>punctuation forms.</a:t>
            </a:r>
          </a:p>
        </p:txBody>
      </p:sp>
      <p:sp>
        <p:nvSpPr>
          <p:cNvPr id="10" name="Rectangle 9"/>
          <p:cNvSpPr/>
          <p:nvPr/>
        </p:nvSpPr>
        <p:spPr>
          <a:xfrm>
            <a:off x="585216" y="3304032"/>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7"/>
          <p:cNvSpPr txBox="1"/>
          <p:nvPr/>
        </p:nvSpPr>
        <p:spPr>
          <a:xfrm>
            <a:off x="768096" y="3285744"/>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Classify</a:t>
            </a:r>
          </a:p>
        </p:txBody>
      </p:sp>
      <p:sp>
        <p:nvSpPr>
          <p:cNvPr id="12" name="body-8"/>
          <p:cNvSpPr txBox="1"/>
          <p:nvPr/>
        </p:nvSpPr>
        <p:spPr>
          <a:xfrm>
            <a:off x="768096" y="3724656"/>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Apply ordered vocabulary</a:t>
            </a:r>
          </a:p>
          <a:p>
            <a:pPr algn="l">
              <a:lnSpc>
                <a:spcPts val="2088"/>
              </a:lnSpc>
              <a:spcBef>
                <a:spcPts val="0"/>
              </a:spcBef>
              <a:spcAft>
                <a:spcPts val="0"/>
              </a:spcAft>
              <a:defRPr sz="1800" b="0">
                <a:solidFill>
                  <a:srgbClr val="587080"/>
                </a:solidFill>
                <a:latin typeface="Arial"/>
              </a:defRPr>
            </a:pPr>
            <a:r>
              <a:t>and regex rules.</a:t>
            </a:r>
          </a:p>
        </p:txBody>
      </p:sp>
      <p:sp>
        <p:nvSpPr>
          <p:cNvPr id="13" name="Rectangle 12"/>
          <p:cNvSpPr/>
          <p:nvPr/>
        </p:nvSpPr>
        <p:spPr>
          <a:xfrm>
            <a:off x="585216" y="4495799"/>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9"/>
          <p:cNvSpPr txBox="1"/>
          <p:nvPr/>
        </p:nvSpPr>
        <p:spPr>
          <a:xfrm>
            <a:off x="768096" y="4477512"/>
            <a:ext cx="2834639"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Preserve</a:t>
            </a:r>
          </a:p>
        </p:txBody>
      </p:sp>
      <p:sp>
        <p:nvSpPr>
          <p:cNvPr id="15" name="body-10"/>
          <p:cNvSpPr txBox="1"/>
          <p:nvPr/>
        </p:nvSpPr>
        <p:spPr>
          <a:xfrm>
            <a:off x="768096" y="4916424"/>
            <a:ext cx="2816351" cy="688848"/>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Unknown characters are</a:t>
            </a:r>
          </a:p>
          <a:p>
            <a:pPr algn="l">
              <a:lnSpc>
                <a:spcPts val="2088"/>
              </a:lnSpc>
              <a:spcBef>
                <a:spcPts val="0"/>
              </a:spcBef>
              <a:spcAft>
                <a:spcPts val="0"/>
              </a:spcAft>
              <a:defRPr sz="1800" b="0">
                <a:solidFill>
                  <a:srgbClr val="587080"/>
                </a:solidFill>
                <a:latin typeface="Arial"/>
              </a:defRPr>
            </a:pPr>
            <a:r>
              <a:t>kept, not discarded.</a:t>
            </a:r>
          </a:p>
        </p:txBody>
      </p:sp>
      <p:sp>
        <p:nvSpPr>
          <p:cNvPr id="16" name="Rounded Rectangle 15"/>
          <p:cNvSpPr/>
          <p:nvPr/>
        </p:nvSpPr>
        <p:spPr>
          <a:xfrm>
            <a:off x="3867912" y="2002536"/>
            <a:ext cx="7772400" cy="3822191"/>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7" name="Picture 16" descr="automaton-lexer.png"/>
          <p:cNvPicPr>
            <a:picLocks noChangeAspect="1"/>
          </p:cNvPicPr>
          <p:nvPr/>
        </p:nvPicPr>
        <p:blipFill>
          <a:blip r:embed="rId2"/>
          <a:stretch>
            <a:fillRect/>
          </a:stretch>
        </p:blipFill>
        <p:spPr>
          <a:xfrm>
            <a:off x="4882021" y="2121408"/>
            <a:ext cx="5744181" cy="3566160"/>
          </a:xfrm>
          <a:prstGeom prst="rect">
            <a:avLst/>
          </a:prstGeom>
        </p:spPr>
      </p:pic>
      <p:cxnSp>
        <p:nvCxnSpPr>
          <p:cNvPr id="18" name="Connector 17"/>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9"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0" name="source-12">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compiler/lexer/tokenizer.py</a:t>
            </a:r>
          </a:p>
        </p:txBody>
      </p:sp>
      <p:sp>
        <p:nvSpPr>
          <p:cNvPr id="21" name="source-13">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compiler/lexer/lexicon.py</a:t>
            </a:r>
          </a:p>
        </p:txBody>
      </p:sp>
      <p:sp>
        <p:nvSpPr>
          <p:cNvPr id="22" name="source-14">
            <a:hlinkClick r:id="rId5"/>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docs/diagrams/automaton-lexer.puml</a:t>
            </a:r>
          </a:p>
        </p:txBody>
      </p:sp>
      <p:sp>
        <p:nvSpPr>
          <p:cNvPr id="23" name="footer-1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4" name="footer-1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09 / 12</a:t>
            </a:r>
          </a:p>
        </p:txBody>
      </p:sp>
      <p:sp>
        <p:nvSpPr>
          <p:cNvPr id="25" name="Rectangle 2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0" y="6821424"/>
            <a:ext cx="91439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THE ESSENTIALS / CS4110</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Parser: categories plus a stack</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The saved LL(1) table selects each next action.</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ounded Rectangle 6"/>
          <p:cNvSpPr/>
          <p:nvPr/>
        </p:nvSpPr>
        <p:spPr>
          <a:xfrm>
            <a:off x="548640" y="1965960"/>
            <a:ext cx="11082528" cy="2962656"/>
          </a:xfrm>
          <a:prstGeom prst="roundRect">
            <a:avLst>
              <a:gd name="adj" fmla="val 11000"/>
            </a:avLst>
          </a:prstGeom>
          <a:solidFill>
            <a:srgbClr val="FFFFFF"/>
          </a:solidFill>
          <a:ln w="8890">
            <a:solidFill>
              <a:srgbClr val="D8E4E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Picture 7" descr="automaton-parser.png"/>
          <p:cNvPicPr>
            <a:picLocks noChangeAspect="1"/>
          </p:cNvPicPr>
          <p:nvPr/>
        </p:nvPicPr>
        <p:blipFill>
          <a:blip r:embed="rId2"/>
          <a:stretch>
            <a:fillRect/>
          </a:stretch>
        </p:blipFill>
        <p:spPr>
          <a:xfrm>
            <a:off x="1845789" y="2093976"/>
            <a:ext cx="8488229" cy="2706624"/>
          </a:xfrm>
          <a:prstGeom prst="rect">
            <a:avLst/>
          </a:prstGeom>
        </p:spPr>
      </p:pic>
      <p:sp>
        <p:nvSpPr>
          <p:cNvPr id="9" name="body-5"/>
          <p:cNvSpPr txBox="1"/>
          <p:nvPr/>
        </p:nvSpPr>
        <p:spPr>
          <a:xfrm>
            <a:off x="594360" y="5111496"/>
            <a:ext cx="3502152" cy="256032"/>
          </a:xfrm>
          <a:prstGeom prst="rect">
            <a:avLst/>
          </a:prstGeom>
          <a:noFill/>
        </p:spPr>
        <p:txBody>
          <a:bodyPr wrap="none" lIns="0" rIns="0" tIns="0" bIns="0" anchor="t">
            <a:noAutofit/>
          </a:bodyPr>
          <a:lstStyle/>
          <a:p>
            <a:pPr algn="l">
              <a:lnSpc>
                <a:spcPts val="1507"/>
              </a:lnSpc>
              <a:spcBef>
                <a:spcPts val="0"/>
              </a:spcBef>
              <a:spcAft>
                <a:spcPts val="0"/>
              </a:spcAft>
              <a:defRPr sz="1300" b="1">
                <a:solidFill>
                  <a:srgbClr val="147E80"/>
                </a:solidFill>
                <a:latin typeface="Arial"/>
              </a:defRPr>
            </a:pPr>
            <a:r>
              <a:t>EXPAND</a:t>
            </a:r>
          </a:p>
        </p:txBody>
      </p:sp>
      <p:sp>
        <p:nvSpPr>
          <p:cNvPr id="10" name="body-6"/>
          <p:cNvSpPr txBox="1"/>
          <p:nvPr/>
        </p:nvSpPr>
        <p:spPr>
          <a:xfrm>
            <a:off x="594360" y="5495544"/>
            <a:ext cx="3529584" cy="320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Use the unique table entry.</a:t>
            </a:r>
          </a:p>
        </p:txBody>
      </p:sp>
      <p:sp>
        <p:nvSpPr>
          <p:cNvPr id="11" name="body-7"/>
          <p:cNvSpPr txBox="1"/>
          <p:nvPr/>
        </p:nvSpPr>
        <p:spPr>
          <a:xfrm>
            <a:off x="4334256" y="5111496"/>
            <a:ext cx="3502152" cy="256032"/>
          </a:xfrm>
          <a:prstGeom prst="rect">
            <a:avLst/>
          </a:prstGeom>
          <a:noFill/>
        </p:spPr>
        <p:txBody>
          <a:bodyPr wrap="none" lIns="0" rIns="0" tIns="0" bIns="0" anchor="t">
            <a:noAutofit/>
          </a:bodyPr>
          <a:lstStyle/>
          <a:p>
            <a:pPr algn="l">
              <a:lnSpc>
                <a:spcPts val="1507"/>
              </a:lnSpc>
              <a:spcBef>
                <a:spcPts val="0"/>
              </a:spcBef>
              <a:spcAft>
                <a:spcPts val="0"/>
              </a:spcAft>
              <a:defRPr sz="1300" b="1">
                <a:solidFill>
                  <a:srgbClr val="147E80"/>
                </a:solidFill>
                <a:latin typeface="Arial"/>
              </a:defRPr>
            </a:pPr>
            <a:r>
              <a:t>MATCH</a:t>
            </a:r>
          </a:p>
        </p:txBody>
      </p:sp>
      <p:sp>
        <p:nvSpPr>
          <p:cNvPr id="12" name="body-8"/>
          <p:cNvSpPr txBox="1"/>
          <p:nvPr/>
        </p:nvSpPr>
        <p:spPr>
          <a:xfrm>
            <a:off x="4334256" y="5495544"/>
            <a:ext cx="3529584" cy="320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Consume one matching category.</a:t>
            </a:r>
          </a:p>
        </p:txBody>
      </p:sp>
      <p:sp>
        <p:nvSpPr>
          <p:cNvPr id="13" name="body-9"/>
          <p:cNvSpPr txBox="1"/>
          <p:nvPr/>
        </p:nvSpPr>
        <p:spPr>
          <a:xfrm>
            <a:off x="8074152" y="5111496"/>
            <a:ext cx="3502152" cy="256032"/>
          </a:xfrm>
          <a:prstGeom prst="rect">
            <a:avLst/>
          </a:prstGeom>
          <a:noFill/>
        </p:spPr>
        <p:txBody>
          <a:bodyPr wrap="none" lIns="0" rIns="0" tIns="0" bIns="0" anchor="t">
            <a:noAutofit/>
          </a:bodyPr>
          <a:lstStyle/>
          <a:p>
            <a:pPr algn="l">
              <a:lnSpc>
                <a:spcPts val="1507"/>
              </a:lnSpc>
              <a:spcBef>
                <a:spcPts val="0"/>
              </a:spcBef>
              <a:spcAft>
                <a:spcPts val="0"/>
              </a:spcAft>
              <a:defRPr sz="1300" b="1">
                <a:solidFill>
                  <a:srgbClr val="147E80"/>
                </a:solidFill>
                <a:latin typeface="Arial"/>
              </a:defRPr>
            </a:pPr>
            <a:r>
              <a:t>FINISH</a:t>
            </a:r>
          </a:p>
        </p:txBody>
      </p:sp>
      <p:sp>
        <p:nvSpPr>
          <p:cNvPr id="14" name="body-10"/>
          <p:cNvSpPr txBox="1"/>
          <p:nvPr/>
        </p:nvSpPr>
        <p:spPr>
          <a:xfrm>
            <a:off x="8074152" y="5495544"/>
            <a:ext cx="3529584" cy="320040"/>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Accept only at input end.</a:t>
            </a:r>
          </a:p>
        </p:txBody>
      </p:sp>
      <p:cxnSp>
        <p:nvCxnSpPr>
          <p:cNvPr id="15" name="Connector 14"/>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6"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17" name="source-12">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compiler/parser/analysis.py</a:t>
            </a:r>
          </a:p>
        </p:txBody>
      </p:sp>
      <p:sp>
        <p:nvSpPr>
          <p:cNvPr id="18" name="source-13">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compiler/parser/predictive.py</a:t>
            </a:r>
          </a:p>
        </p:txBody>
      </p:sp>
      <p:sp>
        <p:nvSpPr>
          <p:cNvPr id="19" name="source-14">
            <a:hlinkClick r:id="rId5"/>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docs/diagrams/automaton-parser.puml</a:t>
            </a:r>
          </a:p>
        </p:txBody>
      </p:sp>
      <p:sp>
        <p:nvSpPr>
          <p:cNvPr id="20" name="footer-15"/>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1" name="footer-16"/>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10 / 12</a:t>
            </a:r>
          </a:p>
        </p:txBody>
      </p:sp>
      <p:sp>
        <p:nvSpPr>
          <p:cNvPr id="22" name="Rectangle 21"/>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0" y="6821424"/>
            <a:ext cx="101599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6"/>
        </a:solidFill>
        <a:effectLst/>
      </p:bgPr>
    </p:bg>
    <p:spTree>
      <p:nvGrpSpPr>
        <p:cNvPr id="1" name=""/>
        <p:cNvGrpSpPr/>
        <p:nvPr/>
      </p:nvGrpSpPr>
      <p:grpSpPr/>
      <p:sp>
        <p:nvSpPr>
          <p:cNvPr id="2" name="section-1"/>
          <p:cNvSpPr txBox="1"/>
          <p:nvPr/>
        </p:nvSpPr>
        <p:spPr>
          <a:xfrm>
            <a:off x="530352" y="265176"/>
            <a:ext cx="9418320" cy="210312"/>
          </a:xfrm>
          <a:prstGeom prst="rect">
            <a:avLst/>
          </a:prstGeom>
          <a:noFill/>
        </p:spPr>
        <p:txBody>
          <a:bodyPr wrap="none" lIns="0" rIns="0" tIns="0" bIns="0" anchor="t">
            <a:noAutofit/>
          </a:bodyPr>
          <a:lstStyle/>
          <a:p>
            <a:pPr algn="l">
              <a:lnSpc>
                <a:spcPts val="1218"/>
              </a:lnSpc>
              <a:spcBef>
                <a:spcPts val="0"/>
              </a:spcBef>
              <a:spcAft>
                <a:spcPts val="0"/>
              </a:spcAft>
              <a:defRPr sz="1050" b="1">
                <a:solidFill>
                  <a:srgbClr val="147E80"/>
                </a:solidFill>
                <a:latin typeface="Arial"/>
              </a:defRPr>
            </a:pPr>
            <a:r>
              <a:t>THE ESSENTIALS / CS4110</a:t>
            </a:r>
          </a:p>
        </p:txBody>
      </p:sp>
      <p:sp>
        <p:nvSpPr>
          <p:cNvPr id="3" name="section-2"/>
          <p:cNvSpPr txBox="1"/>
          <p:nvPr/>
        </p:nvSpPr>
        <p:spPr>
          <a:xfrm>
            <a:off x="9628632" y="265176"/>
            <a:ext cx="2039112" cy="210312"/>
          </a:xfrm>
          <a:prstGeom prst="rect">
            <a:avLst/>
          </a:prstGeom>
          <a:noFill/>
        </p:spPr>
        <p:txBody>
          <a:bodyPr wrap="none" lIns="0" rIns="0" tIns="0" bIns="0" anchor="t">
            <a:noAutofit/>
          </a:bodyPr>
          <a:lstStyle/>
          <a:p>
            <a:pPr algn="r">
              <a:lnSpc>
                <a:spcPts val="1218"/>
              </a:lnSpc>
              <a:spcBef>
                <a:spcPts val="0"/>
              </a:spcBef>
              <a:spcAft>
                <a:spcPts val="0"/>
              </a:spcAft>
              <a:defRPr sz="1050" b="1">
                <a:solidFill>
                  <a:srgbClr val="587080"/>
                </a:solidFill>
                <a:latin typeface="Arial"/>
              </a:defRPr>
            </a:pPr>
            <a:r>
              <a:t>CAMFRANGLAIS</a:t>
            </a:r>
          </a:p>
        </p:txBody>
      </p:sp>
      <p:sp>
        <p:nvSpPr>
          <p:cNvPr id="4" name="title-3"/>
          <p:cNvSpPr txBox="1"/>
          <p:nvPr/>
        </p:nvSpPr>
        <p:spPr>
          <a:xfrm>
            <a:off x="530352" y="731520"/>
            <a:ext cx="11137392" cy="576072"/>
          </a:xfrm>
          <a:prstGeom prst="rect">
            <a:avLst/>
          </a:prstGeom>
          <a:noFill/>
        </p:spPr>
        <p:txBody>
          <a:bodyPr wrap="none" lIns="0" rIns="0" tIns="0" bIns="0" anchor="t">
            <a:noAutofit/>
          </a:bodyPr>
          <a:lstStyle/>
          <a:p>
            <a:pPr algn="l">
              <a:lnSpc>
                <a:spcPts val="3827"/>
              </a:lnSpc>
              <a:spcBef>
                <a:spcPts val="0"/>
              </a:spcBef>
              <a:spcAft>
                <a:spcPts val="0"/>
              </a:spcAft>
              <a:defRPr sz="3300" b="1">
                <a:solidFill>
                  <a:srgbClr val="183747"/>
                </a:solidFill>
                <a:latin typeface="Arial"/>
              </a:defRPr>
            </a:pPr>
            <a:r>
              <a:t>What the controlled study shows</a:t>
            </a:r>
          </a:p>
        </p:txBody>
      </p:sp>
      <p:sp>
        <p:nvSpPr>
          <p:cNvPr id="5" name="subtitle-4"/>
          <p:cNvSpPr txBox="1"/>
          <p:nvPr/>
        </p:nvSpPr>
        <p:spPr>
          <a:xfrm>
            <a:off x="557784" y="1408176"/>
            <a:ext cx="11064240" cy="420624"/>
          </a:xfrm>
          <a:prstGeom prst="rect">
            <a:avLst/>
          </a:prstGeom>
          <a:noFill/>
        </p:spPr>
        <p:txBody>
          <a:bodyPr wrap="none" lIns="0" rIns="0" tIns="0" bIns="0" anchor="t">
            <a:noAutofit/>
          </a:bodyPr>
          <a:lstStyle/>
          <a:p>
            <a:pPr algn="l">
              <a:lnSpc>
                <a:spcPts val="1913"/>
              </a:lnSpc>
              <a:spcBef>
                <a:spcPts val="0"/>
              </a:spcBef>
              <a:spcAft>
                <a:spcPts val="0"/>
              </a:spcAft>
              <a:defRPr sz="1650" b="0">
                <a:solidFill>
                  <a:srgbClr val="587080"/>
                </a:solidFill>
                <a:latin typeface="Arial"/>
              </a:defRPr>
            </a:pPr>
            <a:r>
              <a:t>Twelve supplied statements, 81 token occurrences.</a:t>
            </a:r>
          </a:p>
        </p:txBody>
      </p:sp>
      <p:sp>
        <p:nvSpPr>
          <p:cNvPr id="6" name="Rectangle 5"/>
          <p:cNvSpPr/>
          <p:nvPr/>
        </p:nvSpPr>
        <p:spPr>
          <a:xfrm>
            <a:off x="539496" y="1243584"/>
            <a:ext cx="512064" cy="32004"/>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594360" y="1956816"/>
          <a:ext cx="5705856" cy="3794760"/>
        </p:xfrm>
        <a:graphic>
          <a:graphicData uri="http://schemas.openxmlformats.org/drawingml/2006/chart">
            <c:chart xmlns:c="http://schemas.openxmlformats.org/drawingml/2006/chart" r:id="rId2"/>
          </a:graphicData>
        </a:graphic>
      </p:graphicFrame>
      <p:sp>
        <p:nvSpPr>
          <p:cNvPr id="8" name="body-5"/>
          <p:cNvSpPr txBox="1"/>
          <p:nvPr/>
        </p:nvSpPr>
        <p:spPr>
          <a:xfrm>
            <a:off x="2084831" y="3392424"/>
            <a:ext cx="2688336" cy="530352"/>
          </a:xfrm>
          <a:prstGeom prst="rect">
            <a:avLst/>
          </a:prstGeom>
          <a:noFill/>
        </p:spPr>
        <p:txBody>
          <a:bodyPr wrap="none" lIns="0" rIns="0" tIns="0" bIns="0" anchor="t">
            <a:noAutofit/>
          </a:bodyPr>
          <a:lstStyle/>
          <a:p>
            <a:pPr algn="ctr">
              <a:lnSpc>
                <a:spcPts val="4059"/>
              </a:lnSpc>
              <a:spcBef>
                <a:spcPts val="0"/>
              </a:spcBef>
              <a:spcAft>
                <a:spcPts val="0"/>
              </a:spcAft>
              <a:defRPr sz="3500" b="1">
                <a:solidFill>
                  <a:srgbClr val="147E80"/>
                </a:solidFill>
                <a:latin typeface="Arial"/>
              </a:defRPr>
            </a:pPr>
            <a:r>
              <a:t>83.3%</a:t>
            </a:r>
          </a:p>
        </p:txBody>
      </p:sp>
      <p:sp>
        <p:nvSpPr>
          <p:cNvPr id="9" name="Rectangle 8"/>
          <p:cNvSpPr/>
          <p:nvPr/>
        </p:nvSpPr>
        <p:spPr>
          <a:xfrm>
            <a:off x="6739128" y="2167128"/>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6"/>
          <p:cNvSpPr txBox="1"/>
          <p:nvPr/>
        </p:nvSpPr>
        <p:spPr>
          <a:xfrm>
            <a:off x="6922008" y="2148840"/>
            <a:ext cx="4389120"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10 ACCEPTED</a:t>
            </a:r>
          </a:p>
        </p:txBody>
      </p:sp>
      <p:sp>
        <p:nvSpPr>
          <p:cNvPr id="11" name="body-7"/>
          <p:cNvSpPr txBox="1"/>
          <p:nvPr/>
        </p:nvSpPr>
        <p:spPr>
          <a:xfrm>
            <a:off x="6922008" y="2587752"/>
            <a:ext cx="4370832" cy="667512"/>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The category sequences fit the saved</a:t>
            </a:r>
          </a:p>
          <a:p>
            <a:pPr algn="l">
              <a:lnSpc>
                <a:spcPts val="2088"/>
              </a:lnSpc>
              <a:spcBef>
                <a:spcPts val="0"/>
              </a:spcBef>
              <a:spcAft>
                <a:spcPts val="0"/>
              </a:spcAft>
              <a:defRPr sz="1800" b="0">
                <a:solidFill>
                  <a:srgbClr val="587080"/>
                </a:solidFill>
                <a:latin typeface="Arial"/>
              </a:defRPr>
            </a:pPr>
            <a:r>
              <a:t>grammar.</a:t>
            </a:r>
          </a:p>
        </p:txBody>
      </p:sp>
      <p:sp>
        <p:nvSpPr>
          <p:cNvPr id="12" name="Rectangle 11"/>
          <p:cNvSpPr/>
          <p:nvPr/>
        </p:nvSpPr>
        <p:spPr>
          <a:xfrm>
            <a:off x="6739128" y="3337560"/>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8"/>
          <p:cNvSpPr txBox="1"/>
          <p:nvPr/>
        </p:nvSpPr>
        <p:spPr>
          <a:xfrm>
            <a:off x="6922008" y="3319272"/>
            <a:ext cx="4389120"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2 REJECTED</a:t>
            </a:r>
          </a:p>
        </p:txBody>
      </p:sp>
      <p:sp>
        <p:nvSpPr>
          <p:cNvPr id="14" name="body-9"/>
          <p:cNvSpPr txBox="1"/>
          <p:nvPr/>
        </p:nvSpPr>
        <p:spPr>
          <a:xfrm>
            <a:off x="6922008" y="3758183"/>
            <a:ext cx="4370832" cy="667512"/>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n'ais and alli remain unresolved.</a:t>
            </a:r>
          </a:p>
        </p:txBody>
      </p:sp>
      <p:sp>
        <p:nvSpPr>
          <p:cNvPr id="15" name="Rectangle 14"/>
          <p:cNvSpPr/>
          <p:nvPr/>
        </p:nvSpPr>
        <p:spPr>
          <a:xfrm>
            <a:off x="6739128" y="4507992"/>
            <a:ext cx="41148" cy="4937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body-10"/>
          <p:cNvSpPr txBox="1"/>
          <p:nvPr/>
        </p:nvSpPr>
        <p:spPr>
          <a:xfrm>
            <a:off x="6922008" y="4489704"/>
            <a:ext cx="4389120" cy="384048"/>
          </a:xfrm>
          <a:prstGeom prst="rect">
            <a:avLst/>
          </a:prstGeom>
          <a:noFill/>
        </p:spPr>
        <p:txBody>
          <a:bodyPr wrap="none" lIns="0" rIns="0" tIns="0" bIns="0" anchor="t">
            <a:noAutofit/>
          </a:bodyPr>
          <a:lstStyle/>
          <a:p>
            <a:pPr algn="l">
              <a:lnSpc>
                <a:spcPts val="2145"/>
              </a:lnSpc>
              <a:spcBef>
                <a:spcPts val="0"/>
              </a:spcBef>
              <a:spcAft>
                <a:spcPts val="0"/>
              </a:spcAft>
              <a:defRPr sz="1850" b="1">
                <a:solidFill>
                  <a:srgbClr val="183747"/>
                </a:solidFill>
                <a:latin typeface="Arial"/>
              </a:defRPr>
            </a:pPr>
            <a:r>
              <a:t>LIMITATION</a:t>
            </a:r>
          </a:p>
        </p:txBody>
      </p:sp>
      <p:sp>
        <p:nvSpPr>
          <p:cNvPr id="17" name="body-11"/>
          <p:cNvSpPr txBox="1"/>
          <p:nvPr/>
        </p:nvSpPr>
        <p:spPr>
          <a:xfrm>
            <a:off x="6922008" y="4928616"/>
            <a:ext cx="4370832" cy="667512"/>
          </a:xfrm>
          <a:prstGeom prst="rect">
            <a:avLst/>
          </a:prstGeom>
          <a:noFill/>
        </p:spPr>
        <p:txBody>
          <a:bodyPr wrap="none" lIns="0" rIns="0" tIns="0" bIns="0" anchor="t">
            <a:noAutofit/>
          </a:bodyPr>
          <a:lstStyle/>
          <a:p>
            <a:pPr algn="l">
              <a:lnSpc>
                <a:spcPts val="2088"/>
              </a:lnSpc>
              <a:spcBef>
                <a:spcPts val="0"/>
              </a:spcBef>
              <a:spcAft>
                <a:spcPts val="0"/>
              </a:spcAft>
              <a:defRPr sz="1800" b="0">
                <a:solidFill>
                  <a:srgbClr val="587080"/>
                </a:solidFill>
                <a:latin typeface="Arial"/>
              </a:defRPr>
            </a:pPr>
            <a:r>
              <a:t>Grammar match is not linguistic accuracy</a:t>
            </a:r>
          </a:p>
          <a:p>
            <a:pPr algn="l">
              <a:lnSpc>
                <a:spcPts val="2088"/>
              </a:lnSpc>
              <a:spcBef>
                <a:spcPts val="0"/>
              </a:spcBef>
              <a:spcAft>
                <a:spcPts val="0"/>
              </a:spcAft>
              <a:defRPr sz="1800" b="0">
                <a:solidFill>
                  <a:srgbClr val="587080"/>
                </a:solidFill>
                <a:latin typeface="Arial"/>
              </a:defRPr>
            </a:pPr>
            <a:r>
              <a:t>or proven fieldwork.</a:t>
            </a:r>
          </a:p>
        </p:txBody>
      </p:sp>
      <p:cxnSp>
        <p:nvCxnSpPr>
          <p:cNvPr id="18" name="Connector 17"/>
          <p:cNvCxnSpPr/>
          <p:nvPr/>
        </p:nvCxnSpPr>
        <p:spPr>
          <a:xfrm>
            <a:off x="530352" y="6062472"/>
            <a:ext cx="11128248" cy="0"/>
          </a:xfrm>
          <a:prstGeom prst="line">
            <a:avLst/>
          </a:prstGeom>
          <a:ln w="8890">
            <a:solidFill>
              <a:srgbClr val="D8E4E2"/>
            </a:solidFill>
          </a:ln>
          <a:effectLst/>
        </p:spPr>
        <p:style>
          <a:lnRef idx="2">
            <a:schemeClr val="accent1"/>
          </a:lnRef>
          <a:fillRef idx="0">
            <a:schemeClr val="accent1"/>
          </a:fillRef>
          <a:effectRef idx="0">
            <a:schemeClr val="accent1"/>
          </a:effectRef>
          <a:fontRef idx="minor">
            <a:schemeClr val="tx1"/>
          </a:fontRef>
        </p:style>
      </p:cxnSp>
      <p:sp>
        <p:nvSpPr>
          <p:cNvPr id="19" name="footer-12"/>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147E80"/>
                </a:solidFill>
                <a:latin typeface="Arial"/>
              </a:defRPr>
            </a:pPr>
            <a:r>
              <a:t>IMPLEMENTATION / EVIDENCE</a:t>
            </a:r>
          </a:p>
        </p:txBody>
      </p:sp>
      <p:sp>
        <p:nvSpPr>
          <p:cNvPr id="20" name="source-13">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docs/evidence/final-analysis-20260927.json</a:t>
            </a:r>
          </a:p>
        </p:txBody>
      </p:sp>
      <p:sp>
        <p:nvSpPr>
          <p:cNvPr id="21" name="source-14">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compiler/tests/yaounde_cases.py</a:t>
            </a:r>
          </a:p>
        </p:txBody>
      </p:sp>
      <p:sp>
        <p:nvSpPr>
          <p:cNvPr id="22" name="source-15">
            <a:hlinkClick r:id="rId5"/>
          </p:cNvPr>
          <p:cNvSpPr txBox="1"/>
          <p:nvPr/>
        </p:nvSpPr>
        <p:spPr>
          <a:xfrm>
            <a:off x="539496" y="6510528"/>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587080"/>
                </a:solidFill>
                <a:latin typeface="Consolas"/>
              </a:defRPr>
            </a:pPr>
            <a:r>
              <a:t>compiler/parser/yaounde.py</a:t>
            </a:r>
          </a:p>
        </p:txBody>
      </p:sp>
      <p:sp>
        <p:nvSpPr>
          <p:cNvPr id="23" name="footer-16"/>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587080"/>
                </a:solidFill>
                <a:latin typeface="Arial"/>
              </a:defRPr>
            </a:pPr>
            <a:r>
              <a:t>CS4110  /  SET A  /  27 SEP 2026</a:t>
            </a:r>
          </a:p>
        </p:txBody>
      </p:sp>
      <p:sp>
        <p:nvSpPr>
          <p:cNvPr id="24" name="footer-17"/>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587080"/>
                </a:solidFill>
                <a:latin typeface="Arial"/>
              </a:defRPr>
            </a:pPr>
            <a:r>
              <a:t>11 / 12</a:t>
            </a:r>
          </a:p>
        </p:txBody>
      </p:sp>
      <p:sp>
        <p:nvSpPr>
          <p:cNvPr id="25" name="Rectangle 24"/>
          <p:cNvSpPr/>
          <p:nvPr/>
        </p:nvSpPr>
        <p:spPr>
          <a:xfrm>
            <a:off x="0" y="6821424"/>
            <a:ext cx="12191999" cy="36576"/>
          </a:xfrm>
          <a:prstGeom prst="rect">
            <a:avLst/>
          </a:prstGeom>
          <a:solidFill>
            <a:srgbClr val="D8E4E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0" y="6821424"/>
            <a:ext cx="11175999" cy="36576"/>
          </a:xfrm>
          <a:prstGeom prst="rect">
            <a:avLst/>
          </a:prstGeom>
          <a:solidFill>
            <a:srgbClr val="147E8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3041"/>
        </a:solidFill>
        <a:effectLst/>
      </p:bgPr>
    </p:bg>
    <p:spTree>
      <p:nvGrpSpPr>
        <p:cNvPr id="1" name=""/>
        <p:cNvGrpSpPr/>
        <p:nvPr/>
      </p:nvGrpSpPr>
      <p:grpSpPr/>
      <p:sp>
        <p:nvSpPr>
          <p:cNvPr id="2" name="Rectangle 1"/>
          <p:cNvSpPr/>
          <p:nvPr/>
        </p:nvSpPr>
        <p:spPr>
          <a:xfrm>
            <a:off x="539496" y="576072"/>
            <a:ext cx="941832" cy="50292"/>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section-1"/>
          <p:cNvSpPr txBox="1"/>
          <p:nvPr/>
        </p:nvSpPr>
        <p:spPr>
          <a:xfrm>
            <a:off x="539496" y="905256"/>
            <a:ext cx="9418320" cy="265176"/>
          </a:xfrm>
          <a:prstGeom prst="rect">
            <a:avLst/>
          </a:prstGeom>
          <a:noFill/>
        </p:spPr>
        <p:txBody>
          <a:bodyPr wrap="none" lIns="0" rIns="0" tIns="0" bIns="0" anchor="t">
            <a:noAutofit/>
          </a:bodyPr>
          <a:lstStyle/>
          <a:p>
            <a:pPr algn="l">
              <a:lnSpc>
                <a:spcPts val="1391"/>
              </a:lnSpc>
              <a:spcBef>
                <a:spcPts val="0"/>
              </a:spcBef>
              <a:spcAft>
                <a:spcPts val="0"/>
              </a:spcAft>
              <a:defRPr sz="1200" b="1">
                <a:solidFill>
                  <a:srgbClr val="85BABB"/>
                </a:solidFill>
                <a:latin typeface="Arial"/>
              </a:defRPr>
            </a:pPr>
            <a:r>
              <a:t>CAMFRANGLAIS / COMPILER WORKSPACE</a:t>
            </a:r>
          </a:p>
        </p:txBody>
      </p:sp>
      <p:sp>
        <p:nvSpPr>
          <p:cNvPr id="4" name="title-2"/>
          <p:cNvSpPr txBox="1"/>
          <p:nvPr/>
        </p:nvSpPr>
        <p:spPr>
          <a:xfrm>
            <a:off x="548640" y="1700784"/>
            <a:ext cx="10515600" cy="1207008"/>
          </a:xfrm>
          <a:prstGeom prst="rect">
            <a:avLst/>
          </a:prstGeom>
          <a:noFill/>
        </p:spPr>
        <p:txBody>
          <a:bodyPr wrap="none" lIns="0" rIns="0" tIns="0" bIns="0" anchor="t">
            <a:noAutofit/>
          </a:bodyPr>
          <a:lstStyle/>
          <a:p>
            <a:pPr algn="l">
              <a:lnSpc>
                <a:spcPts val="5567"/>
              </a:lnSpc>
              <a:spcBef>
                <a:spcPts val="0"/>
              </a:spcBef>
              <a:spcAft>
                <a:spcPts val="0"/>
              </a:spcAft>
              <a:defRPr sz="4800" b="0">
                <a:solidFill>
                  <a:srgbClr val="FFFFFF"/>
                </a:solidFill>
                <a:latin typeface="Georgia"/>
              </a:defRPr>
            </a:pPr>
            <a:r>
              <a:t>Transparent rules. Visible evidence.</a:t>
            </a:r>
          </a:p>
        </p:txBody>
      </p:sp>
      <p:sp>
        <p:nvSpPr>
          <p:cNvPr id="5" name="subtitle-3"/>
          <p:cNvSpPr txBox="1"/>
          <p:nvPr/>
        </p:nvSpPr>
        <p:spPr>
          <a:xfrm>
            <a:off x="594360" y="3017520"/>
            <a:ext cx="10515600" cy="658368"/>
          </a:xfrm>
          <a:prstGeom prst="rect">
            <a:avLst/>
          </a:prstGeom>
          <a:noFill/>
        </p:spPr>
        <p:txBody>
          <a:bodyPr wrap="none" lIns="0" rIns="0" tIns="0" bIns="0" anchor="t">
            <a:noAutofit/>
          </a:bodyPr>
          <a:lstStyle/>
          <a:p>
            <a:pPr algn="l">
              <a:lnSpc>
                <a:spcPts val="3596"/>
              </a:lnSpc>
              <a:spcBef>
                <a:spcPts val="0"/>
              </a:spcBef>
              <a:spcAft>
                <a:spcPts val="0"/>
              </a:spcAft>
              <a:defRPr sz="3100" b="0">
                <a:solidFill>
                  <a:srgbClr val="BBD2D3"/>
                </a:solidFill>
                <a:latin typeface="Arial"/>
              </a:defRPr>
            </a:pPr>
            <a:r>
              <a:t>Thank you. Questions?</a:t>
            </a:r>
          </a:p>
        </p:txBody>
      </p:sp>
      <p:sp>
        <p:nvSpPr>
          <p:cNvPr id="6" name="body-4"/>
          <p:cNvSpPr txBox="1"/>
          <p:nvPr/>
        </p:nvSpPr>
        <p:spPr>
          <a:xfrm>
            <a:off x="603504" y="4178808"/>
            <a:ext cx="3200400" cy="292608"/>
          </a:xfrm>
          <a:prstGeom prst="rect">
            <a:avLst/>
          </a:prstGeom>
          <a:noFill/>
        </p:spPr>
        <p:txBody>
          <a:bodyPr wrap="none" lIns="0" rIns="0" tIns="0" bIns="0" anchor="t">
            <a:noAutofit/>
          </a:bodyPr>
          <a:lstStyle/>
          <a:p>
            <a:pPr algn="l">
              <a:lnSpc>
                <a:spcPts val="1507"/>
              </a:lnSpc>
              <a:spcBef>
                <a:spcPts val="0"/>
              </a:spcBef>
              <a:spcAft>
                <a:spcPts val="0"/>
              </a:spcAft>
              <a:defRPr sz="1300" b="1">
                <a:solidFill>
                  <a:srgbClr val="CBA261"/>
                </a:solidFill>
                <a:latin typeface="Arial"/>
              </a:defRPr>
            </a:pPr>
            <a:r>
              <a:t>PRESERVE</a:t>
            </a:r>
          </a:p>
        </p:txBody>
      </p:sp>
      <p:sp>
        <p:nvSpPr>
          <p:cNvPr id="7" name="body-5"/>
          <p:cNvSpPr txBox="1"/>
          <p:nvPr/>
        </p:nvSpPr>
        <p:spPr>
          <a:xfrm>
            <a:off x="603504" y="4590288"/>
            <a:ext cx="3291840" cy="411480"/>
          </a:xfrm>
          <a:prstGeom prst="rect">
            <a:avLst/>
          </a:prstGeom>
          <a:noFill/>
        </p:spPr>
        <p:txBody>
          <a:bodyPr wrap="none" lIns="0" rIns="0" tIns="0" bIns="0" anchor="t">
            <a:noAutofit/>
          </a:bodyPr>
          <a:lstStyle/>
          <a:p>
            <a:pPr algn="l">
              <a:lnSpc>
                <a:spcPts val="2783"/>
              </a:lnSpc>
              <a:spcBef>
                <a:spcPts val="0"/>
              </a:spcBef>
              <a:spcAft>
                <a:spcPts val="0"/>
              </a:spcAft>
              <a:defRPr sz="2400" b="0">
                <a:solidFill>
                  <a:srgbClr val="FFFFFF"/>
                </a:solidFill>
                <a:latin typeface="Arial"/>
              </a:defRPr>
            </a:pPr>
            <a:r>
              <a:t>The original text</a:t>
            </a:r>
          </a:p>
        </p:txBody>
      </p:sp>
      <p:sp>
        <p:nvSpPr>
          <p:cNvPr id="8" name="body-6"/>
          <p:cNvSpPr txBox="1"/>
          <p:nvPr/>
        </p:nvSpPr>
        <p:spPr>
          <a:xfrm>
            <a:off x="4352544" y="4178808"/>
            <a:ext cx="3200400" cy="292608"/>
          </a:xfrm>
          <a:prstGeom prst="rect">
            <a:avLst/>
          </a:prstGeom>
          <a:noFill/>
        </p:spPr>
        <p:txBody>
          <a:bodyPr wrap="none" lIns="0" rIns="0" tIns="0" bIns="0" anchor="t">
            <a:noAutofit/>
          </a:bodyPr>
          <a:lstStyle/>
          <a:p>
            <a:pPr algn="l">
              <a:lnSpc>
                <a:spcPts val="1507"/>
              </a:lnSpc>
              <a:spcBef>
                <a:spcPts val="0"/>
              </a:spcBef>
              <a:spcAft>
                <a:spcPts val="0"/>
              </a:spcAft>
              <a:defRPr sz="1300" b="1">
                <a:solidFill>
                  <a:srgbClr val="CBA261"/>
                </a:solidFill>
                <a:latin typeface="Arial"/>
              </a:defRPr>
            </a:pPr>
            <a:r>
              <a:t>EXPLAIN</a:t>
            </a:r>
          </a:p>
        </p:txBody>
      </p:sp>
      <p:sp>
        <p:nvSpPr>
          <p:cNvPr id="9" name="body-7"/>
          <p:cNvSpPr txBox="1"/>
          <p:nvPr/>
        </p:nvSpPr>
        <p:spPr>
          <a:xfrm>
            <a:off x="4352544" y="4590288"/>
            <a:ext cx="3291840" cy="411480"/>
          </a:xfrm>
          <a:prstGeom prst="rect">
            <a:avLst/>
          </a:prstGeom>
          <a:noFill/>
        </p:spPr>
        <p:txBody>
          <a:bodyPr wrap="none" lIns="0" rIns="0" tIns="0" bIns="0" anchor="t">
            <a:noAutofit/>
          </a:bodyPr>
          <a:lstStyle/>
          <a:p>
            <a:pPr algn="l">
              <a:lnSpc>
                <a:spcPts val="2783"/>
              </a:lnSpc>
              <a:spcBef>
                <a:spcPts val="0"/>
              </a:spcBef>
              <a:spcAft>
                <a:spcPts val="0"/>
              </a:spcAft>
              <a:defRPr sz="2400" b="0">
                <a:solidFill>
                  <a:srgbClr val="FFFFFF"/>
                </a:solidFill>
                <a:latin typeface="Arial"/>
              </a:defRPr>
            </a:pPr>
            <a:r>
              <a:t>The compiler decision</a:t>
            </a:r>
          </a:p>
        </p:txBody>
      </p:sp>
      <p:sp>
        <p:nvSpPr>
          <p:cNvPr id="10" name="body-8"/>
          <p:cNvSpPr txBox="1"/>
          <p:nvPr/>
        </p:nvSpPr>
        <p:spPr>
          <a:xfrm>
            <a:off x="8101583" y="4178808"/>
            <a:ext cx="3200400" cy="292608"/>
          </a:xfrm>
          <a:prstGeom prst="rect">
            <a:avLst/>
          </a:prstGeom>
          <a:noFill/>
        </p:spPr>
        <p:txBody>
          <a:bodyPr wrap="none" lIns="0" rIns="0" tIns="0" bIns="0" anchor="t">
            <a:noAutofit/>
          </a:bodyPr>
          <a:lstStyle/>
          <a:p>
            <a:pPr algn="l">
              <a:lnSpc>
                <a:spcPts val="1507"/>
              </a:lnSpc>
              <a:spcBef>
                <a:spcPts val="0"/>
              </a:spcBef>
              <a:spcAft>
                <a:spcPts val="0"/>
              </a:spcAft>
              <a:defRPr sz="1300" b="1">
                <a:solidFill>
                  <a:srgbClr val="CBA261"/>
                </a:solidFill>
                <a:latin typeface="Arial"/>
              </a:defRPr>
            </a:pPr>
            <a:r>
              <a:t>RETAIN</a:t>
            </a:r>
          </a:p>
        </p:txBody>
      </p:sp>
      <p:sp>
        <p:nvSpPr>
          <p:cNvPr id="11" name="body-9"/>
          <p:cNvSpPr txBox="1"/>
          <p:nvPr/>
        </p:nvSpPr>
        <p:spPr>
          <a:xfrm>
            <a:off x="8101583" y="4590288"/>
            <a:ext cx="3291840" cy="411480"/>
          </a:xfrm>
          <a:prstGeom prst="rect">
            <a:avLst/>
          </a:prstGeom>
          <a:noFill/>
        </p:spPr>
        <p:txBody>
          <a:bodyPr wrap="none" lIns="0" rIns="0" tIns="0" bIns="0" anchor="t">
            <a:noAutofit/>
          </a:bodyPr>
          <a:lstStyle/>
          <a:p>
            <a:pPr algn="l">
              <a:lnSpc>
                <a:spcPts val="2783"/>
              </a:lnSpc>
              <a:spcBef>
                <a:spcPts val="0"/>
              </a:spcBef>
              <a:spcAft>
                <a:spcPts val="0"/>
              </a:spcAft>
              <a:defRPr sz="2400" b="0">
                <a:solidFill>
                  <a:srgbClr val="FFFFFF"/>
                </a:solidFill>
                <a:latin typeface="Arial"/>
              </a:defRPr>
            </a:pPr>
            <a:r>
              <a:t>The original result</a:t>
            </a:r>
          </a:p>
        </p:txBody>
      </p:sp>
      <p:sp>
        <p:nvSpPr>
          <p:cNvPr id="12" name="body-10">
            <a:hlinkClick r:id="rId2"/>
          </p:cNvPr>
          <p:cNvSpPr txBox="1"/>
          <p:nvPr/>
        </p:nvSpPr>
        <p:spPr>
          <a:xfrm>
            <a:off x="603504" y="5431536"/>
            <a:ext cx="9144000" cy="347472"/>
          </a:xfrm>
          <a:prstGeom prst="rect">
            <a:avLst/>
          </a:prstGeom>
          <a:noFill/>
        </p:spPr>
        <p:txBody>
          <a:bodyPr wrap="none" lIns="0" rIns="0" tIns="0" bIns="0" anchor="t">
            <a:noAutofit/>
          </a:bodyPr>
          <a:lstStyle/>
          <a:p>
            <a:pPr algn="l">
              <a:lnSpc>
                <a:spcPts val="2204"/>
              </a:lnSpc>
              <a:spcBef>
                <a:spcPts val="0"/>
              </a:spcBef>
              <a:spcAft>
                <a:spcPts val="0"/>
              </a:spcAft>
              <a:defRPr sz="1900" b="1">
                <a:solidFill>
                  <a:srgbClr val="7DD2C7"/>
                </a:solidFill>
                <a:latin typeface="Arial"/>
              </a:defRPr>
            </a:pPr>
            <a:r>
              <a:t>camfranglais.duckdns.org</a:t>
            </a:r>
          </a:p>
        </p:txBody>
      </p:sp>
      <p:cxnSp>
        <p:nvCxnSpPr>
          <p:cNvPr id="13" name="Connector 12"/>
          <p:cNvCxnSpPr/>
          <p:nvPr/>
        </p:nvCxnSpPr>
        <p:spPr>
          <a:xfrm>
            <a:off x="530352" y="6062472"/>
            <a:ext cx="11128248" cy="0"/>
          </a:xfrm>
          <a:prstGeom prst="line">
            <a:avLst/>
          </a:prstGeom>
          <a:ln w="8890">
            <a:solidFill>
              <a:srgbClr val="355565"/>
            </a:solidFill>
          </a:ln>
          <a:effectLst/>
        </p:spPr>
        <p:style>
          <a:lnRef idx="2">
            <a:schemeClr val="accent1"/>
          </a:lnRef>
          <a:fillRef idx="0">
            <a:schemeClr val="accent1"/>
          </a:fillRef>
          <a:effectRef idx="0">
            <a:schemeClr val="accent1"/>
          </a:effectRef>
          <a:fontRef idx="minor">
            <a:schemeClr val="tx1"/>
          </a:fontRef>
        </p:style>
      </p:cxnSp>
      <p:sp>
        <p:nvSpPr>
          <p:cNvPr id="14" name="footer-11"/>
          <p:cNvSpPr txBox="1"/>
          <p:nvPr/>
        </p:nvSpPr>
        <p:spPr>
          <a:xfrm>
            <a:off x="539496" y="6117336"/>
            <a:ext cx="4389120" cy="164592"/>
          </a:xfrm>
          <a:prstGeom prst="rect">
            <a:avLst/>
          </a:prstGeom>
          <a:noFill/>
        </p:spPr>
        <p:txBody>
          <a:bodyPr wrap="none" lIns="0" rIns="0" tIns="0" bIns="0" anchor="t">
            <a:noAutofit/>
          </a:bodyPr>
          <a:lstStyle/>
          <a:p>
            <a:pPr algn="l">
              <a:lnSpc>
                <a:spcPts val="1102"/>
              </a:lnSpc>
              <a:spcBef>
                <a:spcPts val="0"/>
              </a:spcBef>
              <a:spcAft>
                <a:spcPts val="0"/>
              </a:spcAft>
              <a:defRPr sz="950" b="1">
                <a:solidFill>
                  <a:srgbClr val="CBA261"/>
                </a:solidFill>
                <a:latin typeface="Arial"/>
              </a:defRPr>
            </a:pPr>
            <a:r>
              <a:t>IMPLEMENTATION / EVIDENCE</a:t>
            </a:r>
          </a:p>
        </p:txBody>
      </p:sp>
      <p:sp>
        <p:nvSpPr>
          <p:cNvPr id="15" name="source-12">
            <a:hlinkClick r:id="rId3"/>
          </p:cNvPr>
          <p:cNvSpPr txBox="1"/>
          <p:nvPr/>
        </p:nvSpPr>
        <p:spPr>
          <a:xfrm>
            <a:off x="53949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B2CBCB"/>
                </a:solidFill>
                <a:latin typeface="Consolas"/>
              </a:defRPr>
            </a:pPr>
            <a:r>
              <a:t>README.md</a:t>
            </a:r>
          </a:p>
        </p:txBody>
      </p:sp>
      <p:sp>
        <p:nvSpPr>
          <p:cNvPr id="16" name="source-13">
            <a:hlinkClick r:id="rId4"/>
          </p:cNvPr>
          <p:cNvSpPr txBox="1"/>
          <p:nvPr/>
        </p:nvSpPr>
        <p:spPr>
          <a:xfrm>
            <a:off x="6117336" y="6336792"/>
            <a:ext cx="5486400" cy="173736"/>
          </a:xfrm>
          <a:prstGeom prst="rect">
            <a:avLst/>
          </a:prstGeom>
          <a:noFill/>
        </p:spPr>
        <p:txBody>
          <a:bodyPr wrap="none" lIns="0" rIns="0" tIns="0" bIns="0" anchor="t">
            <a:noAutofit/>
          </a:bodyPr>
          <a:lstStyle/>
          <a:p>
            <a:pPr algn="l">
              <a:lnSpc>
                <a:spcPts val="1218"/>
              </a:lnSpc>
              <a:spcBef>
                <a:spcPts val="0"/>
              </a:spcBef>
              <a:spcAft>
                <a:spcPts val="0"/>
              </a:spcAft>
              <a:defRPr sz="1050" b="0">
                <a:solidFill>
                  <a:srgbClr val="B2CBCB"/>
                </a:solidFill>
                <a:latin typeface="Consolas"/>
              </a:defRPr>
            </a:pPr>
            <a:r>
              <a:t>docs/README.md</a:t>
            </a:r>
          </a:p>
        </p:txBody>
      </p:sp>
      <p:sp>
        <p:nvSpPr>
          <p:cNvPr id="17" name="footer-14"/>
          <p:cNvSpPr txBox="1"/>
          <p:nvPr/>
        </p:nvSpPr>
        <p:spPr>
          <a:xfrm>
            <a:off x="539496" y="6675120"/>
            <a:ext cx="7315200" cy="155448"/>
          </a:xfrm>
          <a:prstGeom prst="rect">
            <a:avLst/>
          </a:prstGeom>
          <a:noFill/>
        </p:spPr>
        <p:txBody>
          <a:bodyPr wrap="none" lIns="0" rIns="0" tIns="0" bIns="0" anchor="t">
            <a:noAutofit/>
          </a:bodyPr>
          <a:lstStyle/>
          <a:p>
            <a:pPr algn="l">
              <a:lnSpc>
                <a:spcPts val="1044"/>
              </a:lnSpc>
              <a:spcBef>
                <a:spcPts val="0"/>
              </a:spcBef>
              <a:spcAft>
                <a:spcPts val="0"/>
              </a:spcAft>
              <a:defRPr sz="900" b="0">
                <a:solidFill>
                  <a:srgbClr val="B2CBCB"/>
                </a:solidFill>
                <a:latin typeface="Arial"/>
              </a:defRPr>
            </a:pPr>
            <a:r>
              <a:t>CS4110  /  SET A  /  27 SEP 2026</a:t>
            </a:r>
          </a:p>
        </p:txBody>
      </p:sp>
      <p:sp>
        <p:nvSpPr>
          <p:cNvPr id="18" name="footer-15"/>
          <p:cNvSpPr txBox="1"/>
          <p:nvPr/>
        </p:nvSpPr>
        <p:spPr>
          <a:xfrm>
            <a:off x="10378440" y="6647688"/>
            <a:ext cx="1280160" cy="192024"/>
          </a:xfrm>
          <a:prstGeom prst="rect">
            <a:avLst/>
          </a:prstGeom>
          <a:noFill/>
        </p:spPr>
        <p:txBody>
          <a:bodyPr wrap="none" lIns="0" rIns="0" tIns="0" bIns="0" anchor="t">
            <a:noAutofit/>
          </a:bodyPr>
          <a:lstStyle/>
          <a:p>
            <a:pPr algn="r">
              <a:lnSpc>
                <a:spcPts val="1276"/>
              </a:lnSpc>
              <a:spcBef>
                <a:spcPts val="0"/>
              </a:spcBef>
              <a:spcAft>
                <a:spcPts val="0"/>
              </a:spcAft>
              <a:defRPr sz="1100" b="1">
                <a:solidFill>
                  <a:srgbClr val="B2CBCB"/>
                </a:solidFill>
                <a:latin typeface="Arial"/>
              </a:defRPr>
            </a:pPr>
            <a:r>
              <a:t>12 / 12</a:t>
            </a:r>
          </a:p>
        </p:txBody>
      </p:sp>
      <p:sp>
        <p:nvSpPr>
          <p:cNvPr id="19" name="Rectangle 18"/>
          <p:cNvSpPr/>
          <p:nvPr/>
        </p:nvSpPr>
        <p:spPr>
          <a:xfrm>
            <a:off x="0" y="6821424"/>
            <a:ext cx="12191999" cy="36576"/>
          </a:xfrm>
          <a:prstGeom prst="rect">
            <a:avLst/>
          </a:prstGeom>
          <a:solidFill>
            <a:srgbClr val="28485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0" y="6821424"/>
            <a:ext cx="12191999" cy="36576"/>
          </a:xfrm>
          <a:prstGeom prst="rect">
            <a:avLst/>
          </a:prstGeom>
          <a:solidFill>
            <a:srgbClr val="CBA26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Camfranglais | Application and Source Guide | 12 Slides</dc:title>
  <dc:subject>CS4110 SET A: public app, responsible source files, lexer and LL(1) parser</dc:subject>
  <dc:creator>Kwete Ngouba Junior Rayan; Djemtchimo Noukui Bruno Jonatan; Amina Boubakary</dc:creator>
  <cp:keywords>Camfranglais, compiler, CS4110, LL(1), DFA, source guide, 12 slides</cp:keywords>
  <dc:description>Editable slides with actual app screenshots, source references and speaker notes.</dc:description>
  <cp:lastModifiedBy>Steve Canny</cp:lastModifiedBy>
  <cp:revision>1</cp:revision>
  <dcterms:created xsi:type="dcterms:W3CDTF">2013-01-27T09:14:16Z</dcterms:created>
  <dcterms:modified xsi:type="dcterms:W3CDTF">2013-01-27T09:15:58Z</dcterms:modified>
  <cp:category/>
</cp:coreProperties>
</file>