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Original statements</c:v>
                </c:pt>
              </c:strCache>
            </c:strRef>
          </c:tx>
          <c:dPt>
            <c:idx val="0"/>
            <c:spPr>
              <a:solidFill>
                <a:srgbClr val="147E80"/>
              </a:solidFill>
              <a:ln>
                <a:noFill/>
              </a:ln>
            </c:spPr>
          </c:dPt>
          <c:dPt>
            <c:idx val="1"/>
            <c:spPr>
              <a:solidFill>
                <a:srgbClr val="A8583C"/>
              </a:solidFill>
              <a:ln>
                <a:noFill/>
              </a:ln>
            </c:spPr>
          </c:dPt>
          <c:cat>
            <c:strRef>
              <c:f>Sheet1!$A$2:$A$3</c:f>
              <c:strCache>
                <c:ptCount val="2"/>
                <c:pt idx="0">
                  <c:v>Accepted</c:v>
                </c:pt>
                <c:pt idx="1">
                  <c:v>Rejected</c:v>
                </c:pt>
              </c:strCache>
            </c:strRef>
          </c:cat>
          <c:val>
            <c:numRef>
              <c:f>Sheet1!$B$2:$B$3</c:f>
              <c:numCache>
                <c:formatCode>General</c:formatCode>
                <c:ptCount val="2"/>
                <c:pt idx="0">
                  <c:v>10</c:v>
                </c:pt>
                <c:pt idx="1">
                  <c:v>2</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001 / 100 - Camfranglais</a:t>
            </a:r>
          </a:p>
          <a:p/>
          <a:p>
            <a:r>
              <a:t>Introduce Camfranglais as the group's deterministic lexical and syntactic analyzer. This is a 100-slide reference presentation, not a claim that all 100 slides fit into the ten-minute oral assessment. Slide 99 provides a suggested short route. Screenshots show the real deployed application; no tests were created to capture them.</a:t>
            </a:r>
          </a:p>
          <a:p/>
          <a:p>
            <a:r>
              <a:t>RESPONSIBLE FILES / EVIDENCE</a:t>
            </a:r>
          </a:p>
          <a:p>
            <a:r>
              <a:t>README.md</a:t>
            </a:r>
          </a:p>
          <a:p>
            <a:r>
              <a:t>docs/final-report.tex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002 / 100 - The group behind the project</a:t>
            </a:r>
          </a:p>
          <a:p/>
          <a:p>
            <a:r>
              <a:t>These are the known names and matricules already used in the documentation. No individual contribution assignments are invented. Instructor: Engr. Tanwi Nkiamboh. The group should review who presents each part before the assessment.</a:t>
            </a:r>
          </a:p>
          <a:p/>
          <a:p>
            <a:r>
              <a:t>RESPONSIBLE FILES / EVIDENCE</a:t>
            </a:r>
          </a:p>
          <a:p>
            <a:r>
              <a:t>docs/document-style.tex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003 / 100 - Three questions this deck answers</a:t>
            </a:r>
          </a:p>
          <a:p/>
          <a:p>
            <a:r>
              <a:t>Use the small source rail on each slide to find the responsible files. Detailed paths and contextual explanations are also retained in the speaker notes. The presentation moves from the user interface to the algorithms and then to persistence, deployment and evidence.</a:t>
            </a:r>
          </a:p>
          <a:p/>
          <a:p>
            <a:r>
              <a:t>RESPONSIBLE FILES / EVIDENCE</a:t>
            </a:r>
          </a:p>
          <a:p>
            <a:r>
              <a:t>README.md</a:t>
            </a:r>
          </a:p>
          <a:p>
            <a:r>
              <a:t>docs/sdd.tex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004 / 100 - Mixed language. Traceable rules.</a:t>
            </a:r>
          </a:p>
          <a:p/>
          <a:p>
            <a:r>
              <a:t>The illustration is original explanatory artwork, not a photograph or evidence of field collection. The application recognizes categories and language clues through rules and reference vocabulary. It is not an AI translator and does not infer a speaker's intent.</a:t>
            </a:r>
          </a:p>
          <a:p/>
          <a:p>
            <a:r>
              <a:t>RESPONSIBLE FILES / EVIDENCE</a:t>
            </a:r>
          </a:p>
          <a:p>
            <a:r>
              <a:t>compiler/lexer/tokenizer.py</a:t>
            </a:r>
          </a:p>
          <a:p>
            <a:r>
              <a:t>compiler/lexer/languages.py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005 / 100 - Five pages, one connected workflow</a:t>
            </a:r>
          </a:p>
          <a:p/>
          <a:p>
            <a:r>
              <a:t>App.tsx owns the public page list and hash navigation. The five public routes are compiler, analysis, collection, dictionary and examples. There are no public account, translator, imports or coursework-generation screens.</a:t>
            </a:r>
          </a:p>
          <a:p/>
          <a:p>
            <a:r>
              <a:t>RESPONSIBLE FILES / EVIDENCE</a:t>
            </a:r>
          </a:p>
          <a:p>
            <a:r>
              <a:t>frontend/src/App.tsx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006 / 100 - From statement to saved evidence</a:t>
            </a:r>
          </a:p>
          <a:p/>
          <a:p>
            <a:r>
              <a:t>This is a simplified explanatory flow, not UML sequence notation. The detailed implementation validates the request and shared grammar before computation and persistence. Analyze in the current UI records an immutable public test, even when the parser rejects it.</a:t>
            </a:r>
          </a:p>
          <a:p/>
          <a:p>
            <a:r>
              <a:t>RESPONSIBLE FILES / EVIDENCE</a:t>
            </a:r>
          </a:p>
          <a:p>
            <a:r>
              <a:t>frontend/src/FrancAnalyzer.tsx</a:t>
            </a:r>
          </a:p>
          <a:p>
            <a:r>
              <a:t>backend/analyzer.py</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007 / 100 - Two verdicts. Different questions.</a:t>
            </a:r>
          </a:p>
          <a:p/>
          <a:p>
            <a:r>
              <a:t>Vocabulary approval is based on UNKNOWN occurrences. Recognized slang, AMBIGUOUS and other known categories can pass it. CFG acceptance comes from predictive parsing. Neither result proves standard French correctness, meaning or authentic fieldwork.</a:t>
            </a:r>
          </a:p>
          <a:p/>
          <a:p>
            <a:r>
              <a:t>RESPONSIBLE FILES / EVIDENCE</a:t>
            </a:r>
          </a:p>
          <a:p>
            <a:r>
              <a:t>frontend/src/VocabularyVerdict.tsx</a:t>
            </a:r>
          </a:p>
          <a:p>
            <a:r>
              <a:t>backend/analyzer_models.py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008 / 100 - Public does not mean editable</a:t>
            </a:r>
          </a:p>
          <a:p/>
          <a:p>
            <a:r>
              <a:t>The public session advertises analyze and save_tests capabilities while disabling reference edits. These restrictions are enforced in the backend, not merely by hiding buttons. CSRF protection remains even though login was removed.</a:t>
            </a:r>
          </a:p>
          <a:p/>
          <a:p>
            <a:r>
              <a:t>RESPONSIBLE FILES / EVIDENCE</a:t>
            </a:r>
          </a:p>
          <a:p>
            <a:r>
              <a:t>backend/public_access.py</a:t>
            </a:r>
          </a:p>
          <a:p>
            <a:r>
              <a:t>frontend/src/PublicSession.tsx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009 / 100 - Every feature has a source</a:t>
            </a:r>
          </a:p>
          <a:p/>
          <a:p>
            <a:r>
              <a:t>The actual code is mostly Python functions and React function components. Do not rename these as imaginary controller or service classes. Paths on the slides are repository-relative; the complete repository accompanies the presentation.</a:t>
            </a:r>
          </a:p>
          <a:p/>
          <a:p>
            <a:r>
              <a:t>RESPONSIBLE FILES / EVIDENCE</a:t>
            </a:r>
          </a:p>
          <a:p>
            <a:r>
              <a:t>frontend/src/App.tsx</a:t>
            </a:r>
          </a:p>
          <a:p>
            <a:r>
              <a:t>backend/analyzer_api.py</a:t>
            </a:r>
          </a:p>
          <a:p>
            <a:r>
              <a:t>compiler/lexer/tokenizer.py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010 / 100 - The project at a glance</a:t>
            </a:r>
          </a:p>
          <a:p/>
          <a:p>
            <a:r>
              <a:t>The twelve statements are the fixed evaluation corpus. The 938 dictionary entries and 26 synthetic examples are not additional collected statements. The Collection snapshot contains those twelve sentences plus one approved Word annotation, choa.</a:t>
            </a:r>
          </a:p>
          <a:p/>
          <a:p>
            <a:r>
              <a:t>RESPONSIBLE FILES / EVIDENCE</a:t>
            </a:r>
          </a:p>
          <a:p>
            <a:r>
              <a:t>frontend/src/App.tsx</a:t>
            </a:r>
          </a:p>
          <a:p>
            <a:r>
              <a:t>docs/evidence/final-analysis-20260927.json</a:t>
            </a:r>
          </a:p>
          <a:p>
            <a:r>
              <a:t>docs/README.md</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011 / 100 - Start in Franc Analyzer</a:t>
            </a:r>
          </a:p>
          <a:p/>
          <a:p>
            <a:r>
              <a:t>This screenshot is a real deployed page captured on 27 September 2026. The input is empty because the screenshot process did not submit a new test. The real input screen permits an empty-input grammar check.</a:t>
            </a:r>
          </a:p>
          <a:p/>
          <a:p>
            <a:r>
              <a:t>RESPONSIBLE FILES / EVIDENCE</a:t>
            </a:r>
          </a:p>
          <a:p>
            <a:r>
              <a:t>frontend/src/FrancAnalyzer.tsx</a:t>
            </a:r>
          </a:p>
          <a:p>
            <a:r>
              <a:t>frontend/src/PublicSession.tsx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012 / 100 - Keep the speaker's original text</a:t>
            </a:r>
          </a:p>
          <a:p/>
          <a:p>
            <a:r>
              <a:t>The visual is a documented crop of the real input panel. Normalization is used later for matching and statistics; it does not replace the stored source text. An intentionally empty request is valid input to the analyzer flow, although the saved corpus grammar rejects it.</a:t>
            </a:r>
          </a:p>
          <a:p/>
          <a:p>
            <a:r>
              <a:t>RESPONSIBLE FILES / EVIDENCE</a:t>
            </a:r>
          </a:p>
          <a:p>
            <a:r>
              <a:t>frontend/src/FrancAnalyzer.tsx</a:t>
            </a:r>
          </a:p>
          <a:p>
            <a:r>
              <a:t>frontend/src/types.ts</a:t>
            </a:r>
          </a:p>
          <a:p>
            <a:r>
              <a:t>backend/analyzer_models.py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013 / 100 - What happens after Analyze?</a:t>
            </a:r>
          </a:p>
          <a:p/>
          <a:p>
            <a:r>
              <a:t>The endpoint used by the UI is POST /api/analyzer/tests. The request identifier supports safe retry. The public boundary and request models validate the operation before a result is saved. A grammar rejection is still a legitimate recorded result, not a failed network operation.</a:t>
            </a:r>
          </a:p>
          <a:p/>
          <a:p>
            <a:r>
              <a:t>RESPONSIBLE FILES / EVIDENCE</a:t>
            </a:r>
          </a:p>
          <a:p>
            <a:r>
              <a:t>frontend/src/FrancAnalyzer.tsx</a:t>
            </a:r>
          </a:p>
          <a:p>
            <a:r>
              <a:t>backend/analyzer_api.py</a:t>
            </a:r>
          </a:p>
          <a:p>
            <a:r>
              <a:t>backend/analyzer_history.py</a:t>
            </a:r>
          </a:p>
          <a:p>
            <a:r>
              <a:t>backend/shared_workspace.py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014 / 100 - The client sends a reproducible request</a:t>
            </a:r>
          </a:p>
          <a:p/>
          <a:p>
            <a:r>
              <a:t>Angle-bracket values are explicitly abbreviated teaching placeholders, not a payload to copy unchanged. The actual request includes a valid UUID and full saved grammar. No CSRF token or private configuration is displayed in this example.</a:t>
            </a:r>
          </a:p>
          <a:p/>
          <a:p>
            <a:r>
              <a:t>RESPONSIBLE FILES / EVIDENCE</a:t>
            </a:r>
          </a:p>
          <a:p>
            <a:r>
              <a:t>frontend/src/FrancAnalyzer.tsx</a:t>
            </a:r>
          </a:p>
          <a:p>
            <a:r>
              <a:t>backend/analyzer_models.py</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015 / 100 - Waiting, stopping and retrying</a:t>
            </a:r>
          </a:p>
          <a:p/>
          <a:p>
            <a:r>
              <a:t>The general API helper has a shorter default timeout; the analyzer overrides it to 60000 ms. If the browser stops waiting, the server may still commit. Repeated completed tests with deliberately new request IDs count separately.</a:t>
            </a:r>
          </a:p>
          <a:p/>
          <a:p>
            <a:r>
              <a:t>RESPONSIBLE FILES / EVIDENCE</a:t>
            </a:r>
          </a:p>
          <a:p>
            <a:r>
              <a:t>frontend/src/FrancAnalyzer.tsx</a:t>
            </a:r>
          </a:p>
          <a:p>
            <a:r>
              <a:t>frontend/src/useRequest.ts</a:t>
            </a:r>
          </a:p>
          <a:p>
            <a:r>
              <a:t>frontend/src/api.ts</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016 / 100 - A test is an immutable snapshot</a:t>
            </a:r>
          </a:p>
          <a:p/>
          <a:p>
            <a:r>
              <a:t>Saved tests have no public edit or delete operation. An operator's later grammar or reference update does not rewrite prior lexical and syntactic results. This distinction is important when interpreting dashboard statistics.</a:t>
            </a:r>
          </a:p>
          <a:p/>
          <a:p>
            <a:r>
              <a:t>RESPONSIBLE FILES / EVIDENCE</a:t>
            </a:r>
          </a:p>
          <a:p>
            <a:r>
              <a:t>backend/analyzer_models.py</a:t>
            </a:r>
          </a:p>
          <a:p>
            <a:r>
              <a:t>backend/analyzer_history.py</a:t>
            </a:r>
          </a:p>
          <a:p>
            <a:r>
              <a:t>backend/shared_workspace.py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017 / 100 - An accepted example, token by token</a:t>
            </a:r>
          </a:p>
          <a:p/>
          <a:p>
            <a:r>
              <a:t>This slide is generated from the committed computed evidence, not typed token labels. The categories are FRENCH_FUNCTION_WORD, VERB, ADJECTIVE, FRENCH_FUNCTION_WORD, VERB, VERB. FF is used visually as an abbreviation for FRENCH_FUNCTION_WORD.</a:t>
            </a:r>
          </a:p>
          <a:p/>
          <a:p>
            <a:r>
              <a:t>RESPONSIBLE FILES / EVIDENCE</a:t>
            </a:r>
          </a:p>
          <a:p>
            <a:r>
              <a:t>compiler/lexer/tokenizer.py</a:t>
            </a:r>
          </a:p>
          <a:p>
            <a:r>
              <a:t>compiler/parser/predictive.py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018 / 100 - Rejection keeps the evidence</a:t>
            </a:r>
          </a:p>
          <a:p/>
          <a:p>
            <a:r>
              <a:t>Both original strings remain unchanged. Each rejected trace contains fourteen recorded rows. The parser reports the undefined table entry instead of treating UNKNOWN as a wildcard. Human review is needed to resolve the linguistic forms.</a:t>
            </a:r>
          </a:p>
          <a:p/>
          <a:p>
            <a:r>
              <a:t>RESPONSIBLE FILES / EVIDENCE</a:t>
            </a:r>
          </a:p>
          <a:p>
            <a:r>
              <a:t>compiler/tests/yaounde_cases.py</a:t>
            </a:r>
          </a:p>
          <a:p>
            <a:r>
              <a:t>compiler/parser/predictive.py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019 / 100 - Reference, then draft, then explicit Analyze</a:t>
            </a:r>
          </a:p>
          <a:p/>
          <a:p>
            <a:r>
              <a:t>App.tsx coordinates the openCompiler handoff. It supplies a draft rather than automatically invoking the backend. This lets visitors inspect a source before choosing to publicly retain an analysis.</a:t>
            </a:r>
          </a:p>
          <a:p/>
          <a:p>
            <a:r>
              <a:t>RESPONSIBLE FILES / EVIDENCE</a:t>
            </a:r>
          </a:p>
          <a:p>
            <a:r>
              <a:t>frontend/src/App.tsx</a:t>
            </a:r>
          </a:p>
          <a:p>
            <a:r>
              <a:t>frontend/src/Collection.tsx</a:t>
            </a:r>
          </a:p>
          <a:p>
            <a:r>
              <a:t>frontend/src/Dictionary.tsx</a:t>
            </a:r>
          </a:p>
          <a:p>
            <a:r>
              <a:t>frontend/src/Examples.tsx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020 / 100 - Analyzer: the files to open</a:t>
            </a:r>
          </a:p>
          <a:p/>
          <a:p>
            <a:r>
              <a:t>Follow the UI event into the API file, then the route and history service. The compiler algorithms are intentionally separate from request orchestration and storage. The next chapter explains the evidence rendered from these saved results.</a:t>
            </a:r>
          </a:p>
          <a:p/>
          <a:p>
            <a:r>
              <a:t>RESPONSIBLE FILES / EVIDENCE</a:t>
            </a:r>
          </a:p>
          <a:p>
            <a:r>
              <a:t>frontend/src/FrancAnalyzer.tsx</a:t>
            </a:r>
          </a:p>
          <a:p>
            <a:r>
              <a:t>frontend/src/api.ts</a:t>
            </a:r>
          </a:p>
          <a:p>
            <a:r>
              <a:t>backend/analyzer_api.py</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021 / 100 - Analysis is the evidence desk</a:t>
            </a:r>
          </a:p>
          <a:p/>
          <a:p>
            <a:r>
              <a:t>The screenshot was captured from the live deployed application. Its totals describe the retained history at capture time, not the fixed twelve-statement evaluation. The two sets of numbers must not be merged.</a:t>
            </a:r>
          </a:p>
          <a:p/>
          <a:p>
            <a:r>
              <a:t>RESPONSIBLE FILES / EVIDENCE</a:t>
            </a:r>
          </a:p>
          <a:p>
            <a:r>
              <a:t>frontend/src/Analysis.tsx</a:t>
            </a:r>
          </a:p>
          <a:p>
            <a:r>
              <a:t>frontend/src/TestStatistics.tsx</a:t>
            </a:r>
          </a:p>
          <a:p>
            <a:r>
              <a:t>frontend/src/CourseworkResults.tsx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022 / 100 - Count saved tests, not collected records</a:t>
            </a:r>
          </a:p>
          <a:p/>
          <a:p>
            <a:r>
              <a:t>The first two values are observed on 27 September 2026 and can change as visitors submit new tests. The last two are fixed by the committed study. Untested Collection entries do not enter saved-test statistics.</a:t>
            </a:r>
          </a:p>
          <a:p/>
          <a:p>
            <a:r>
              <a:t>RESPONSIBLE FILES / EVIDENCE</a:t>
            </a:r>
          </a:p>
          <a:p>
            <a:r>
              <a:t>frontend/src/TestStatistics.tsx</a:t>
            </a:r>
          </a:p>
          <a:p>
            <a:r>
              <a:t>backend/analyzer_history.py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023 / 100 - Vocabulary approval asks one question</a:t>
            </a:r>
          </a:p>
          <a:p/>
          <a:p>
            <a:r>
              <a:t>The approval condition is exact: reject when unknown_count is positive. Empty input has no UNKNOWN tokens, so it passes this lexical condition even though the saved corpus grammar cannot derive an empty utterance.</a:t>
            </a:r>
          </a:p>
          <a:p/>
          <a:p>
            <a:r>
              <a:t>RESPONSIBLE FILES / EVIDENCE</a:t>
            </a:r>
          </a:p>
          <a:p>
            <a:r>
              <a:t>frontend/src/VocabularyVerdict.tsx</a:t>
            </a:r>
          </a:p>
          <a:p>
            <a:r>
              <a:t>backend/analyzer_models.py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024 / 100 - Known words may still fail the CFG</a:t>
            </a:r>
          </a:p>
          <a:p/>
          <a:p>
            <a:r>
              <a:t>This is control C06, not an additional collected utterance. It demonstrates why separate verdicts matter. A dictionary-membership test alone could not explain this rejection.</a:t>
            </a:r>
          </a:p>
          <a:p/>
          <a:p>
            <a:r>
              <a:t>RESPONSIBLE FILES / EVIDENCE</a:t>
            </a:r>
          </a:p>
          <a:p>
            <a:r>
              <a:t>compiler/parser/yaounde.py</a:t>
            </a:r>
          </a:p>
          <a:p>
            <a:r>
              <a:t>compiler/parser/predictive.py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025 / 100 - Nine categories occur in the study</a:t>
            </a:r>
          </a:p>
          <a:p/>
          <a:p>
            <a:r>
              <a:t>The lexer supports twenty terminal categories, but only nine occur in the twelve supplied statements. The chart is generated from statistics.category_counts. FF and EF abbreviate French and English function-word categories.</a:t>
            </a:r>
          </a:p>
          <a:p/>
          <a:p>
            <a:r>
              <a:t>RESPONSIBLE FILES / EVIDENCE</a:t>
            </a:r>
          </a:p>
          <a:p>
            <a:r>
              <a:t>docs/evidence/final-analysis-20260927.json</a:t>
            </a:r>
          </a:p>
          <a:p>
            <a:r>
              <a:t>tools/build_report_evidence.py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026 / 100 - Frequency starts with actual tokens</a:t>
            </a:r>
          </a:p>
          <a:p/>
          <a:p>
            <a:r>
              <a:t>The bars use the first six entries of the computed frequency list. The corpus has 55 case-folded forms. Preserve the distinction between token occurrences and distinct forms, and avoid treating this small convenience corpus as representative of a whole population.</a:t>
            </a:r>
          </a:p>
          <a:p/>
          <a:p>
            <a:r>
              <a:t>RESPONSIBLE FILES / EVIDENCE</a:t>
            </a:r>
          </a:p>
          <a:p>
            <a:r>
              <a:t>docs/evidence/final-analysis-20260927.json</a:t>
            </a:r>
          </a:p>
          <a:p>
            <a:r>
              <a:t>tools/build_report_evidence.py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027 / 100 - Inspect raw text and categories</a:t>
            </a:r>
          </a:p>
          <a:p/>
          <a:p>
            <a:r>
              <a:t>This image comes from the genuine selected-S02 capture used in the report. The capture register preserves its original and cropped derivatives. It was opened read-only without submitting a test.</a:t>
            </a:r>
          </a:p>
          <a:p/>
          <a:p>
            <a:r>
              <a:t>RESPONSIBLE FILES / EVIDENCE</a:t>
            </a:r>
          </a:p>
          <a:p>
            <a:r>
              <a:t>frontend/src/CourseworkResults.tsx</a:t>
            </a:r>
          </a:p>
          <a:p>
            <a:r>
              <a:t>frontend/src/VocabularyVerdict.tsx</a:t>
            </a:r>
          </a:p>
          <a:p>
            <a:r>
              <a:t>backend/analyzer_models.py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028 / 100 - A trace is a sequence of decisions</a:t>
            </a:r>
          </a:p>
          <a:p/>
          <a:p>
            <a:r>
              <a:t>The displayed rows are the first four S02 trace records from computed evidence. In visual abbreviations: Ut is Utterance, Uf is Utterance_LF1, Cl is Clause, St is SubjectTail, and FF is FRENCH_FUNCTION_WORD. The full names are retained in the underlying evidence.</a:t>
            </a:r>
          </a:p>
          <a:p/>
          <a:p>
            <a:r>
              <a:t>RESPONSIBLE FILES / EVIDENCE</a:t>
            </a:r>
          </a:p>
          <a:p>
            <a:r>
              <a:t>compiler/parser/predictive.py</a:t>
            </a:r>
          </a:p>
          <a:p>
            <a:r>
              <a:t>frontend/src/CourseworkResults.tsx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029 / 100 - Grammar panels reveal the calculation</a:t>
            </a:r>
          </a:p>
          <a:p/>
          <a:p>
            <a:r>
              <a:t>GrammarResults renders the original and transformed grammar, transformation steps, sets and table. Conflicting entries are reported explicitly. These panels are read-only in the public workflow.</a:t>
            </a:r>
          </a:p>
          <a:p/>
          <a:p>
            <a:r>
              <a:t>RESPONSIBLE FILES / EVIDENCE</a:t>
            </a:r>
          </a:p>
          <a:p>
            <a:r>
              <a:t>frontend/src/CourseworkResults.tsx</a:t>
            </a:r>
          </a:p>
          <a:p>
            <a:r>
              <a:t>compiler/parser/service.py</a:t>
            </a:r>
          </a:p>
          <a:p>
            <a:r>
              <a:t>compiler/parser/analysis.py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030 / 100 - Analysis: rendering versus aggregation</a:t>
            </a:r>
          </a:p>
          <a:p/>
          <a:p>
            <a:r>
              <a:t>Statistics are computed across saved tests even when only one summary page is returned. Pagination limits the displayed summaries, not the overall totals. Old snapshots are not silently reclassified.</a:t>
            </a:r>
          </a:p>
          <a:p/>
          <a:p>
            <a:r>
              <a:t>RESPONSIBLE FILES / EVIDENCE</a:t>
            </a:r>
          </a:p>
          <a:p>
            <a:r>
              <a:t>frontend/src/Analysis.tsx</a:t>
            </a:r>
          </a:p>
          <a:p>
            <a:r>
              <a:t>frontend/src/TestStatistics.tsx</a:t>
            </a:r>
          </a:p>
          <a:p>
            <a:r>
              <a:t>frontend/src/CourseworkResults.tsx</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031 / 100 - Collection preserves supplied evidence</a:t>
            </a:r>
          </a:p>
          <a:p/>
          <a:p>
            <a:r>
              <a:t>The current capture shows thirteen Collection entries: twelve sentences and one Word annotation. Review status is metadata, not proof of authentic original fieldwork. The public interface cannot create, edit or delete Collection records.</a:t>
            </a:r>
          </a:p>
          <a:p/>
          <a:p>
            <a:r>
              <a:t>RESPONSIBLE FILES / EVIDENCE</a:t>
            </a:r>
          </a:p>
          <a:p>
            <a:r>
              <a:t>frontend/src/Collection.tsx</a:t>
            </a:r>
          </a:p>
          <a:p>
            <a:r>
              <a:t>backend/collection.py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032 / 100 - What one Collection record means</a:t>
            </a:r>
          </a:p>
          <a:p/>
          <a:p>
            <a:r>
              <a:t>EntryViewer presents these fields. A gloss is not an independently verified translation, and a recording does not alone establish who collected the original utterance or when. Missing metadata should remain missing rather than be filled with invented details.</a:t>
            </a:r>
          </a:p>
          <a:p/>
          <a:p>
            <a:r>
              <a:t>RESPONSIBLE FILES / EVIDENCE</a:t>
            </a:r>
          </a:p>
          <a:p>
            <a:r>
              <a:t>frontend/src/Collection.tsx</a:t>
            </a:r>
          </a:p>
          <a:p>
            <a:r>
              <a:t>backend/schemas.py</a:t>
            </a:r>
          </a:p>
          <a:p>
            <a:r>
              <a:t>backend/audio_api.py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033 / 100 - Search and filter without rewriting</a:t>
            </a:r>
          </a:p>
          <a:p/>
          <a:p>
            <a:r>
              <a:t>The screenshot is a crop of the real Collection page. Exported fields can include context and contributor details; the UI cautions users to share only with authorized recipients. The presentation capture did not export private data or mutate any record.</a:t>
            </a:r>
          </a:p>
          <a:p/>
          <a:p>
            <a:r>
              <a:t>RESPONSIBLE FILES / EVIDENCE</a:t>
            </a:r>
          </a:p>
          <a:p>
            <a:r>
              <a:t>frontend/src/Collection.tsx</a:t>
            </a:r>
          </a:p>
          <a:p>
            <a:r>
              <a:t>backend/collection.py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034 / 100 - Twelve statements; provenance still qualified</a:t>
            </a:r>
          </a:p>
          <a:p/>
          <a:p>
            <a:r>
              <a:t>The saved manual_transcription_confirmed flag is false and collection_method is blank. Some locations and audio references exist, but these do not prove collector identities, original dates, speakers or consent. This qualification remains explicit throughout the presentation.</a:t>
            </a:r>
          </a:p>
          <a:p/>
          <a:p>
            <a:r>
              <a:t>RESPONSIBLE FILES / EVIDENCE</a:t>
            </a:r>
          </a:p>
          <a:p>
            <a:r>
              <a:t>docs/evidence/final-corpus-20260927.json</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035 / 100 - Dictionary is a reference library</a:t>
            </a:r>
          </a:p>
          <a:p/>
          <a:p>
            <a:r>
              <a:t>The dictionary is assembled from the supplied classified CSV and retained Markdown sources. It is reference material, not the shared Collection. The UI separates source meanings and origins rather than inventing missing French translations.</a:t>
            </a:r>
          </a:p>
          <a:p/>
          <a:p>
            <a:r>
              <a:t>RESPONSIBLE FILES / EVIDENCE</a:t>
            </a:r>
          </a:p>
          <a:p>
            <a:r>
              <a:t>frontend/src/Dictionary.tsx</a:t>
            </a:r>
          </a:p>
          <a:p>
            <a:r>
              <a:t>backend/dictionary.py</a:t>
            </a:r>
          </a:p>
          <a:p>
            <a:r>
              <a:t>dictionary/full_lexicon_classified.csv</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036 / 100 - Search kass and inspect its source</a:t>
            </a:r>
          </a:p>
          <a:p/>
          <a:p>
            <a:r>
              <a:t>This is a genuine current dictionary search, not a fabricated card. Opening the entry copies kass into the analyzer but does not run a test. The meaning and category are displayed as supplied source annotations, not independently validated linguistic facts.</a:t>
            </a:r>
          </a:p>
          <a:p/>
          <a:p>
            <a:r>
              <a:t>RESPONSIBLE FILES / EVIDENCE</a:t>
            </a:r>
          </a:p>
          <a:p>
            <a:r>
              <a:t>frontend/src/Dictionary.tsx</a:t>
            </a:r>
          </a:p>
          <a:p>
            <a:r>
              <a:t>backend/dictionary.py</a:t>
            </a:r>
          </a:p>
          <a:p>
            <a:r>
              <a:t>dictionary/full_lexicon_classified.csv</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037 / 100 - Reference lookup does not overrule everything</a:t>
            </a:r>
          </a:p>
          <a:p/>
          <a:p>
            <a:r>
              <a:t>The last card groups several later steps for a readable overview. classify_token checks French forms after the supplied reference and then morphological suffix heuristics. This is deterministic first-applicable-rule classification, not majority voting.</a:t>
            </a:r>
          </a:p>
          <a:p/>
          <a:p>
            <a:r>
              <a:t>RESPONSIBLE FILES / EVIDENCE</a:t>
            </a:r>
          </a:p>
          <a:p>
            <a:r>
              <a:t>compiler/lexer/tokenizer.py</a:t>
            </a:r>
          </a:p>
          <a:p>
            <a:r>
              <a:t>compiler/lexer/reference.py</a:t>
            </a:r>
          </a:p>
          <a:p>
            <a:r>
              <a:t>compiler/lexer/learned.py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038 / 100 - Synthetic means constructed, not collected</a:t>
            </a:r>
          </a:p>
          <a:p/>
          <a:p>
            <a:r>
              <a:t>Examples do not train the lexer or count as original field statements. They are explicitly constructed teaching material. Search and page navigation share the reference-search hook with the Dictionary.</a:t>
            </a:r>
          </a:p>
          <a:p/>
          <a:p>
            <a:r>
              <a:t>RESPONSIBLE FILES / EVIDENCE</a:t>
            </a:r>
          </a:p>
          <a:p>
            <a:r>
              <a:t>frontend/src/Examples.tsx</a:t>
            </a:r>
          </a:p>
          <a:p>
            <a:r>
              <a:t>backend/examples.py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039 / 100 - Read-aloud reuses an existing recording</a:t>
            </a:r>
          </a:p>
          <a:p/>
          <a:p>
            <a:r>
              <a:t>POST /api/readings/lookup is a read-only search, despite using POST. Upload, replace and delete are different write operations and are unavailable publicly. If there is no recording, the app must say so rather than synthesize a voice.</a:t>
            </a:r>
          </a:p>
          <a:p/>
          <a:p>
            <a:r>
              <a:t>RESPONSIBLE FILES / EVIDENCE</a:t>
            </a:r>
          </a:p>
          <a:p>
            <a:r>
              <a:t>frontend/src/RecordedReadings.tsx</a:t>
            </a:r>
          </a:p>
          <a:p>
            <a:r>
              <a:t>frontend/src/voice.ts</a:t>
            </a:r>
          </a:p>
          <a:p>
            <a:r>
              <a:t>backend/readings_api.py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040 / 100 - Library features: source ownership</a:t>
            </a:r>
          </a:p>
          <a:p/>
          <a:p>
            <a:r>
              <a:t>Collection search uses its own dataset-oriented controls. Dictionary and Examples reuse useReferenceSearch with a page size of 25 and a 250 ms debounce. Backend services keep source datasets separate.</a:t>
            </a:r>
          </a:p>
          <a:p/>
          <a:p>
            <a:r>
              <a:t>RESPONSIBLE FILES / EVIDENCE</a:t>
            </a:r>
          </a:p>
          <a:p>
            <a:r>
              <a:t>frontend/src/Collection.tsx</a:t>
            </a:r>
          </a:p>
          <a:p>
            <a:r>
              <a:t>frontend/src/useReferenceSearch.ts</a:t>
            </a:r>
          </a:p>
          <a:p>
            <a:r>
              <a:t>backend/dictionary.py</a:t>
            </a:r>
          </a:p>
          <a:p>
            <a:r>
              <a:t>backend/examples.py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041 / 100 - Three working layers, one product</a:t>
            </a:r>
          </a:p>
          <a:p/>
          <a:p>
            <a:r>
              <a:t>Shared persistence supports the server layer. The explanatory illustration is original artwork, not a deployment proof. The current product is a lexical and syntactic analysis workspace; it does not emit machine code.</a:t>
            </a:r>
          </a:p>
          <a:p/>
          <a:p>
            <a:r>
              <a:t>RESPONSIBLE FILES / EVIDENCE</a:t>
            </a:r>
          </a:p>
          <a:p>
            <a:r>
              <a:t>frontend/src/App.tsx</a:t>
            </a:r>
          </a:p>
          <a:p>
            <a:r>
              <a:t>backend/main.py</a:t>
            </a:r>
          </a:p>
          <a:p>
            <a:r>
              <a:t>compiler/parser/service.py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042 / 100 - Boot without a login</a:t>
            </a:r>
          </a:p>
          <a:p/>
          <a:p>
            <a:r>
              <a:t>PublicSession rejects incompatible capabilities rather than silently assuming the backend is safe. The cookie and token provide request-origin protection. They are not a user account, fake identity or login session.</a:t>
            </a:r>
          </a:p>
          <a:p/>
          <a:p>
            <a:r>
              <a:t>RESPONSIBLE FILES / EVIDENCE</a:t>
            </a:r>
          </a:p>
          <a:p>
            <a:r>
              <a:t>frontend/src/main.tsx</a:t>
            </a:r>
          </a:p>
          <a:p>
            <a:r>
              <a:t>frontend/src/PublicSession.tsx</a:t>
            </a:r>
          </a:p>
          <a:p>
            <a:r>
              <a:t>frontend/src/api.ts</a:t>
            </a:r>
          </a:p>
          <a:p>
            <a:r>
              <a:t>backend/public_access.py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043 / 100 - Hash routes select the five pages</a:t>
            </a:r>
          </a:p>
          <a:p/>
          <a:p>
            <a:r>
              <a:t>All listed component files are under frontend/src. App.tsx chooses the route and handles shared navigation and focus. Unknown or retired fragments fall back to the analyzer rather than exposing removed screens.</a:t>
            </a:r>
          </a:p>
          <a:p/>
          <a:p>
            <a:r>
              <a:t>RESPONSIBLE FILES / EVIDENCE</a:t>
            </a:r>
          </a:p>
          <a:p>
            <a:r>
              <a:t>frontend/src/App.tsx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044 / 100 - Waiting state and transport are separate</a:t>
            </a:r>
          </a:p>
          <a:p/>
          <a:p>
            <a:r>
              <a:t>These are hooks and functions, not classes. The default transport timeout is 15 seconds; the main analysis request explicitly uses 60 seconds. The UI must distinguish stop-waiting from durable cancellation.</a:t>
            </a:r>
          </a:p>
          <a:p/>
          <a:p>
            <a:r>
              <a:t>RESPONSIBLE FILES / EVIDENCE</a:t>
            </a:r>
          </a:p>
          <a:p>
            <a:r>
              <a:t>frontend/src/useRequest.ts</a:t>
            </a:r>
          </a:p>
          <a:p>
            <a:r>
              <a:t>frontend/src/api.ts</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045 / 100 - One origin connects the UI and API</a:t>
            </a:r>
          </a:p>
          <a:p/>
          <a:p>
            <a:r>
              <a:t>This is the documented deployment topology. Vite is a development and build tool, not the public production server. The presentation makes no new claim of audited VPS configuration or guaranteed uptime.</a:t>
            </a:r>
          </a:p>
          <a:p/>
          <a:p>
            <a:r>
              <a:t>RESPONSIBLE FILES / EVIDENCE</a:t>
            </a:r>
          </a:p>
          <a:p>
            <a:r>
              <a:t>backend/web.py</a:t>
            </a:r>
          </a:p>
          <a:p>
            <a:r>
              <a:t>backend/main.py</a:t>
            </a:r>
          </a:p>
          <a:p>
            <a:r>
              <a:t>tools/run_app.py</a:t>
            </a:r>
          </a:p>
          <a:p>
            <a:r>
              <a:t>README.md</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046 / 100 - Public API, grouped by task</a:t>
            </a:r>
          </a:p>
          <a:p/>
          <a:p>
            <a:r>
              <a:t>Endpoint names are actual public interfaces. A POST is not automatically a write: recorded-reading lookup is an example of read-only POST. The analyzer test POST does persist a public result.</a:t>
            </a:r>
          </a:p>
          <a:p/>
          <a:p>
            <a:r>
              <a:t>RESPONSIBLE FILES / EVIDENCE</a:t>
            </a:r>
          </a:p>
          <a:p>
            <a:r>
              <a:t>backend/main.py</a:t>
            </a:r>
          </a:p>
          <a:p>
            <a:r>
              <a:t>backend/analyzer_api.py</a:t>
            </a:r>
          </a:p>
          <a:p>
            <a:r>
              <a:t>backend/public_access.py</a:t>
            </a:r>
          </a:p>
          <a:p>
            <a:r>
              <a:t>backend/readings_api.py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047 / 100 - Bootstrap advertises the public contract</a:t>
            </a:r>
          </a:p>
          <a:p/>
          <a:p>
            <a:r>
              <a:t>This is an abridged representation of the response contract. The real response also carries a CSRF token; no actual token is included on the slide. Capability validation is a frontend safeguard in addition to server-side enforcement.</a:t>
            </a:r>
          </a:p>
          <a:p/>
          <a:p>
            <a:r>
              <a:t>RESPONSIBLE FILES / EVIDENCE</a:t>
            </a:r>
          </a:p>
          <a:p>
            <a:r>
              <a:t>backend/public_access.py</a:t>
            </a:r>
          </a:p>
          <a:p>
            <a:r>
              <a:t>frontend/src/PublicSession.tsx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048 / 100 - Errors tell the user what happened</a:t>
            </a:r>
          </a:p>
          <a:p/>
          <a:p>
            <a:r>
              <a:t>A valid grammar rejection is different from these transport and validation failures. It is a successful computation with accepted=false and a trace. This distinction prevents the UI from presenting server failures as linguistic conclusions.</a:t>
            </a:r>
          </a:p>
          <a:p/>
          <a:p>
            <a:r>
              <a:t>RESPONSIBLE FILES / EVIDENCE</a:t>
            </a:r>
          </a:p>
          <a:p>
            <a:r>
              <a:t>backend/public_access.py</a:t>
            </a:r>
          </a:p>
          <a:p>
            <a:r>
              <a:t>backend/analyzer_history.py</a:t>
            </a:r>
          </a:p>
          <a:p>
            <a:r>
              <a:t>frontend/src/api.ts</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049 / 100 - The same workflow on a narrow screen</a:t>
            </a:r>
          </a:p>
          <a:p/>
          <a:p>
            <a:r>
              <a:t>Both images are real 420-CSS-pixel viewport captures. Some mobile navigation is horizontally scrollable; the screenshot is not a complete list of all off-screen tabs. No special mobile write permissions exist.</a:t>
            </a:r>
          </a:p>
          <a:p/>
          <a:p>
            <a:r>
              <a:t>RESPONSIBLE FILES / EVIDENCE</a:t>
            </a:r>
          </a:p>
          <a:p>
            <a:r>
              <a:t>frontend/src/App.tsx</a:t>
            </a:r>
          </a:p>
          <a:p>
            <a:r>
              <a:t>frontend/src/FrancAnalyzer.tsx</a:t>
            </a:r>
          </a:p>
          <a:p>
            <a:r>
              <a:t>frontend/src/Collection.tsx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050 / 100 - Frontend file map: find the right layer</a:t>
            </a:r>
          </a:p>
          <a:p/>
          <a:p>
            <a:r>
              <a:t>The lower source rail contains the core entry points, while the cards add the helper and evidence modules. All these files contain React/TypeScript functions except the explicit ApiError class inside api.ts.</a:t>
            </a:r>
          </a:p>
          <a:p/>
          <a:p>
            <a:r>
              <a:t>RESPONSIBLE FILES / EVIDENCE</a:t>
            </a:r>
          </a:p>
          <a:p>
            <a:r>
              <a:t>frontend/src/main.tsx</a:t>
            </a:r>
          </a:p>
          <a:p>
            <a:r>
              <a:t>frontend/src/PublicSession.tsx</a:t>
            </a:r>
          </a:p>
          <a:p>
            <a:r>
              <a:t>frontend/src/App.tsx</a:t>
            </a:r>
          </a:p>
          <a:p>
            <a:r>
              <a:t>frontend/src/api.ts</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051 / 100 - Words become a typed token stream</a:t>
            </a:r>
          </a:p>
          <a:p/>
          <a:p>
            <a:r>
              <a:t>Token is a namedtuple with text and category. tokenize only segments; classify_token chooses labels; analyze_sentence assembles the lexical result. The rest of the compiler consumes the resulting categories.</a:t>
            </a:r>
          </a:p>
          <a:p/>
          <a:p>
            <a:r>
              <a:t>RESPONSIBLE FILES / EVIDENCE</a:t>
            </a:r>
          </a:p>
          <a:p>
            <a:r>
              <a:t>compiler/lexer/tokenizer.py</a:t>
            </a:r>
          </a:p>
          <a:p>
            <a:r>
              <a:t>compiler/lexer/lexicon.py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052 / 100 - Read the real segmentation branches</a:t>
            </a:r>
          </a:p>
          <a:p/>
          <a:p>
            <a:r>
              <a:t>The WORD line is a readable summary, not the complete source regex. Its exact Unicode and combining-mark definition appears in tokenizer.py. The other branches and findall call match the real code. The fallback prevents silently dropping unknown characters.</a:t>
            </a:r>
          </a:p>
          <a:p/>
          <a:p>
            <a:r>
              <a:t>RESPONSIBLE FILES / EVIDENCE</a:t>
            </a:r>
          </a:p>
          <a:p>
            <a:r>
              <a:t>compiler/lexer/tokenizer.py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053 / 100 - Internal joiners belong to the word</a:t>
            </a:r>
          </a:p>
          <a:p/>
          <a:p>
            <a:r>
              <a:t>These tokenization outputs were executed through the real tokenizer. Tokenization is not classification: the isolated hyphens subsequently become UNKNOWN. No original character is erased to make the example easier to parse.</a:t>
            </a:r>
          </a:p>
          <a:p/>
          <a:p>
            <a:r>
              <a:t>RESPONSIBLE FILES / EVIDENCE</a:t>
            </a:r>
          </a:p>
          <a:p>
            <a:r>
              <a:t>compiler/lexer/tokenizer.py</a:t>
            </a:r>
          </a:p>
          <a:p>
            <a:r>
              <a:t>tools/tests/test_report_evidence.py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054 / 100 - Numbers are not signed literals</a:t>
            </a:r>
          </a:p>
          <a:p/>
          <a:p>
            <a:r>
              <a:t>The lexer also permits comma as the decimal separator. The scanner does not recognize a signed-number syntax. These distinctions are included in the eight generated lexer controls that accompany the final report.</a:t>
            </a:r>
          </a:p>
          <a:p/>
          <a:p>
            <a:r>
              <a:t>RESPONSIBLE FILES / EVIDENCE</a:t>
            </a:r>
          </a:p>
          <a:p>
            <a:r>
              <a:t>compiler/lexer/tokenizer.py</a:t>
            </a:r>
          </a:p>
          <a:p>
            <a:r>
              <a:t>docs/report-data/lexer-controls.tex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055 / 100 - Unicode details change the boundary</a:t>
            </a:r>
          </a:p>
          <a:p/>
          <a:p>
            <a:r>
              <a:t>C is [^\W\d_], not simply ASCII letters. Combining marks can continue a word according to the defined ranges. The DFA's joiner edge deliberately says outside C so the outgoing transitions remain deterministic.</a:t>
            </a:r>
          </a:p>
          <a:p/>
          <a:p>
            <a:r>
              <a:t>RESPONSIBLE FILES / EVIDENCE</a:t>
            </a:r>
          </a:p>
          <a:p>
            <a:r>
              <a:t>compiler/lexer/tokenizer.py</a:t>
            </a:r>
          </a:p>
          <a:p>
            <a:r>
              <a:t>compiler/lexer/lexicon.py</a:t>
            </a:r>
          </a:p>
          <a:p>
            <a:r>
              <a:t>tools/tests/test_report_evidence.py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056 / 100 - Classification is ordered, not voted</a:t>
            </a:r>
          </a:p>
          <a:p/>
          <a:p>
            <a:r>
              <a:t>Within the explicit lists, the source order is slang, Pidgin, noun, verb, French function word, English function word. Approved annotations cannot displace the first structural number and punctuation checks. Suffix labels ending in _LIKE are heuristics, not confirmed parts of speech.</a:t>
            </a:r>
          </a:p>
          <a:p/>
          <a:p>
            <a:r>
              <a:t>RESPONSIBLE FILES / EVIDENCE</a:t>
            </a:r>
          </a:p>
          <a:p>
            <a:r>
              <a:t>compiler/lexer/tokenizer.py</a:t>
            </a:r>
          </a:p>
          <a:p>
            <a:r>
              <a:t>compiler/lexer/learned.py</a:t>
            </a:r>
          </a:p>
          <a:p>
            <a:r>
              <a:t>compiler/lexer/reference.py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057 / 100 - AMBIGUOUS is not UNKNOWN</a:t>
            </a:r>
          </a:p>
          <a:p/>
          <a:p>
            <a:r>
              <a:t>The saved corpus grammar allows AMBIGUOUS in specified positions only. It excludes UNKNOWN. Other explicitly authored grammars could include UNKNOWN as a terminal, but it would still not stand for an arbitrary category.</a:t>
            </a:r>
          </a:p>
          <a:p/>
          <a:p>
            <a:r>
              <a:t>RESPONSIBLE FILES / EVIDENCE</a:t>
            </a:r>
          </a:p>
          <a:p>
            <a:r>
              <a:t>compiler/lexer/tokenizer.py</a:t>
            </a:r>
          </a:p>
          <a:p>
            <a:r>
              <a:t>compiler/parser/yaounde.py</a:t>
            </a:r>
          </a:p>
          <a:p>
            <a:r>
              <a:t>backend/analyzer_models.py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058 / 100 - Normalize for matching. Preserve for evidence.</a:t>
            </a:r>
          </a:p>
          <a:p/>
          <a:p>
            <a:r>
              <a:t>normalize_word uses lowercasing for ASCII and NFC/casefold plus apostrophe normalization otherwise. normalize_text also normalizes whitespace for comparisons. These functions are not a license to overwrite transcriptions.</a:t>
            </a:r>
          </a:p>
          <a:p/>
          <a:p>
            <a:r>
              <a:t>RESPONSIBLE FILES / EVIDENCE</a:t>
            </a:r>
          </a:p>
          <a:p>
            <a:r>
              <a:t>compiler/lexer/vocabulary.py</a:t>
            </a:r>
          </a:p>
          <a:p>
            <a:r>
              <a:t>compiler/lexer/tokenizer.py</a:t>
            </a:r>
          </a:p>
          <a:p>
            <a:r>
              <a:t>backend/analyzer_models.py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059 / 100 - Language clues and phrases are annotations</a:t>
            </a:r>
          </a:p>
          <a:p/>
          <a:p>
            <a:r>
              <a:t>S02 includes the clue je ... go. Across the twelve statements there are 26 emitted transition clues, but zero matched verb phrases and zero matched slang phrases. Those zero results are evidence, not missing values to embellish.</a:t>
            </a:r>
          </a:p>
          <a:p/>
          <a:p>
            <a:r>
              <a:t>RESPONSIBLE FILES / EVIDENCE</a:t>
            </a:r>
          </a:p>
          <a:p>
            <a:r>
              <a:t>compiler/lexer/tokenizer.py</a:t>
            </a:r>
          </a:p>
          <a:p>
            <a:r>
              <a:t>compiler/lexer/languages.py</a:t>
            </a:r>
          </a:p>
          <a:p>
            <a:r>
              <a:t>compiler/lexer/reference.py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060 / 100 - Lexer files and responsibilities</a:t>
            </a:r>
          </a:p>
          <a:p/>
          <a:p>
            <a:r>
              <a:t>The module name learned does not imply machine learning. It derives a deterministic map from approved lexical annotations. Public visitors cannot edit those shared annotations through this app.</a:t>
            </a:r>
          </a:p>
          <a:p/>
          <a:p>
            <a:r>
              <a:t>RESPONSIBLE FILES / EVIDENCE</a:t>
            </a:r>
          </a:p>
          <a:p>
            <a:r>
              <a:t>compiler/lexer/tokenizer.py</a:t>
            </a:r>
          </a:p>
          <a:p>
            <a:r>
              <a:t>compiler/lexer/reference.py</a:t>
            </a:r>
          </a:p>
          <a:p>
            <a:r>
              <a:t>compiler/lexer/learned.py</a:t>
            </a:r>
          </a:p>
          <a:p>
            <a:r>
              <a:t>compiler/lexer/vocabulary.py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061 / 100 - Grammar recognizes category sequences</a:t>
            </a:r>
          </a:p>
          <a:p/>
          <a:p>
            <a:r>
              <a:t>The saved category grammar is intentionally limited. It is not a complete grammar of Camfranglais. A sentence can match categories without being standard French, and meaningful language may fall outside the model.</a:t>
            </a:r>
          </a:p>
          <a:p/>
          <a:p>
            <a:r>
              <a:t>RESPONSIBLE FILES / EVIDENCE</a:t>
            </a:r>
          </a:p>
          <a:p>
            <a:r>
              <a:t>compiler/parser/grammar.py</a:t>
            </a:r>
          </a:p>
          <a:p>
            <a:r>
              <a:t>compiler/parser/service.py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062 / 100 - The saved grammar is corpus-derived</a:t>
            </a:r>
          </a:p>
          <a:p/>
          <a:p>
            <a:r>
              <a:t>This is an excerpt of the actual original saved grammar. The full rationale in yaounde.py explains the observed structures and limitations. The saved snapshot is compared with this source by the evidence tests.</a:t>
            </a:r>
          </a:p>
          <a:p/>
          <a:p>
            <a:r>
              <a:t>RESPONSIBLE FILES / EVIDENCE</a:t>
            </a:r>
          </a:p>
          <a:p>
            <a:r>
              <a:t>compiler/parser/yaounde.py</a:t>
            </a:r>
          </a:p>
          <a:p>
            <a:r>
              <a:t>docs/evidence/final-corpus-20260927.json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063 / 100 - Starter grammar and saved grammar differ</a:t>
            </a:r>
          </a:p>
          <a:p/>
          <a:p>
            <a:r>
              <a:t>The public analyzer loads the stored shared grammar. An empty data directory does not automatically reproduce the documented corpus and grammar. Only the generic starter has an immutable JSON analysis cache; custom grammars are analyzed afresh.</a:t>
            </a:r>
          </a:p>
          <a:p/>
          <a:p>
            <a:r>
              <a:t>RESPONSIBLE FILES / EVIDENCE</a:t>
            </a:r>
          </a:p>
          <a:p>
            <a:r>
              <a:t>compiler/parser/service.py</a:t>
            </a:r>
          </a:p>
          <a:p>
            <a:r>
              <a:t>compiler/parser/yaounde.py</a:t>
            </a:r>
          </a:p>
          <a:p>
            <a:r>
              <a:t>docs/evidence/final-corpus-20260927.json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064 / 100 - Read, transform, calculate, then parse</a:t>
            </a:r>
          </a:p>
          <a:p/>
          <a:p>
            <a:r>
              <a:t>read_grammar raises GrammarError for invalid or oversized notation. transform_grammar records before/after snapshots. The table retains only unambiguous cells and reports conflicts separately. Predictive parsing is disabled for non-LL(1) grammars.</a:t>
            </a:r>
          </a:p>
          <a:p/>
          <a:p>
            <a:r>
              <a:t>RESPONSIBLE FILES / EVIDENCE</a:t>
            </a:r>
          </a:p>
          <a:p>
            <a:r>
              <a:t>compiler/parser/grammar.py</a:t>
            </a:r>
          </a:p>
          <a:p>
            <a:r>
              <a:t>compiler/parser/analysis.py</a:t>
            </a:r>
          </a:p>
          <a:p>
            <a:r>
              <a:t>compiler/parser/service.py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065 / 100 - Remove the actual left recursion</a:t>
            </a:r>
          </a:p>
          <a:p/>
          <a:p>
            <a:r>
              <a:t>This is an actual transformation from the corpus grammar, not a generic unrelated textbook example. The helper name is the one produced by the implementation. Epsilon is represented internally by an empty production list.</a:t>
            </a:r>
          </a:p>
          <a:p/>
          <a:p>
            <a:r>
              <a:t>RESPONSIBLE FILES / EVIDENCE</a:t>
            </a:r>
          </a:p>
          <a:p>
            <a:r>
              <a:t>compiler/parser/yaounde.py</a:t>
            </a:r>
          </a:p>
          <a:p>
            <a:r>
              <a:t>compiler/parser/analysis.py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066 / 100 - Factor the shared Clause prefix</a:t>
            </a:r>
          </a:p>
          <a:p/>
          <a:p>
            <a:r>
              <a:t>This is the second actual grammar rewrite used in the report. The syntax layer records it as left_factor. It does not broaden the grammar to accept arbitrary repeated punctuation.</a:t>
            </a:r>
          </a:p>
          <a:p/>
          <a:p>
            <a:r>
              <a:t>RESPONSIBLE FILES / EVIDENCE</a:t>
            </a:r>
          </a:p>
          <a:p>
            <a:r>
              <a:t>compiler/parser/yaounde.py</a:t>
            </a:r>
          </a:p>
          <a:p>
            <a:r>
              <a:t>compiler/parser/analysis.py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067 / 100 - FIRST tells us what can start</a:t>
            </a:r>
          </a:p>
          <a:p/>
          <a:p>
            <a:r>
              <a:t>The three displayed categories are the computed FIRST set, not an assumption made from examples. calculate_first grows sets to a fixed point using first_of_sequence and nullable alternatives.</a:t>
            </a:r>
          </a:p>
          <a:p/>
          <a:p>
            <a:r>
              <a:t>RESPONSIBLE FILES / EVIDENCE</a:t>
            </a:r>
          </a:p>
          <a:p>
            <a:r>
              <a:t>compiler/parser/analysis.py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068 / 100 - FOLLOW tells us what can come next</a:t>
            </a:r>
          </a:p>
          <a:p/>
          <a:p>
            <a:r>
              <a:t>calculate_follow scans productions in reverse while propagating trailers until stable. The dollar marker is appended logically to the category input. It is distinct from EPSILON, which denotes an empty derivation.</a:t>
            </a:r>
          </a:p>
          <a:p/>
          <a:p>
            <a:r>
              <a:t>RESPONSIBLE FILES / EVIDENCE</a:t>
            </a:r>
          </a:p>
          <a:p>
            <a:r>
              <a:t>compiler/parser/analysis.py</a:t>
            </a:r>
          </a:p>
          <a:p>
            <a:r>
              <a:t>compiler/parser/grammar.py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069 / 100 - The study's transformed grammar</a:t>
            </a:r>
          </a:p>
          <a:p/>
          <a:p>
            <a:r>
              <a:t>The transformed grammar uses nine distinct terminal categories. These values are calculated from the committed saved grammar. They are not the number of supported categories in the lexer, which is twenty.</a:t>
            </a:r>
          </a:p>
          <a:p/>
          <a:p>
            <a:r>
              <a:t>RESPONSIBLE FILES / EVIDENCE</a:t>
            </a:r>
          </a:p>
          <a:p>
            <a:r>
              <a:t>compiler/parser/analysis.py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070 / 100 - Syntax-analysis files: a map</a:t>
            </a:r>
          </a:p>
          <a:p/>
          <a:p>
            <a:r>
              <a:t>parse_tokens in service.py analyzes a grammar and delegates to parse_analysis. The latter can also consume a previously calculated grammar analysis without recalculation. These functions separate calculation from UI concerns.</a:t>
            </a:r>
          </a:p>
          <a:p/>
          <a:p>
            <a:r>
              <a:t>RESPONSIBLE FILES / EVIDENCE</a:t>
            </a:r>
          </a:p>
          <a:p>
            <a:r>
              <a:t>compiler/parser/grammar.py</a:t>
            </a:r>
          </a:p>
          <a:p>
            <a:r>
              <a:t>compiler/parser/analysis.py</a:t>
            </a:r>
          </a:p>
          <a:p>
            <a:r>
              <a:t>compiler/parser/service.py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071 / 100 - Lexer DFA: recognizing token forms</a:t>
            </a:r>
          </a:p>
          <a:p/>
          <a:p>
            <a:r>
              <a:t>W is word, I integer, F fraction, P punctuation and O another non-whitespace character. C is the Unicode word class excluding decimal digits and underscore; D is a decimal digit; M is a supported combining mark. Missing transitions enter an omitted dead state. This is formal automata notation, not UML state-machine notation.</a:t>
            </a:r>
          </a:p>
          <a:p/>
          <a:p>
            <a:r>
              <a:t>RESPONSIBLE FILES / EVIDENCE</a:t>
            </a:r>
          </a:p>
          <a:p>
            <a:r>
              <a:t>compiler/lexer/tokenizer.py</a:t>
            </a:r>
          </a:p>
          <a:p>
            <a:r>
              <a:t>docs/diagrams/automaton-lexer.puml</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072 / 100 - A pending state cannot end a token</a:t>
            </a:r>
          </a:p>
          <a:p/>
          <a:p>
            <a:r>
              <a:t>For this particular regex, greedy matching retains the longest accepted prefix. A dangling joiner or separator is not included in a completed word or number. The remaining character is rescanned and preserved by another alternative.</a:t>
            </a:r>
          </a:p>
          <a:p/>
          <a:p>
            <a:r>
              <a:t>RESPONSIBLE FILES / EVIDENCE</a:t>
            </a:r>
          </a:p>
          <a:p>
            <a:r>
              <a:t>compiler/lexer/tokenizer.py</a:t>
            </a:r>
          </a:p>
          <a:p>
            <a:r>
              <a:t>docs/diagrams/automaton-lexer.puml</a:t>
            </a:r>
          </a:p>
          <a:p>
            <a:r>
              <a:t>docs/report-data/lexer-controls.tex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073 / 100 - The parser adds a stack</a:t>
            </a:r>
          </a:p>
          <a:p/>
          <a:p>
            <a:r>
              <a:t>The diagram uses buffered lookahead states q[a], one finite control state for each possible category or end marker. The implementation inspects categories[position] and advances only when matching. This is an equivalent recognition model, not a literal list of Python classes or a claim of unlimited memory.</a:t>
            </a:r>
          </a:p>
          <a:p/>
          <a:p>
            <a:r>
              <a:t>RESPONSIBLE FILES / EVIDENCE</a:t>
            </a:r>
          </a:p>
          <a:p>
            <a:r>
              <a:t>compiler/parser/predictive.py</a:t>
            </a:r>
          </a:p>
          <a:p>
            <a:r>
              <a:t>docs/diagrams/automaton-parser.puml</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074 / 100 - The top of the stack is on the right</a:t>
            </a:r>
          </a:p>
          <a:p/>
          <a:p>
            <a:r>
              <a:t>The actual code initializes stack = [END, analysis['start_symbol']]. Popping the start symbol and extending with reversed(['Clause', 'Utterance_LF1']) leaves Clause at the rightmost top. The slide abbreviates long names only where the visual needs it.</a:t>
            </a:r>
          </a:p>
          <a:p/>
          <a:p>
            <a:r>
              <a:t>RESPONSIBLE FILES / EVIDENCE</a:t>
            </a:r>
          </a:p>
          <a:p>
            <a:r>
              <a:t>compiler/parser/predictive.py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075 / 100 - One table entry controls expansion</a:t>
            </a:r>
          </a:p>
          <a:p/>
          <a:p>
            <a:r>
              <a:t>The snippet is a focused excerpt with simplified table access and abbreviated trace text. The actual function checks that the row contains the lookahead and enforces the stack limit before applying the production. Conflicting table cells are never selected.</a:t>
            </a:r>
          </a:p>
          <a:p/>
          <a:p>
            <a:r>
              <a:t>RESPONSIBLE FILES / EVIDENCE</a:t>
            </a:r>
          </a:p>
          <a:p>
            <a:r>
              <a:t>compiler/parser/predictive.py</a:t>
            </a:r>
          </a:p>
          <a:p>
            <a:r>
              <a:t>compiler/parser/analysis.py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076 / 100 - A terminal match consumes one category</a:t>
            </a:r>
          </a:p>
          <a:p/>
          <a:p>
            <a:r>
              <a:t>This is the first terminal match in S02. FF abbreviates FRENCH_FUNCTION_WORD. Trace snapshots precede their actions, so the next trace row shows the changed stack and remaining input.</a:t>
            </a:r>
          </a:p>
          <a:p/>
          <a:p>
            <a:r>
              <a:t>RESPONSIBLE FILES / EVIDENCE</a:t>
            </a:r>
          </a:p>
          <a:p>
            <a:r>
              <a:t>compiler/parser/predictive.py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077 / 100 - Walk the first four S02 actions</a:t>
            </a:r>
          </a:p>
          <a:p/>
          <a:p>
            <a:r>
              <a:t>Explain each row while pointing at the rightmost stack item. The regression tests verify consecutive trace transitions, including reversed RHS pushes, non-consuming expansion and one-token matching. See slide 28 for the reading convention.</a:t>
            </a:r>
          </a:p>
          <a:p/>
          <a:p>
            <a:r>
              <a:t>RESPONSIBLE FILES / EVIDENCE</a:t>
            </a:r>
          </a:p>
          <a:p>
            <a:r>
              <a:t>compiler/parser/predictive.py</a:t>
            </a:r>
          </a:p>
          <a:p>
            <a:r>
              <a:t>docs/evidence/final-analysis-20260927.json</a:t>
            </a:r>
          </a:p>
          <a:p>
            <a:r>
              <a:t>tools/tests/test_report_evidence.py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078 / 100 - Acceptance and rejection are explicit</a:t>
            </a:r>
          </a:p>
          <a:p/>
          <a:p>
            <a:r>
              <a:t>The accept path retains the bottom marker; it does not require an empty stack. A rejection includes an error and trace. It is still a valid computational result that the public app can store.</a:t>
            </a:r>
          </a:p>
          <a:p/>
          <a:p>
            <a:r>
              <a:t>RESPONSIBLE FILES / EVIDENCE</a:t>
            </a:r>
          </a:p>
          <a:p>
            <a:r>
              <a:t>compiler/parser/predictive.py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079 / 100 - Bounds protect the parser</a:t>
            </a:r>
          </a:p>
          <a:p/>
          <a:p>
            <a:r>
              <a:t>The parser also rejects malformed token structures, unsupported categories, conflicts, unresolved left recursion and repeated stack/input configurations. The 4,000-character analyzer request bound is a separate UI/API limit.</a:t>
            </a:r>
          </a:p>
          <a:p/>
          <a:p>
            <a:r>
              <a:t>RESPONSIBLE FILES / EVIDENCE</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080 / 100 - Four authored compiler classes, many functions</a:t>
            </a:r>
          </a:p>
          <a:p/>
          <a:p>
            <a:r>
              <a:t>The class diagram in the SDD verifies these four authored compiler runtime classes. Lexer, Parser and Grammar service classes are not invented. Grammar itself is a dictionary type alias and the main algorithms are module functions.</a:t>
            </a:r>
          </a:p>
          <a:p/>
          <a:p>
            <a:r>
              <a:t>RESPONSIBLE FILES / EVIDENCE</a:t>
            </a:r>
          </a:p>
          <a:p>
            <a:r>
              <a:t>docs/diagrams/class-compiler.puml</a:t>
            </a:r>
          </a:p>
          <a:p>
            <a:r>
              <a:t>compiler/lexer/tokenizer.py</a:t>
            </a:r>
          </a:p>
          <a:p>
            <a:r>
              <a:t>compiler/parser/analysis.py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081 / 100 - Shared storage is not an account</a:t>
            </a:r>
          </a:p>
          <a:p/>
          <a:p>
            <a:r>
              <a:t>The active public database is under data_dir/shared-workspace. A stable internal public actor supports identifiers and idempotency, but it is not a fabricated user account. Public responses redact legacy ownership.</a:t>
            </a:r>
          </a:p>
          <a:p/>
          <a:p>
            <a:r>
              <a:t>RESPONSIBLE FILES / EVIDENCE</a:t>
            </a:r>
          </a:p>
          <a:p>
            <a:r>
              <a:t>backend/public_access.py</a:t>
            </a:r>
          </a:p>
          <a:p>
            <a:r>
              <a:t>backend/shared_workspace.py</a:t>
            </a:r>
          </a:p>
          <a:p>
            <a:r>
              <a:t>backend/workspaces.py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082 / 100 - Save once, retry safely</a:t>
            </a:r>
          </a:p>
          <a:p/>
          <a:p>
            <a:r>
              <a:t>save_analyzer_request uses a BEGIN IMMEDIATE transaction for analyzer_tests and test_requests. Repeating the same request ID with the same payload returns the existing test. Reusing it with a different payload causes a conflict.</a:t>
            </a:r>
          </a:p>
          <a:p/>
          <a:p>
            <a:r>
              <a:t>RESPONSIBLE FILES / EVIDENCE</a:t>
            </a:r>
          </a:p>
          <a:p>
            <a:r>
              <a:t>backend/analyzer_history.py</a:t>
            </a:r>
          </a:p>
          <a:p>
            <a:r>
              <a:t>backend/shared_workspace.py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083 / 100 - Same retry versus a new stale request</a:t>
            </a:r>
          </a:p>
          <a:p/>
          <a:p>
            <a:r>
              <a:t>This subtle distinction preserves recoverability when the first response was lost. An identical retry is allowed to find its previous result. It does not authorize arbitrary new tests against a stale or editable browser grammar.</a:t>
            </a:r>
          </a:p>
          <a:p/>
          <a:p>
            <a:r>
              <a:t>RESPONSIBLE FILES / EVIDENCE</a:t>
            </a:r>
          </a:p>
          <a:p>
            <a:r>
              <a:t>backend/public_access.py</a:t>
            </a:r>
          </a:p>
          <a:p>
            <a:r>
              <a:t>backend/analyzer_history.py</a:t>
            </a:r>
          </a:p>
          <a:p>
            <a:r>
              <a:t>frontend/src/FrancAnalyzer.tsx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084 / 100 - What is stored in a test?</a:t>
            </a:r>
          </a:p>
          <a:p/>
          <a:p>
            <a:r>
              <a:t>RecordedTest and related models validate internal consistency, including the relationship between tokens, parser consumption and vocabulary approval. Public snapshots are not replaced just because reference data later changes.</a:t>
            </a:r>
          </a:p>
          <a:p/>
          <a:p>
            <a:r>
              <a:t>RESPONSIBLE FILES / EVIDENCE</a:t>
            </a:r>
          </a:p>
          <a:p>
            <a:r>
              <a:t>backend/analyzer_models.py</a:t>
            </a:r>
          </a:p>
          <a:p>
            <a:r>
              <a:t>backend/shared_workspace.py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085 / 100 - Web SQLite and desktop CSV are different</a:t>
            </a:r>
          </a:p>
          <a:p/>
          <a:p>
            <a:r>
              <a:t>Legacy helper modules and private compatibility code remain in the repository. Their existence does not mean public visitors can invoke them. This slide explicitly separates active deployment architecture from retained local tooling.</a:t>
            </a:r>
          </a:p>
          <a:p/>
          <a:p>
            <a:r>
              <a:t>RESPONSIBLE FILES / EVIDENCE</a:t>
            </a:r>
          </a:p>
          <a:p>
            <a:r>
              <a:t>backend/shared_workspace.py</a:t>
            </a:r>
          </a:p>
          <a:p>
            <a:r>
              <a:t>backend/workspaces.py</a:t>
            </a:r>
          </a:p>
          <a:p>
            <a:r>
              <a:t>data_collector/dataset.py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086 / 100 - Read-only rules live on the server</a:t>
            </a:r>
          </a:p>
          <a:p/>
          <a:p>
            <a:r>
              <a:t>Health is excluded from the public rate limit. The backend combines path/method allowlisting, Origin and CSRF validation, rate limiting and storage controls. This is a behavior explanation, not a new security certification.</a:t>
            </a:r>
          </a:p>
          <a:p/>
          <a:p>
            <a:r>
              <a:t>RESPONSIBLE FILES / EVIDENCE</a:t>
            </a:r>
          </a:p>
          <a:p>
            <a:r>
              <a:t>backend/public_access.py</a:t>
            </a:r>
          </a:p>
          <a:p>
            <a:r>
              <a:t>backend/rate_limits.py</a:t>
            </a:r>
          </a:p>
          <a:p>
            <a:r>
              <a:t>backend/tests/test_public_access.py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087 / 100 - Recorded audio is retrieved, not generated</a:t>
            </a:r>
          </a:p>
          <a:p/>
          <a:p>
            <a:r>
              <a:t>The public app does not record a microphone, clone a voice, synthesize browser speech or transcribe audio. Retained recorder components and private upload routes must not be presented as current public capabilities.</a:t>
            </a:r>
          </a:p>
          <a:p/>
          <a:p>
            <a:r>
              <a:t>RESPONSIBLE FILES / EVIDENCE</a:t>
            </a:r>
          </a:p>
          <a:p>
            <a:r>
              <a:t>backend/audio_api.py</a:t>
            </a:r>
          </a:p>
          <a:p>
            <a:r>
              <a:t>backend/readings_api.py</a:t>
            </a:r>
          </a:p>
          <a:p>
            <a:r>
              <a:t>frontend/src/RecordedReadings.tsx</a:t>
            </a:r>
          </a:p>
          <a:p>
            <a:r>
              <a:t>frontend/src/voice.ts</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088 / 100 - HTTPS outside, port 2021 inside</a:t>
            </a:r>
          </a:p>
          <a:p/>
          <a:p>
            <a:r>
              <a:t>The documented VPS is 109.199.120.38, with code under /var/www/francanglaiscompiler and camfranglais.service. Port 2021 is the loopback upstream, not the public URL. The source describes the intended topology; the presentation session did not change the VPS or certify recovery and uptime.</a:t>
            </a:r>
          </a:p>
          <a:p/>
          <a:p>
            <a:r>
              <a:t>RESPONSIBLE FILES / EVIDENCE</a:t>
            </a:r>
          </a:p>
          <a:p>
            <a:r>
              <a:t>README.md</a:t>
            </a:r>
          </a:p>
          <a:p>
            <a:r>
              <a:t>backend/web.py</a:t>
            </a:r>
          </a:p>
          <a:p>
            <a:r>
              <a:t>backend/config.py</a:t>
            </a:r>
          </a:p>
          <a:p>
            <a:r>
              <a:t>tools/run_app.py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089 / 100 - Run and configure the application</a:t>
            </a:r>
          </a:p>
          <a:p/>
          <a:p>
            <a:r>
              <a:t>The local guide requires Python 3.11+ and a supported Node.js version. The launcher can explicitly build the frontend, rejects unsafe production reload and does not silently install dependencies. Do not replace existing shared data with demonstration fixtures.</a:t>
            </a:r>
          </a:p>
          <a:p/>
          <a:p>
            <a:r>
              <a:t>RESPONSIBLE FILES / EVIDENCE</a:t>
            </a:r>
          </a:p>
          <a:p>
            <a:r>
              <a:t>start.ps1</a:t>
            </a:r>
          </a:p>
          <a:p>
            <a:r>
              <a:t>tools/run_app.py</a:t>
            </a:r>
          </a:p>
          <a:p>
            <a:r>
              <a:t>backend/config.py</a:t>
            </a:r>
          </a:p>
          <a:p>
            <a:r>
              <a:t>backend/main.py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090 / 100 - Recovery does not rewrite history</a:t>
            </a:r>
          </a:p>
          <a:p/>
          <a:p>
            <a:r>
              <a:t>These are practical recovery explanations, not actions the presentation generator performed. The screenshots were read-only and all non-read API requests were blocked during capture.</a:t>
            </a:r>
          </a:p>
          <a:p/>
          <a:p>
            <a:r>
              <a:t>RESPONSIBLE FILES / EVIDENCE</a:t>
            </a:r>
          </a:p>
          <a:p>
            <a:r>
              <a:t>frontend/src/FrancAnalyzer.tsx</a:t>
            </a:r>
          </a:p>
          <a:p>
            <a:r>
              <a:t>frontend/src/api.ts</a:t>
            </a:r>
          </a:p>
          <a:p>
            <a:r>
              <a:t>backend/analyzer_history.py</a:t>
            </a:r>
          </a:p>
          <a:p>
            <a:r>
              <a:t>backend/public_access.py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091 / 100 - A fixed study, not a live benchmark</a:t>
            </a:r>
          </a:p>
          <a:p/>
          <a:p>
            <a:r>
              <a:t>The fixed corpus is reproduced from the committed snapshot and exact regression cases. These values are independent of live history totals. The source strings were not corrected to improve the acceptance rate.</a:t>
            </a:r>
          </a:p>
          <a:p/>
          <a:p>
            <a:r>
              <a:t>RESPONSIBLE FILES / EVIDENCE</a:t>
            </a:r>
          </a:p>
          <a:p>
            <a:r>
              <a:t>compiler/tests/yaounde_cases.py</a:t>
            </a:r>
          </a:p>
          <a:p>
            <a:r>
              <a:t>docs/evidence/final-analysis-20260927.json</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092 / 100 - Ten of twelve fit the saved grammar</a:t>
            </a:r>
          </a:p>
          <a:p/>
          <a:p>
            <a:r>
              <a:t>The visual is computed from the original-result accepted flags. The ratio does not establish performance on unseen data, correctness of a supplied meaning, or authenticity of collection. A broader independent evaluation is a separate future task.</a:t>
            </a:r>
          </a:p>
          <a:p/>
          <a:p>
            <a:r>
              <a:t>RESPONSIBLE FILES / EVIDENCE</a:t>
            </a:r>
          </a:p>
          <a:p>
            <a:r>
              <a:t>docs/evidence/final-analysis-20260927.json</a:t>
            </a:r>
          </a:p>
          <a:p>
            <a:r>
              <a:t>compiler/parser/yaounde.py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093 / 100 - Boundary cases expose the rules</a:t>
            </a:r>
          </a:p>
          <a:p/>
          <a:p>
            <a:r>
              <a:t>These inputs are explicitly constructed tests, not field statements. Empty input, a noun fragment, an incomplete subject, repeated punctuation, an unsupported order and UNKNOWN reject; one optional punctuation token accepts. The generator reads their actual outcomes from the evidence.</a:t>
            </a:r>
          </a:p>
          <a:p/>
          <a:p>
            <a:r>
              <a:t>RESPONSIBLE FILES / EVIDENCE</a:t>
            </a:r>
          </a:p>
          <a:p>
            <a:r>
              <a:t>docs/evidence/final-analysis-20260927.json</a:t>
            </a:r>
          </a:p>
          <a:p>
            <a:r>
              <a:t>compiler/tests/test_yaounde_grammar.py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094 / 100 - Evidence has a clear boundary</a:t>
            </a:r>
          </a:p>
          <a:p/>
          <a:p>
            <a:r>
              <a:t>The dataset's manual-transcription flag is false and its collection method is blank. Screenshots demonstrate working software but cannot prove the origin of the utterances. This presentation does not invent missing human evidence.</a:t>
            </a:r>
          </a:p>
          <a:p/>
          <a:p>
            <a:r>
              <a:t>RESPONSIBLE FILES / EVIDENCE</a:t>
            </a:r>
          </a:p>
          <a:p>
            <a:r>
              <a:t>docs/evidence/final-corpus-20260927.json</a:t>
            </a:r>
          </a:p>
          <a:p>
            <a:r>
              <a:t>docs/final-report.tex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095 / 100 - Tests check different layers</a:t>
            </a:r>
          </a:p>
          <a:p/>
          <a:p>
            <a:r>
              <a:t>The documentation release recorded 33 focused documentation/evidence/corpus passes. Earlier app-release tests are dated evidence, not an uninterrupted run performed for this deck. A known old expected-category regression remains in compiler/tests/test_parser.py; do not claim fully green application CI.</a:t>
            </a:r>
          </a:p>
          <a:p/>
          <a:p>
            <a:r>
              <a:t>RESPONSIBLE FILES / EVIDENCE</a:t>
            </a:r>
          </a:p>
          <a:p>
            <a:r>
              <a:t>compiler/tests/test_yaounde_grammar.py</a:t>
            </a:r>
          </a:p>
          <a:p>
            <a:r>
              <a:t>backend/tests/test_public_access.py</a:t>
            </a:r>
          </a:p>
          <a:p>
            <a:r>
              <a:t>frontend/tests/unit/FrancAnalyzer.test.tsx</a:t>
            </a:r>
          </a:p>
          <a:p>
            <a:r>
              <a:t>tools/tests/test_report_evidence.py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096 / 100 - File map: UI and the request path</a:t>
            </a:r>
          </a:p>
          <a:p/>
          <a:p>
            <a:r>
              <a:t>Use the filenames to answer implementation questions without searching the entire repository. The source paths in the notes are relative to the same checkout that accompanies this deck.</a:t>
            </a:r>
          </a:p>
          <a:p/>
          <a:p>
            <a:r>
              <a:t>RESPONSIBLE FILES / EVIDENCE</a:t>
            </a:r>
          </a:p>
          <a:p>
            <a:r>
              <a:t>frontend/src/FrancAnalyzer.tsx</a:t>
            </a:r>
          </a:p>
          <a:p>
            <a:r>
              <a:t>frontend/src/api.ts</a:t>
            </a:r>
          </a:p>
          <a:p>
            <a:r>
              <a:t>backend/analyzer_api.py</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097 / 100 - File map: compiler and persistence</a:t>
            </a:r>
          </a:p>
          <a:p/>
          <a:p>
            <a:r>
              <a:t>These files are the key cross-section for understanding the full application. For complete class relationships and activated sequence diagrams, open the SDD and the separate 37-sheet UML and automata atlas.</a:t>
            </a:r>
          </a:p>
          <a:p/>
          <a:p>
            <a:r>
              <a:t>RESPONSIBLE FILES / EVIDENCE</a:t>
            </a:r>
          </a:p>
          <a:p>
            <a:r>
              <a:t>compiler/lexer/tokenizer.py</a:t>
            </a:r>
          </a:p>
          <a:p>
            <a:r>
              <a:t>compiler/parser/analysis.py</a:t>
            </a:r>
          </a:p>
          <a:p>
            <a:r>
              <a:t>compiler/parser/predictive.py</a:t>
            </a:r>
          </a:p>
          <a:p>
            <a:r>
              <a:t>backend/shared_workspace.py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098 / 100 - A safe demonstration in five moves</a:t>
            </a:r>
          </a:p>
          <a:p/>
          <a:p>
            <a:r>
              <a:t>For a live write demonstration, first explain that pressing Analyze publicly retains the text and result. Never submit personal or confidential content. The rehearsal path here avoids new saves while still showing genuine computed evidence.</a:t>
            </a:r>
          </a:p>
          <a:p/>
          <a:p>
            <a:r>
              <a:t>RESPONSIBLE FILES / EVIDENCE</a:t>
            </a:r>
          </a:p>
          <a:p>
            <a:r>
              <a:t>frontend/src/App.tsx</a:t>
            </a:r>
          </a:p>
          <a:p>
            <a:r>
              <a:t>frontend/src/FrancAnalyzer.tsx</a:t>
            </a:r>
          </a:p>
          <a:p>
            <a:r>
              <a:t>frontend/src/Dictionary.tsx</a:t>
            </a:r>
          </a:p>
          <a:p>
            <a:r>
              <a:t>docs/README.md</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099 / 100 - Present the story; keep the depth</a:t>
            </a:r>
          </a:p>
          <a:p/>
          <a:p>
            <a:r>
              <a:t>The coursework calls for a ten-minute presentation: roughly three minutes per member and one shared minute. The group can use this ten-slide route and keep the remaining slides as technical backup. This suggestion does not assign or attest personal contributions.</a:t>
            </a:r>
          </a:p>
          <a:p/>
          <a:p>
            <a:r>
              <a:t>RESPONSIBLE FILES / EVIDENCE</a:t>
            </a:r>
          </a:p>
          <a:p>
            <a:r>
              <a:t>docs/final-report.tex</a:t>
            </a:r>
          </a:p>
          <a:p>
            <a:r>
              <a:t>docs/README.md</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100 / 100 - From language to evidence.</a:t>
            </a:r>
          </a:p>
          <a:p/>
          <a:p>
            <a:r>
              <a:t>Close by emphasizing transparent rules, two distinct verdicts and immutable evidence. The app is available at https://camfranglais.duckdns.org. The PowerPoint, source files, screenshots and technical documentation accompany one another; no unconfirmed fieldwork or fully green application CI is claimed.</a:t>
            </a:r>
          </a:p>
          <a:p/>
          <a:p>
            <a:r>
              <a:t>RESPONSIBLE FILES / EVIDENCE</a:t>
            </a:r>
          </a:p>
          <a:p>
            <a:r>
              <a:t>README.md</a:t>
            </a:r>
          </a:p>
          <a:p>
            <a:r>
              <a:t>docs/README.md</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README.md" TargetMode="External"/><Relationship Id="rId4" Type="http://schemas.openxmlformats.org/officeDocument/2006/relationships/hyperlink" Target="../docs/final-report.tex"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document-style.tex"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README.md" TargetMode="External"/><Relationship Id="rId3" Type="http://schemas.openxmlformats.org/officeDocument/2006/relationships/hyperlink" Target="../docs/sdd.tex"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compiler/lexer/tokenizer.py" TargetMode="External"/><Relationship Id="rId4" Type="http://schemas.openxmlformats.org/officeDocument/2006/relationships/hyperlink" Target="../compiler/lexer/languages.py" TargetMode="Externa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notesSlide" Target="../notesSlides/notesSlide5.xml"/><Relationship Id="rId4" Type="http://schemas.openxmlformats.org/officeDocument/2006/relationships/slide" Target="slide11.xml"/><Relationship Id="rId5" Type="http://schemas.openxmlformats.org/officeDocument/2006/relationships/slide" Target="slide21.xml"/><Relationship Id="rId6" Type="http://schemas.openxmlformats.org/officeDocument/2006/relationships/slide" Target="slide31.xml"/><Relationship Id="rId7" Type="http://schemas.openxmlformats.org/officeDocument/2006/relationships/slide" Target="slide35.xml"/><Relationship Id="rId8" Type="http://schemas.openxmlformats.org/officeDocument/2006/relationships/slide" Target="slide3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backend/analyzer.py" TargetMode="External"/><Relationship Id="rId4" Type="http://schemas.openxmlformats.org/officeDocument/2006/relationships/hyperlink" Target="../backend/analyzer_history.py"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VocabularyVerdict.tsx" TargetMode="External"/><Relationship Id="rId3" Type="http://schemas.openxmlformats.org/officeDocument/2006/relationships/hyperlink" Target="../backend/analyzer_models.py" TargetMode="External"/><Relationship Id="rId4" Type="http://schemas.openxmlformats.org/officeDocument/2006/relationships/hyperlink" Target="../compiler/parser/predictive.py"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public_access.py" TargetMode="External"/><Relationship Id="rId3" Type="http://schemas.openxmlformats.org/officeDocument/2006/relationships/hyperlink" Target="../frontend/src/PublicSession.tsx"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hyperlink" Target="../backend/analyzer_api.py" TargetMode="External"/><Relationship Id="rId4" Type="http://schemas.openxmlformats.org/officeDocument/2006/relationships/hyperlink" Target="../compiler/lexer/tokenizer.py" TargetMode="External"/><Relationship Id="rId5" Type="http://schemas.openxmlformats.org/officeDocument/2006/relationships/hyperlink" Target="../compiler/parser/predictive.py" TargetMode="Externa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hyperlink" Target="../docs/evidence/final-analysis-20260927.json" TargetMode="External"/><Relationship Id="rId4" Type="http://schemas.openxmlformats.org/officeDocument/2006/relationships/hyperlink" Target="../docs/README.md" TargetMode="Externa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frontend/src/FrancAnalyzer.tsx" TargetMode="External"/><Relationship Id="rId4" Type="http://schemas.openxmlformats.org/officeDocument/2006/relationships/hyperlink" Target="../frontend/src/PublicSession.tsx"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frontend/src/FrancAnalyzer.tsx" TargetMode="External"/><Relationship Id="rId4" Type="http://schemas.openxmlformats.org/officeDocument/2006/relationships/hyperlink" Target="../frontend/src/types.ts" TargetMode="External"/><Relationship Id="rId5" Type="http://schemas.openxmlformats.org/officeDocument/2006/relationships/hyperlink" Target="../backend/analyzer_models.py" TargetMode="Externa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backend/analyzer_api.py" TargetMode="External"/><Relationship Id="rId4" Type="http://schemas.openxmlformats.org/officeDocument/2006/relationships/hyperlink" Target="../backend/analyzer_history.py" TargetMode="External"/><Relationship Id="rId5" Type="http://schemas.openxmlformats.org/officeDocument/2006/relationships/hyperlink" Target="../backend/shared_workspace.py" TargetMode="Externa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backend/analyzer_models.py" TargetMode="External"/><Relationship Id="rId4" Type="http://schemas.openxmlformats.org/officeDocument/2006/relationships/hyperlink" Target="../backend/analyzer_history.py" TargetMode="Externa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frontend/src/useRequest.ts" TargetMode="External"/><Relationship Id="rId4" Type="http://schemas.openxmlformats.org/officeDocument/2006/relationships/hyperlink" Target="../frontend/src/api.ts" TargetMode="Externa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analyzer_models.py" TargetMode="External"/><Relationship Id="rId3" Type="http://schemas.openxmlformats.org/officeDocument/2006/relationships/hyperlink" Target="../backend/analyzer_history.py" TargetMode="External"/><Relationship Id="rId4" Type="http://schemas.openxmlformats.org/officeDocument/2006/relationships/hyperlink" Target="../backend/shared_workspace.py" TargetMode="Externa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parser/predictive.py" TargetMode="External"/><Relationship Id="rId4" Type="http://schemas.openxmlformats.org/officeDocument/2006/relationships/hyperlink" Target="../docs/evidence/final-analysis-20260927.json" TargetMode="Externa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tests/yaounde_cases.py" TargetMode="External"/><Relationship Id="rId3" Type="http://schemas.openxmlformats.org/officeDocument/2006/relationships/hyperlink" Target="../compiler/parser/predictive.py" TargetMode="External"/><Relationship Id="rId4" Type="http://schemas.openxmlformats.org/officeDocument/2006/relationships/hyperlink" Target="../docs/evidence/final-analysis-20260927.json" TargetMode="Externa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hyperlink" Target="../frontend/src/Collection.tsx" TargetMode="External"/><Relationship Id="rId4" Type="http://schemas.openxmlformats.org/officeDocument/2006/relationships/hyperlink" Target="../frontend/src/Dictionary.tsx" TargetMode="External"/><Relationship Id="rId5" Type="http://schemas.openxmlformats.org/officeDocument/2006/relationships/hyperlink" Target="../frontend/src/Examples.tsx" TargetMode="Externa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frontend/src/api.ts" TargetMode="External"/><Relationship Id="rId4" Type="http://schemas.openxmlformats.org/officeDocument/2006/relationships/hyperlink" Target="../backend/analyzer_api.py" TargetMode="External"/><Relationship Id="rId5" Type="http://schemas.openxmlformats.org/officeDocument/2006/relationships/hyperlink" Target="../backend/analyzer_history.py" TargetMode="Externa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frontend/src/Analysis.tsx" TargetMode="External"/><Relationship Id="rId4" Type="http://schemas.openxmlformats.org/officeDocument/2006/relationships/hyperlink" Target="../frontend/src/TestStatistics.tsx" TargetMode="External"/><Relationship Id="rId5" Type="http://schemas.openxmlformats.org/officeDocument/2006/relationships/hyperlink" Target="../frontend/src/CourseworkResults.tsx" TargetMode="Externa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TestStatistics.tsx" TargetMode="External"/><Relationship Id="rId3" Type="http://schemas.openxmlformats.org/officeDocument/2006/relationships/hyperlink" Target="../backend/analyzer_history.py" TargetMode="External"/><Relationship Id="rId4" Type="http://schemas.openxmlformats.org/officeDocument/2006/relationships/hyperlink" Target="../docs/evidence/final-analysis-20260927.json" TargetMode="Externa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VocabularyVerdict.tsx" TargetMode="External"/><Relationship Id="rId3" Type="http://schemas.openxmlformats.org/officeDocument/2006/relationships/hyperlink" Target="../backend/analyzer_models.py"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yaounde.py" TargetMode="External"/><Relationship Id="rId3" Type="http://schemas.openxmlformats.org/officeDocument/2006/relationships/hyperlink" Target="../compiler/parser/predictive.py" TargetMode="External"/><Relationship Id="rId4" Type="http://schemas.openxmlformats.org/officeDocument/2006/relationships/hyperlink" Target="../docs/evidence/final-analysis-20260927.json" TargetMode="Externa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evidence/final-analysis-20260927.json" TargetMode="External"/><Relationship Id="rId3" Type="http://schemas.openxmlformats.org/officeDocument/2006/relationships/hyperlink" Target="../tools/build_report_evidence.py"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evidence/final-analysis-20260927.json" TargetMode="External"/><Relationship Id="rId3" Type="http://schemas.openxmlformats.org/officeDocument/2006/relationships/hyperlink" Target="../tools/build_report_evidence.py"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frontend/src/CourseworkResults.tsx" TargetMode="External"/><Relationship Id="rId4" Type="http://schemas.openxmlformats.org/officeDocument/2006/relationships/hyperlink" Target="../frontend/src/VocabularyVerdict.tsx" TargetMode="External"/><Relationship Id="rId5" Type="http://schemas.openxmlformats.org/officeDocument/2006/relationships/hyperlink" Target="../backend/analyzer_models.py" TargetMode="Externa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hyperlink" Target="../frontend/src/CourseworkResults.tsx"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CourseworkResults.tsx" TargetMode="External"/><Relationship Id="rId3" Type="http://schemas.openxmlformats.org/officeDocument/2006/relationships/hyperlink" Target="../compiler/parser/service.py" TargetMode="External"/><Relationship Id="rId4" Type="http://schemas.openxmlformats.org/officeDocument/2006/relationships/hyperlink" Target="../compiler/parser/analysis.py" TargetMode="Externa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nalysis.tsx" TargetMode="External"/><Relationship Id="rId3" Type="http://schemas.openxmlformats.org/officeDocument/2006/relationships/hyperlink" Target="../frontend/src/TestStatistics.tsx" TargetMode="External"/><Relationship Id="rId4" Type="http://schemas.openxmlformats.org/officeDocument/2006/relationships/hyperlink" Target="../frontend/src/CourseworkResults.tsx" TargetMode="External"/><Relationship Id="rId5" Type="http://schemas.openxmlformats.org/officeDocument/2006/relationships/hyperlink" Target="../backend/analyzer_history.py" TargetMode="Externa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frontend/src/Collection.tsx" TargetMode="External"/><Relationship Id="rId4" Type="http://schemas.openxmlformats.org/officeDocument/2006/relationships/hyperlink" Target="../backend/collection.py" TargetMode="Externa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Collection.tsx" TargetMode="External"/><Relationship Id="rId3" Type="http://schemas.openxmlformats.org/officeDocument/2006/relationships/hyperlink" Target="../backend/schemas.py" TargetMode="External"/><Relationship Id="rId4" Type="http://schemas.openxmlformats.org/officeDocument/2006/relationships/hyperlink" Target="../backend/audio_api.py" TargetMode="Externa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frontend/src/Collection.tsx" TargetMode="External"/><Relationship Id="rId4" Type="http://schemas.openxmlformats.org/officeDocument/2006/relationships/hyperlink" Target="../backend/collection.py" TargetMode="Externa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evidence/final-corpus-20260927.json"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frontend/src/Dictionary.tsx" TargetMode="External"/><Relationship Id="rId4" Type="http://schemas.openxmlformats.org/officeDocument/2006/relationships/hyperlink" Target="../backend/dictionary.py" TargetMode="External"/><Relationship Id="rId5" Type="http://schemas.openxmlformats.org/officeDocument/2006/relationships/hyperlink" Target="../dictionary/full_lexicon_classified.csv" TargetMode="Externa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hyperlink" Target="../frontend/src/Dictionary.tsx" TargetMode="External"/><Relationship Id="rId4" Type="http://schemas.openxmlformats.org/officeDocument/2006/relationships/hyperlink" Target="../backend/dictionary.py" TargetMode="External"/><Relationship Id="rId5" Type="http://schemas.openxmlformats.org/officeDocument/2006/relationships/hyperlink" Target="../dictionary/full_lexicon_classified.csv" TargetMode="Externa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lexer/reference.py" TargetMode="External"/><Relationship Id="rId4" Type="http://schemas.openxmlformats.org/officeDocument/2006/relationships/hyperlink" Target="../compiler/lexer/learned.py" TargetMode="Externa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frontend/src/Examples.tsx" TargetMode="External"/><Relationship Id="rId4" Type="http://schemas.openxmlformats.org/officeDocument/2006/relationships/hyperlink" Target="../backend/examples.py" TargetMode="Externa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RecordedReadings.tsx" TargetMode="External"/><Relationship Id="rId3" Type="http://schemas.openxmlformats.org/officeDocument/2006/relationships/hyperlink" Target="../frontend/src/voice.ts" TargetMode="External"/><Relationship Id="rId4" Type="http://schemas.openxmlformats.org/officeDocument/2006/relationships/hyperlink" Target="../backend/readings_api.py" TargetMode="Externa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Collection.tsx" TargetMode="External"/><Relationship Id="rId3" Type="http://schemas.openxmlformats.org/officeDocument/2006/relationships/hyperlink" Target="../frontend/src/useReferenceSearch.ts" TargetMode="External"/><Relationship Id="rId4" Type="http://schemas.openxmlformats.org/officeDocument/2006/relationships/hyperlink" Target="../backend/dictionary.py" TargetMode="External"/><Relationship Id="rId5" Type="http://schemas.openxmlformats.org/officeDocument/2006/relationships/hyperlink" Target="../backend/examples.py" TargetMode="Externa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frontend/src/App.tsx" TargetMode="External"/><Relationship Id="rId4" Type="http://schemas.openxmlformats.org/officeDocument/2006/relationships/hyperlink" Target="../backend/main.py" TargetMode="External"/><Relationship Id="rId5" Type="http://schemas.openxmlformats.org/officeDocument/2006/relationships/hyperlink" Target="../compiler/parser/service.py" TargetMode="Externa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main.tsx" TargetMode="External"/><Relationship Id="rId3" Type="http://schemas.openxmlformats.org/officeDocument/2006/relationships/hyperlink" Target="../frontend/src/PublicSession.tsx" TargetMode="External"/><Relationship Id="rId4" Type="http://schemas.openxmlformats.org/officeDocument/2006/relationships/hyperlink" Target="../frontend/src/api.ts" TargetMode="External"/><Relationship Id="rId5" Type="http://schemas.openxmlformats.org/officeDocument/2006/relationships/hyperlink" Target="../backend/public_access.py" TargetMode="Externa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useRequest.ts" TargetMode="External"/><Relationship Id="rId3" Type="http://schemas.openxmlformats.org/officeDocument/2006/relationships/hyperlink" Target="../frontend/src/api.ts"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web.py" TargetMode="External"/><Relationship Id="rId3" Type="http://schemas.openxmlformats.org/officeDocument/2006/relationships/hyperlink" Target="../backend/main.py" TargetMode="External"/><Relationship Id="rId4" Type="http://schemas.openxmlformats.org/officeDocument/2006/relationships/hyperlink" Target="../tools/run_app.py" TargetMode="External"/><Relationship Id="rId5" Type="http://schemas.openxmlformats.org/officeDocument/2006/relationships/hyperlink" Target="../README.md" TargetMode="Externa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main.py" TargetMode="External"/><Relationship Id="rId3" Type="http://schemas.openxmlformats.org/officeDocument/2006/relationships/hyperlink" Target="../backend/analyzer_api.py" TargetMode="External"/><Relationship Id="rId4" Type="http://schemas.openxmlformats.org/officeDocument/2006/relationships/hyperlink" Target="../backend/public_access.py" TargetMode="External"/><Relationship Id="rId5" Type="http://schemas.openxmlformats.org/officeDocument/2006/relationships/hyperlink" Target="../backend/readings_api.py" TargetMode="Externa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public_access.py" TargetMode="External"/><Relationship Id="rId3" Type="http://schemas.openxmlformats.org/officeDocument/2006/relationships/hyperlink" Target="../frontend/src/PublicSession.tsx" TargetMode="Externa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public_access.py" TargetMode="External"/><Relationship Id="rId3" Type="http://schemas.openxmlformats.org/officeDocument/2006/relationships/hyperlink" Target="../backend/analyzer_history.py" TargetMode="External"/><Relationship Id="rId4" Type="http://schemas.openxmlformats.org/officeDocument/2006/relationships/hyperlink" Target="../frontend/src/api.ts" TargetMode="Externa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hyperlink" Target="../frontend/src/App.tsx" TargetMode="External"/><Relationship Id="rId5" Type="http://schemas.openxmlformats.org/officeDocument/2006/relationships/hyperlink" Target="../frontend/src/FrancAnalyzer.tsx" TargetMode="External"/><Relationship Id="rId6" Type="http://schemas.openxmlformats.org/officeDocument/2006/relationships/hyperlink" Target="../frontend/src/Collection.tsx" TargetMode="Externa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main.tsx" TargetMode="External"/><Relationship Id="rId3" Type="http://schemas.openxmlformats.org/officeDocument/2006/relationships/hyperlink" Target="../frontend/src/PublicSession.tsx" TargetMode="External"/><Relationship Id="rId4" Type="http://schemas.openxmlformats.org/officeDocument/2006/relationships/hyperlink" Target="../frontend/src/App.tsx" TargetMode="External"/><Relationship Id="rId5" Type="http://schemas.openxmlformats.org/officeDocument/2006/relationships/hyperlink" Target="../frontend/src/api.ts" TargetMode="Externa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compiler/lexer/tokenizer.py" TargetMode="External"/><Relationship Id="rId4" Type="http://schemas.openxmlformats.org/officeDocument/2006/relationships/hyperlink" Target="../compiler/lexer/lexicon.py" TargetMode="Externa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tools/tests/test_report_evidence.py" TargetMode="Externa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docs/report-data/lexer-controls.tex" TargetMode="Externa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lexer/lexicon.py" TargetMode="External"/><Relationship Id="rId4" Type="http://schemas.openxmlformats.org/officeDocument/2006/relationships/hyperlink" Target="../tools/tests/test_report_evidence.py" TargetMode="Externa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lexer/learned.py" TargetMode="External"/><Relationship Id="rId4" Type="http://schemas.openxmlformats.org/officeDocument/2006/relationships/hyperlink" Target="../compiler/lexer/reference.py" TargetMode="Externa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parser/yaounde.py" TargetMode="External"/><Relationship Id="rId4" Type="http://schemas.openxmlformats.org/officeDocument/2006/relationships/hyperlink" Target="../backend/analyzer_models.py" TargetMode="External"/><Relationship Id="rId5"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vocabulary.py" TargetMode="External"/><Relationship Id="rId3" Type="http://schemas.openxmlformats.org/officeDocument/2006/relationships/hyperlink" Target="../compiler/lexer/tokenizer.py" TargetMode="External"/><Relationship Id="rId4" Type="http://schemas.openxmlformats.org/officeDocument/2006/relationships/hyperlink" Target="../backend/analyzer_models.py" TargetMode="Externa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lexer/languages.py" TargetMode="External"/><Relationship Id="rId4" Type="http://schemas.openxmlformats.org/officeDocument/2006/relationships/hyperlink" Target="../compiler/lexer/reference.py" TargetMode="Externa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lexer/reference.py" TargetMode="External"/><Relationship Id="rId4" Type="http://schemas.openxmlformats.org/officeDocument/2006/relationships/hyperlink" Target="../compiler/lexer/learned.py" TargetMode="External"/><Relationship Id="rId5" Type="http://schemas.openxmlformats.org/officeDocument/2006/relationships/hyperlink" Target="../compiler/lexer/vocabulary.py" TargetMode="Externa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compiler/parser/grammar.py" TargetMode="External"/><Relationship Id="rId4" Type="http://schemas.openxmlformats.org/officeDocument/2006/relationships/hyperlink" Target="../compiler/parser/service.py" TargetMode="External"/><Relationship Id="rId5" Type="http://schemas.openxmlformats.org/officeDocument/2006/relationships/hyperlink" Target="../compiler/parser/predictive.py" TargetMode="Externa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yaounde.py" TargetMode="External"/><Relationship Id="rId3" Type="http://schemas.openxmlformats.org/officeDocument/2006/relationships/hyperlink" Target="../docs/evidence/final-corpus-20260927.json" TargetMode="Externa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service.py" TargetMode="External"/><Relationship Id="rId3" Type="http://schemas.openxmlformats.org/officeDocument/2006/relationships/hyperlink" Target="../compiler/parser/yaounde.py" TargetMode="External"/><Relationship Id="rId4" Type="http://schemas.openxmlformats.org/officeDocument/2006/relationships/hyperlink" Target="../docs/evidence/final-corpus-20260927.json" TargetMode="Externa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grammar.py" TargetMode="External"/><Relationship Id="rId3" Type="http://schemas.openxmlformats.org/officeDocument/2006/relationships/hyperlink" Target="../compiler/parser/analysis.py" TargetMode="External"/><Relationship Id="rId4" Type="http://schemas.openxmlformats.org/officeDocument/2006/relationships/hyperlink" Target="../compiler/parser/service.py" TargetMode="External"/><Relationship Id="rId5" Type="http://schemas.openxmlformats.org/officeDocument/2006/relationships/hyperlink" Target="../compiler/parser/predictive.py" TargetMode="Externa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yaounde.py" TargetMode="External"/><Relationship Id="rId3" Type="http://schemas.openxmlformats.org/officeDocument/2006/relationships/hyperlink" Target="../compiler/parser/analysis.py" TargetMode="Externa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yaounde.py" TargetMode="External"/><Relationship Id="rId3" Type="http://schemas.openxmlformats.org/officeDocument/2006/relationships/hyperlink" Target="../compiler/parser/analysis.py" TargetMode="Externa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analysis.py"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analysis.py" TargetMode="External"/><Relationship Id="rId3" Type="http://schemas.openxmlformats.org/officeDocument/2006/relationships/hyperlink" Target="../compiler/parser/grammar.py" TargetMode="Externa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analysis.py"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grammar.py" TargetMode="External"/><Relationship Id="rId3" Type="http://schemas.openxmlformats.org/officeDocument/2006/relationships/hyperlink" Target="../compiler/parser/analysis.py" TargetMode="External"/><Relationship Id="rId4" Type="http://schemas.openxmlformats.org/officeDocument/2006/relationships/hyperlink" Target="../compiler/parser/service.py" TargetMode="External"/><Relationship Id="rId5" Type="http://schemas.openxmlformats.org/officeDocument/2006/relationships/hyperlink" Target="../compiler/parser/predictive.py" TargetMode="Externa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compiler/lexer/tokenizer.py" TargetMode="External"/><Relationship Id="rId4" Type="http://schemas.openxmlformats.org/officeDocument/2006/relationships/hyperlink" Target="../docs/diagrams/automaton-lexer.puml" TargetMode="Externa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docs/diagrams/automaton-lexer.puml" TargetMode="External"/><Relationship Id="rId4" Type="http://schemas.openxmlformats.org/officeDocument/2006/relationships/hyperlink" Target="../docs/report-data/lexer-controls.tex" TargetMode="Externa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compiler/parser/predictive.py" TargetMode="External"/><Relationship Id="rId4" Type="http://schemas.openxmlformats.org/officeDocument/2006/relationships/hyperlink" Target="../docs/diagrams/automaton-parser.puml" TargetMode="External"/><Relationship Id="rId5"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hyperlink" Target="../compiler/parser/analysis.py" TargetMode="Externa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hyperlink" Target="../docs/evidence/final-analysis-20260927.json" TargetMode="External"/><Relationship Id="rId4" Type="http://schemas.openxmlformats.org/officeDocument/2006/relationships/hyperlink" Target="../tools/tests/test_report_evidence.py" TargetMode="External"/><Relationship Id="rId5"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parser/predictive.py" TargetMode="Externa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diagrams/class-compiler.puml" TargetMode="External"/><Relationship Id="rId3" Type="http://schemas.openxmlformats.org/officeDocument/2006/relationships/hyperlink" Target="../compiler/lexer/tokenizer.py" TargetMode="External"/><Relationship Id="rId4" Type="http://schemas.openxmlformats.org/officeDocument/2006/relationships/hyperlink" Target="../compiler/parser/analysis.py" TargetMode="External"/><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hyperlink" Target="../backend/public_access.py" TargetMode="External"/><Relationship Id="rId4" Type="http://schemas.openxmlformats.org/officeDocument/2006/relationships/hyperlink" Target="../backend/shared_workspace.py" TargetMode="External"/><Relationship Id="rId5" Type="http://schemas.openxmlformats.org/officeDocument/2006/relationships/hyperlink" Target="../backend/workspaces.py" TargetMode="Externa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analyzer_history.py" TargetMode="External"/><Relationship Id="rId3" Type="http://schemas.openxmlformats.org/officeDocument/2006/relationships/hyperlink" Target="../backend/shared_workspace.py" TargetMode="Externa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public_access.py" TargetMode="External"/><Relationship Id="rId3" Type="http://schemas.openxmlformats.org/officeDocument/2006/relationships/hyperlink" Target="../backend/analyzer_history.py" TargetMode="External"/><Relationship Id="rId4" Type="http://schemas.openxmlformats.org/officeDocument/2006/relationships/hyperlink" Target="../frontend/src/FrancAnalyzer.tsx" TargetMode="External"/><Relationship Id="rId5"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analyzer_models.py" TargetMode="External"/><Relationship Id="rId3" Type="http://schemas.openxmlformats.org/officeDocument/2006/relationships/hyperlink" Target="../backend/shared_workspace.py" TargetMode="Externa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shared_workspace.py" TargetMode="External"/><Relationship Id="rId3" Type="http://schemas.openxmlformats.org/officeDocument/2006/relationships/hyperlink" Target="../backend/workspaces.py" TargetMode="External"/><Relationship Id="rId4" Type="http://schemas.openxmlformats.org/officeDocument/2006/relationships/hyperlink" Target="../data_collector/dataset.py" TargetMode="Externa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public_access.py" TargetMode="External"/><Relationship Id="rId3" Type="http://schemas.openxmlformats.org/officeDocument/2006/relationships/hyperlink" Target="../backend/rate_limits.py" TargetMode="External"/><Relationship Id="rId4" Type="http://schemas.openxmlformats.org/officeDocument/2006/relationships/hyperlink" Target="../backend/tests/test_public_access.py" TargetMode="Externa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backend/audio_api.py" TargetMode="External"/><Relationship Id="rId3" Type="http://schemas.openxmlformats.org/officeDocument/2006/relationships/hyperlink" Target="../backend/readings_api.py" TargetMode="External"/><Relationship Id="rId4" Type="http://schemas.openxmlformats.org/officeDocument/2006/relationships/hyperlink" Target="../frontend/src/RecordedReadings.tsx" TargetMode="External"/><Relationship Id="rId5" Type="http://schemas.openxmlformats.org/officeDocument/2006/relationships/hyperlink" Target="../frontend/src/voice.ts" TargetMode="External"/><Relationship Id="rId6"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README.md" TargetMode="External"/><Relationship Id="rId3" Type="http://schemas.openxmlformats.org/officeDocument/2006/relationships/hyperlink" Target="../backend/web.py" TargetMode="External"/><Relationship Id="rId4" Type="http://schemas.openxmlformats.org/officeDocument/2006/relationships/hyperlink" Target="../backend/config.py" TargetMode="External"/><Relationship Id="rId5" Type="http://schemas.openxmlformats.org/officeDocument/2006/relationships/hyperlink" Target="../tools/run_app.py" TargetMode="External"/><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start.ps1" TargetMode="External"/><Relationship Id="rId3" Type="http://schemas.openxmlformats.org/officeDocument/2006/relationships/hyperlink" Target="../tools/run_app.py" TargetMode="External"/><Relationship Id="rId4" Type="http://schemas.openxmlformats.org/officeDocument/2006/relationships/hyperlink" Target="../backend/config.py" TargetMode="External"/><Relationship Id="rId5" Type="http://schemas.openxmlformats.org/officeDocument/2006/relationships/hyperlink" Target="../backend/main.py" TargetMode="External"/><Relationship Id="rId6"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frontend/src/api.ts" TargetMode="External"/><Relationship Id="rId4" Type="http://schemas.openxmlformats.org/officeDocument/2006/relationships/hyperlink" Target="../backend/analyzer_history.py" TargetMode="External"/><Relationship Id="rId5" Type="http://schemas.openxmlformats.org/officeDocument/2006/relationships/hyperlink" Target="../backend/public_access.py" TargetMode="External"/><Relationship Id="rId6"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tests/yaounde_cases.py" TargetMode="External"/><Relationship Id="rId3" Type="http://schemas.openxmlformats.org/officeDocument/2006/relationships/hyperlink" Target="../docs/evidence/final-analysis-20260927.json" TargetMode="Externa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hyperlink" Target="../docs/evidence/final-analysis-20260927.json" TargetMode="External"/><Relationship Id="rId4" Type="http://schemas.openxmlformats.org/officeDocument/2006/relationships/hyperlink" Target="../compiler/parser/yaounde.py" TargetMode="Externa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evidence/final-analysis-20260927.json" TargetMode="External"/><Relationship Id="rId3" Type="http://schemas.openxmlformats.org/officeDocument/2006/relationships/hyperlink" Target="../compiler/tests/test_yaounde_grammar.py" TargetMode="Externa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evidence/final-corpus-20260927.json" TargetMode="External"/><Relationship Id="rId3" Type="http://schemas.openxmlformats.org/officeDocument/2006/relationships/hyperlink" Target="../docs/final-report.tex" TargetMode="Externa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tests/test_yaounde_grammar.py" TargetMode="External"/><Relationship Id="rId3" Type="http://schemas.openxmlformats.org/officeDocument/2006/relationships/hyperlink" Target="../backend/tests/test_public_access.py" TargetMode="External"/><Relationship Id="rId4" Type="http://schemas.openxmlformats.org/officeDocument/2006/relationships/hyperlink" Target="../frontend/tests/unit/FrancAnalyzer.test.tsx" TargetMode="External"/><Relationship Id="rId5" Type="http://schemas.openxmlformats.org/officeDocument/2006/relationships/hyperlink" Target="../tools/tests/test_report_evidence.py" TargetMode="External"/><Relationship Id="rId6"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frontend/src/api.ts" TargetMode="External"/><Relationship Id="rId4" Type="http://schemas.openxmlformats.org/officeDocument/2006/relationships/hyperlink" Target="../backend/analyzer_api.py" TargetMode="External"/><Relationship Id="rId5" Type="http://schemas.openxmlformats.org/officeDocument/2006/relationships/hyperlink" Target="../backend/analyzer_history.py" TargetMode="External"/><Relationship Id="rId6"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parser/analysis.py" TargetMode="External"/><Relationship Id="rId4" Type="http://schemas.openxmlformats.org/officeDocument/2006/relationships/hyperlink" Target="../compiler/parser/predictive.py" TargetMode="External"/><Relationship Id="rId5" Type="http://schemas.openxmlformats.org/officeDocument/2006/relationships/hyperlink" Target="../backend/shared_workspace.py" TargetMode="External"/><Relationship Id="rId6"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hyperlink" Target="../frontend/src/FrancAnalyzer.tsx" TargetMode="External"/><Relationship Id="rId4" Type="http://schemas.openxmlformats.org/officeDocument/2006/relationships/hyperlink" Target="../frontend/src/Dictionary.tsx" TargetMode="External"/><Relationship Id="rId5" Type="http://schemas.openxmlformats.org/officeDocument/2006/relationships/hyperlink" Target="../docs/README.md" TargetMode="External"/><Relationship Id="rId6"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docs/final-report.tex" TargetMode="External"/><Relationship Id="rId3" Type="http://schemas.openxmlformats.org/officeDocument/2006/relationships/hyperlink" Target="../docs/README.md" TargetMode="Externa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amfranglais.duckdns.org" TargetMode="External"/><Relationship Id="rId3" Type="http://schemas.openxmlformats.org/officeDocument/2006/relationships/hyperlink" Target="../README.md" TargetMode="External"/><Relationship Id="rId4" Type="http://schemas.openxmlformats.org/officeDocument/2006/relationships/hyperlink" Target="../docs/README.md" TargetMode="External"/><Relationship Id="rId5"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041"/>
        </a:solidFill>
        <a:effectLst/>
      </p:bgPr>
    </p:bg>
    <p:spTree>
      <p:nvGrpSpPr>
        <p:cNvPr id="1" name=""/>
        <p:cNvGrpSpPr/>
        <p:nvPr/>
      </p:nvGrpSpPr>
      <p:grpSpPr/>
      <p:sp>
        <p:nvSpPr>
          <p:cNvPr id="2" name="Rectangle 1"/>
          <p:cNvSpPr/>
          <p:nvPr/>
        </p:nvSpPr>
        <p:spPr>
          <a:xfrm>
            <a:off x="539496" y="576072"/>
            <a:ext cx="941832" cy="5029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section-1"/>
          <p:cNvSpPr txBox="1"/>
          <p:nvPr/>
        </p:nvSpPr>
        <p:spPr>
          <a:xfrm>
            <a:off x="539496" y="905256"/>
            <a:ext cx="9418320"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85BABB"/>
                </a:solidFill>
                <a:latin typeface="Arial"/>
              </a:defRPr>
            </a:pPr>
            <a:r>
              <a:t>CAMFRANGLAIS / COMPILER WORKSPACE</a:t>
            </a:r>
          </a:p>
        </p:txBody>
      </p:sp>
      <p:sp>
        <p:nvSpPr>
          <p:cNvPr id="4" name="title-2"/>
          <p:cNvSpPr txBox="1"/>
          <p:nvPr/>
        </p:nvSpPr>
        <p:spPr>
          <a:xfrm>
            <a:off x="539496" y="1508760"/>
            <a:ext cx="6035040" cy="950976"/>
          </a:xfrm>
          <a:prstGeom prst="rect">
            <a:avLst/>
          </a:prstGeom>
          <a:noFill/>
        </p:spPr>
        <p:txBody>
          <a:bodyPr wrap="none" lIns="0" rIns="0" tIns="0" bIns="0" anchor="t">
            <a:noAutofit/>
          </a:bodyPr>
          <a:lstStyle/>
          <a:p>
            <a:pPr algn="l">
              <a:lnSpc>
                <a:spcPts val="5452"/>
              </a:lnSpc>
              <a:spcBef>
                <a:spcPts val="0"/>
              </a:spcBef>
              <a:spcAft>
                <a:spcPts val="0"/>
              </a:spcAft>
              <a:defRPr sz="4700" b="1">
                <a:solidFill>
                  <a:srgbClr val="FFFFFF"/>
                </a:solidFill>
                <a:latin typeface="Georgia"/>
              </a:defRPr>
            </a:pPr>
            <a:r>
              <a:t>Camfranglais</a:t>
            </a:r>
          </a:p>
        </p:txBody>
      </p:sp>
      <p:sp>
        <p:nvSpPr>
          <p:cNvPr id="5" name="subtitle-3"/>
          <p:cNvSpPr txBox="1"/>
          <p:nvPr/>
        </p:nvSpPr>
        <p:spPr>
          <a:xfrm>
            <a:off x="585216" y="2697480"/>
            <a:ext cx="4818888" cy="1389888"/>
          </a:xfrm>
          <a:prstGeom prst="rect">
            <a:avLst/>
          </a:prstGeom>
          <a:noFill/>
        </p:spPr>
        <p:txBody>
          <a:bodyPr wrap="none" lIns="0" rIns="0" tIns="0" bIns="0" anchor="t">
            <a:noAutofit/>
          </a:bodyPr>
          <a:lstStyle/>
          <a:p>
            <a:pPr algn="l">
              <a:lnSpc>
                <a:spcPts val="3596"/>
              </a:lnSpc>
              <a:spcBef>
                <a:spcPts val="0"/>
              </a:spcBef>
              <a:spcAft>
                <a:spcPts val="0"/>
              </a:spcAft>
              <a:defRPr sz="3100" b="0">
                <a:solidFill>
                  <a:srgbClr val="FFFFFF"/>
                </a:solidFill>
                <a:latin typeface="Arial"/>
              </a:defRPr>
            </a:pPr>
            <a:r>
              <a:t>From everyday language to</a:t>
            </a:r>
          </a:p>
          <a:p>
            <a:pPr algn="l">
              <a:lnSpc>
                <a:spcPts val="3596"/>
              </a:lnSpc>
              <a:spcBef>
                <a:spcPts val="0"/>
              </a:spcBef>
              <a:spcAft>
                <a:spcPts val="0"/>
              </a:spcAft>
              <a:defRPr sz="3100" b="0">
                <a:solidFill>
                  <a:srgbClr val="FFFFFF"/>
                </a:solidFill>
                <a:latin typeface="Arial"/>
              </a:defRPr>
            </a:pPr>
            <a:r>
              <a:t>transparent compiler</a:t>
            </a:r>
          </a:p>
          <a:p>
            <a:pPr algn="l">
              <a:lnSpc>
                <a:spcPts val="3596"/>
              </a:lnSpc>
              <a:spcBef>
                <a:spcPts val="0"/>
              </a:spcBef>
              <a:spcAft>
                <a:spcPts val="0"/>
              </a:spcAft>
              <a:defRPr sz="3100" b="0">
                <a:solidFill>
                  <a:srgbClr val="FFFFFF"/>
                </a:solidFill>
                <a:latin typeface="Arial"/>
              </a:defRPr>
            </a:pPr>
            <a:r>
              <a:t>decisions.</a:t>
            </a:r>
          </a:p>
        </p:txBody>
      </p:sp>
      <p:sp>
        <p:nvSpPr>
          <p:cNvPr id="6" name="body-4"/>
          <p:cNvSpPr txBox="1"/>
          <p:nvPr/>
        </p:nvSpPr>
        <p:spPr>
          <a:xfrm>
            <a:off x="594360" y="4416552"/>
            <a:ext cx="4754880" cy="301752"/>
          </a:xfrm>
          <a:prstGeom prst="rect">
            <a:avLst/>
          </a:prstGeom>
          <a:noFill/>
        </p:spPr>
        <p:txBody>
          <a:bodyPr wrap="none" lIns="0" rIns="0" tIns="0" bIns="0" anchor="t">
            <a:noAutofit/>
          </a:bodyPr>
          <a:lstStyle/>
          <a:p>
            <a:pPr algn="l">
              <a:lnSpc>
                <a:spcPts val="1623"/>
              </a:lnSpc>
              <a:spcBef>
                <a:spcPts val="0"/>
              </a:spcBef>
              <a:spcAft>
                <a:spcPts val="0"/>
              </a:spcAft>
              <a:defRPr sz="1400" b="1">
                <a:solidFill>
                  <a:srgbClr val="CBA261"/>
                </a:solidFill>
                <a:latin typeface="Arial"/>
              </a:defRPr>
            </a:pPr>
            <a:r>
              <a:t>THE APP. THE RULES. THE FILES.</a:t>
            </a:r>
          </a:p>
        </p:txBody>
      </p:sp>
      <p:sp>
        <p:nvSpPr>
          <p:cNvPr id="7" name="body-5"/>
          <p:cNvSpPr txBox="1"/>
          <p:nvPr/>
        </p:nvSpPr>
        <p:spPr>
          <a:xfrm>
            <a:off x="594360" y="5001768"/>
            <a:ext cx="4572000" cy="594360"/>
          </a:xfrm>
          <a:prstGeom prst="rect">
            <a:avLst/>
          </a:prstGeom>
          <a:noFill/>
        </p:spPr>
        <p:txBody>
          <a:bodyPr wrap="none" lIns="0" rIns="0" tIns="0" bIns="0" anchor="t">
            <a:noAutofit/>
          </a:bodyPr>
          <a:lstStyle/>
          <a:p>
            <a:pPr algn="l">
              <a:lnSpc>
                <a:spcPts val="1855"/>
              </a:lnSpc>
              <a:spcBef>
                <a:spcPts val="0"/>
              </a:spcBef>
              <a:spcAft>
                <a:spcPts val="0"/>
              </a:spcAft>
              <a:defRPr sz="1600" b="0">
                <a:solidFill>
                  <a:srgbClr val="B2CBCB"/>
                </a:solidFill>
                <a:latin typeface="Arial"/>
              </a:defRPr>
            </a:pPr>
            <a:r>
              <a:t>100-slide technical presentation</a:t>
            </a:r>
          </a:p>
          <a:p>
            <a:pPr algn="l">
              <a:lnSpc>
                <a:spcPts val="1855"/>
              </a:lnSpc>
              <a:spcBef>
                <a:spcPts val="0"/>
              </a:spcBef>
              <a:spcAft>
                <a:spcPts val="0"/>
              </a:spcAft>
              <a:defRPr sz="1600" b="0">
                <a:solidFill>
                  <a:srgbClr val="B2CBCB"/>
                </a:solidFill>
                <a:latin typeface="Arial"/>
              </a:defRPr>
            </a:pPr>
            <a:r>
              <a:t>CS4110 / Summer 2026 / SET A</a:t>
            </a:r>
          </a:p>
        </p:txBody>
      </p:sp>
      <p:sp>
        <p:nvSpPr>
          <p:cNvPr id="8" name="Rounded Rectangle 7"/>
          <p:cNvSpPr/>
          <p:nvPr/>
        </p:nvSpPr>
        <p:spPr>
          <a:xfrm>
            <a:off x="6103620" y="1691640"/>
            <a:ext cx="5559552" cy="4041648"/>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6062472" y="1636776"/>
            <a:ext cx="5559552" cy="4041648"/>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062472" y="1636776"/>
            <a:ext cx="555955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val 10"/>
          <p:cNvSpPr/>
          <p:nvPr/>
        </p:nvSpPr>
        <p:spPr>
          <a:xfrm>
            <a:off x="6190488" y="172821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6327648" y="172821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6464807" y="172821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6"/>
          <p:cNvSpPr txBox="1"/>
          <p:nvPr/>
        </p:nvSpPr>
        <p:spPr>
          <a:xfrm>
            <a:off x="6739128" y="1696212"/>
            <a:ext cx="455371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15" name="Picture 14" descr="analyzer-desktop.png"/>
          <p:cNvPicPr>
            <a:picLocks noChangeAspect="1"/>
          </p:cNvPicPr>
          <p:nvPr/>
        </p:nvPicPr>
        <p:blipFill>
          <a:blip r:embed="rId2"/>
          <a:stretch>
            <a:fillRect/>
          </a:stretch>
        </p:blipFill>
        <p:spPr>
          <a:xfrm>
            <a:off x="6117336" y="1969008"/>
            <a:ext cx="5449824" cy="3633216"/>
          </a:xfrm>
          <a:prstGeom prst="rect">
            <a:avLst/>
          </a:prstGeom>
        </p:spPr>
      </p:pic>
      <p:cxnSp>
        <p:nvCxnSpPr>
          <p:cNvPr id="16" name="Connector 15"/>
          <p:cNvCxnSpPr/>
          <p:nvPr/>
        </p:nvCxnSpPr>
        <p:spPr>
          <a:xfrm>
            <a:off x="530352" y="6062472"/>
            <a:ext cx="11128248" cy="0"/>
          </a:xfrm>
          <a:prstGeom prst="line">
            <a:avLst/>
          </a:prstGeom>
          <a:ln w="8890">
            <a:solidFill>
              <a:srgbClr val="355565"/>
            </a:solidFill>
          </a:ln>
          <a:effectLst/>
        </p:spPr>
        <p:style>
          <a:lnRef idx="2">
            <a:schemeClr val="accent1"/>
          </a:lnRef>
          <a:fillRef idx="0">
            <a:schemeClr val="accent1"/>
          </a:fillRef>
          <a:effectRef idx="0">
            <a:schemeClr val="accent1"/>
          </a:effectRef>
          <a:fontRef idx="minor">
            <a:schemeClr val="tx1"/>
          </a:fontRef>
        </p:style>
      </p:cxnSp>
      <p:sp>
        <p:nvSpPr>
          <p:cNvPr id="17" name="footer-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CBA261"/>
                </a:solidFill>
                <a:latin typeface="Arial"/>
              </a:defRPr>
            </a:pPr>
            <a:r>
              <a:t>IMPLEMENTATION / EVIDENCE</a:t>
            </a:r>
          </a:p>
        </p:txBody>
      </p:sp>
      <p:sp>
        <p:nvSpPr>
          <p:cNvPr id="18" name="source-8">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README.md</a:t>
            </a:r>
          </a:p>
        </p:txBody>
      </p:sp>
      <p:sp>
        <p:nvSpPr>
          <p:cNvPr id="19" name="source-9">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docs/final-report.tex</a:t>
            </a:r>
          </a:p>
        </p:txBody>
      </p:sp>
      <p:sp>
        <p:nvSpPr>
          <p:cNvPr id="20" name="footer-10"/>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B2CBCB"/>
                </a:solidFill>
                <a:latin typeface="Arial"/>
              </a:defRPr>
            </a:pPr>
            <a:r>
              <a:t>CS4110  /  SET A  /  27 SEP 2026</a:t>
            </a:r>
          </a:p>
        </p:txBody>
      </p:sp>
      <p:sp>
        <p:nvSpPr>
          <p:cNvPr id="21" name="footer-11"/>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B2CBCB"/>
                </a:solidFill>
                <a:latin typeface="Arial"/>
              </a:defRPr>
            </a:pPr>
            <a:r>
              <a:t>001 / 100</a:t>
            </a:r>
          </a:p>
        </p:txBody>
      </p:sp>
      <p:sp>
        <p:nvSpPr>
          <p:cNvPr id="22" name="Rectangle 21"/>
          <p:cNvSpPr/>
          <p:nvPr/>
        </p:nvSpPr>
        <p:spPr>
          <a:xfrm>
            <a:off x="0" y="6821424"/>
            <a:ext cx="12191999" cy="36576"/>
          </a:xfrm>
          <a:prstGeom prst="rect">
            <a:avLst/>
          </a:prstGeom>
          <a:solidFill>
            <a:srgbClr val="2848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121919" cy="36576"/>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group behind the project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Three members. One shared compiler workspace.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355701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13815" y="2331720"/>
            <a:ext cx="822960" cy="822960"/>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5"/>
          <p:cNvSpPr txBox="1"/>
          <p:nvPr/>
        </p:nvSpPr>
        <p:spPr>
          <a:xfrm>
            <a:off x="813815" y="2569464"/>
            <a:ext cx="822960" cy="384048"/>
          </a:xfrm>
          <a:prstGeom prst="rect">
            <a:avLst/>
          </a:prstGeom>
          <a:noFill/>
        </p:spPr>
        <p:txBody>
          <a:bodyPr wrap="none" lIns="0" rIns="0" tIns="0" bIns="0" anchor="t">
            <a:noAutofit/>
          </a:bodyPr>
          <a:lstStyle/>
          <a:p>
            <a:pPr algn="ctr">
              <a:lnSpc>
                <a:spcPts val="2668"/>
              </a:lnSpc>
              <a:spcBef>
                <a:spcPts val="0"/>
              </a:spcBef>
              <a:spcAft>
                <a:spcPts val="0"/>
              </a:spcAft>
              <a:defRPr sz="2300" b="1">
                <a:solidFill>
                  <a:srgbClr val="147E80"/>
                </a:solidFill>
                <a:latin typeface="Arial"/>
              </a:defRPr>
            </a:pPr>
            <a:r>
              <a:t>01</a:t>
            </a:r>
          </a:p>
        </p:txBody>
      </p:sp>
      <p:sp>
        <p:nvSpPr>
          <p:cNvPr id="10" name="body-6"/>
          <p:cNvSpPr txBox="1"/>
          <p:nvPr/>
        </p:nvSpPr>
        <p:spPr>
          <a:xfrm>
            <a:off x="822959" y="3502152"/>
            <a:ext cx="2971800" cy="1216152"/>
          </a:xfrm>
          <a:prstGeom prst="rect">
            <a:avLst/>
          </a:prstGeom>
          <a:noFill/>
        </p:spPr>
        <p:txBody>
          <a:bodyPr wrap="none" lIns="0" rIns="0" tIns="0" bIns="0" anchor="t">
            <a:noAutofit/>
          </a:bodyPr>
          <a:lstStyle/>
          <a:p>
            <a:pPr algn="l">
              <a:lnSpc>
                <a:spcPts val="2899"/>
              </a:lnSpc>
              <a:spcBef>
                <a:spcPts val="0"/>
              </a:spcBef>
              <a:spcAft>
                <a:spcPts val="0"/>
              </a:spcAft>
              <a:defRPr sz="2500" b="1">
                <a:solidFill>
                  <a:srgbClr val="183747"/>
                </a:solidFill>
                <a:latin typeface="Arial"/>
              </a:defRPr>
            </a:pPr>
            <a:r>
              <a:t>Kwete Ngouba</a:t>
            </a:r>
          </a:p>
          <a:p>
            <a:pPr algn="l">
              <a:lnSpc>
                <a:spcPts val="2899"/>
              </a:lnSpc>
              <a:spcBef>
                <a:spcPts val="0"/>
              </a:spcBef>
              <a:spcAft>
                <a:spcPts val="0"/>
              </a:spcAft>
              <a:defRPr sz="2500" b="1">
                <a:solidFill>
                  <a:srgbClr val="183747"/>
                </a:solidFill>
                <a:latin typeface="Arial"/>
              </a:defRPr>
            </a:pPr>
            <a:r>
              <a:t>Junior Rayan</a:t>
            </a:r>
          </a:p>
        </p:txBody>
      </p:sp>
      <p:sp>
        <p:nvSpPr>
          <p:cNvPr id="11" name="body-7"/>
          <p:cNvSpPr txBox="1"/>
          <p:nvPr/>
        </p:nvSpPr>
        <p:spPr>
          <a:xfrm>
            <a:off x="822959" y="5074920"/>
            <a:ext cx="2980944" cy="365760"/>
          </a:xfrm>
          <a:prstGeom prst="rect">
            <a:avLst/>
          </a:prstGeom>
          <a:noFill/>
        </p:spPr>
        <p:txBody>
          <a:bodyPr wrap="none" lIns="0" rIns="0" tIns="0" bIns="0" anchor="t">
            <a:noAutofit/>
          </a:bodyPr>
          <a:lstStyle/>
          <a:p>
            <a:pPr algn="l">
              <a:lnSpc>
                <a:spcPts val="2204"/>
              </a:lnSpc>
              <a:spcBef>
                <a:spcPts val="0"/>
              </a:spcBef>
              <a:spcAft>
                <a:spcPts val="0"/>
              </a:spcAft>
              <a:defRPr sz="1900" b="1">
                <a:solidFill>
                  <a:srgbClr val="147E80"/>
                </a:solidFill>
                <a:latin typeface="Arial"/>
              </a:defRPr>
            </a:pPr>
            <a:r>
              <a:t>ICTU20241377</a:t>
            </a:r>
          </a:p>
        </p:txBody>
      </p:sp>
      <p:sp>
        <p:nvSpPr>
          <p:cNvPr id="12" name="Rounded Rectangle 11"/>
          <p:cNvSpPr/>
          <p:nvPr/>
        </p:nvSpPr>
        <p:spPr>
          <a:xfrm>
            <a:off x="4325112" y="2048256"/>
            <a:ext cx="355701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4590288" y="2331720"/>
            <a:ext cx="822960" cy="822960"/>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8"/>
          <p:cNvSpPr txBox="1"/>
          <p:nvPr/>
        </p:nvSpPr>
        <p:spPr>
          <a:xfrm>
            <a:off x="4590288" y="2569464"/>
            <a:ext cx="822960" cy="384048"/>
          </a:xfrm>
          <a:prstGeom prst="rect">
            <a:avLst/>
          </a:prstGeom>
          <a:noFill/>
        </p:spPr>
        <p:txBody>
          <a:bodyPr wrap="none" lIns="0" rIns="0" tIns="0" bIns="0" anchor="t">
            <a:noAutofit/>
          </a:bodyPr>
          <a:lstStyle/>
          <a:p>
            <a:pPr algn="ctr">
              <a:lnSpc>
                <a:spcPts val="2668"/>
              </a:lnSpc>
              <a:spcBef>
                <a:spcPts val="0"/>
              </a:spcBef>
              <a:spcAft>
                <a:spcPts val="0"/>
              </a:spcAft>
              <a:defRPr sz="2300" b="1">
                <a:solidFill>
                  <a:srgbClr val="147E80"/>
                </a:solidFill>
                <a:latin typeface="Arial"/>
              </a:defRPr>
            </a:pPr>
            <a:r>
              <a:t>02</a:t>
            </a:r>
          </a:p>
        </p:txBody>
      </p:sp>
      <p:sp>
        <p:nvSpPr>
          <p:cNvPr id="15" name="body-9"/>
          <p:cNvSpPr txBox="1"/>
          <p:nvPr/>
        </p:nvSpPr>
        <p:spPr>
          <a:xfrm>
            <a:off x="4599431" y="3502152"/>
            <a:ext cx="2971800" cy="1216152"/>
          </a:xfrm>
          <a:prstGeom prst="rect">
            <a:avLst/>
          </a:prstGeom>
          <a:noFill/>
        </p:spPr>
        <p:txBody>
          <a:bodyPr wrap="none" lIns="0" rIns="0" tIns="0" bIns="0" anchor="t">
            <a:noAutofit/>
          </a:bodyPr>
          <a:lstStyle/>
          <a:p>
            <a:pPr algn="l">
              <a:lnSpc>
                <a:spcPts val="2899"/>
              </a:lnSpc>
              <a:spcBef>
                <a:spcPts val="0"/>
              </a:spcBef>
              <a:spcAft>
                <a:spcPts val="0"/>
              </a:spcAft>
              <a:defRPr sz="2500" b="1">
                <a:solidFill>
                  <a:srgbClr val="183747"/>
                </a:solidFill>
                <a:latin typeface="Arial"/>
              </a:defRPr>
            </a:pPr>
            <a:r>
              <a:t>Djemtchimo</a:t>
            </a:r>
          </a:p>
          <a:p>
            <a:pPr algn="l">
              <a:lnSpc>
                <a:spcPts val="2899"/>
              </a:lnSpc>
              <a:spcBef>
                <a:spcPts val="0"/>
              </a:spcBef>
              <a:spcAft>
                <a:spcPts val="0"/>
              </a:spcAft>
              <a:defRPr sz="2500" b="1">
                <a:solidFill>
                  <a:srgbClr val="183747"/>
                </a:solidFill>
                <a:latin typeface="Arial"/>
              </a:defRPr>
            </a:pPr>
            <a:r>
              <a:t>Noukui Bruno</a:t>
            </a:r>
          </a:p>
          <a:p>
            <a:pPr algn="l">
              <a:lnSpc>
                <a:spcPts val="2899"/>
              </a:lnSpc>
              <a:spcBef>
                <a:spcPts val="0"/>
              </a:spcBef>
              <a:spcAft>
                <a:spcPts val="0"/>
              </a:spcAft>
              <a:defRPr sz="2500" b="1">
                <a:solidFill>
                  <a:srgbClr val="183747"/>
                </a:solidFill>
                <a:latin typeface="Arial"/>
              </a:defRPr>
            </a:pPr>
            <a:r>
              <a:t>Jonatan</a:t>
            </a:r>
          </a:p>
        </p:txBody>
      </p:sp>
      <p:sp>
        <p:nvSpPr>
          <p:cNvPr id="16" name="body-10"/>
          <p:cNvSpPr txBox="1"/>
          <p:nvPr/>
        </p:nvSpPr>
        <p:spPr>
          <a:xfrm>
            <a:off x="4599431" y="5074920"/>
            <a:ext cx="2980944" cy="365760"/>
          </a:xfrm>
          <a:prstGeom prst="rect">
            <a:avLst/>
          </a:prstGeom>
          <a:noFill/>
        </p:spPr>
        <p:txBody>
          <a:bodyPr wrap="none" lIns="0" rIns="0" tIns="0" bIns="0" anchor="t">
            <a:noAutofit/>
          </a:bodyPr>
          <a:lstStyle/>
          <a:p>
            <a:pPr algn="l">
              <a:lnSpc>
                <a:spcPts val="2204"/>
              </a:lnSpc>
              <a:spcBef>
                <a:spcPts val="0"/>
              </a:spcBef>
              <a:spcAft>
                <a:spcPts val="0"/>
              </a:spcAft>
              <a:defRPr sz="1900" b="1">
                <a:solidFill>
                  <a:srgbClr val="147E80"/>
                </a:solidFill>
                <a:latin typeface="Arial"/>
              </a:defRPr>
            </a:pPr>
            <a:r>
              <a:t>ICTU20241585</a:t>
            </a:r>
          </a:p>
        </p:txBody>
      </p:sp>
      <p:sp>
        <p:nvSpPr>
          <p:cNvPr id="17" name="Rounded Rectangle 16"/>
          <p:cNvSpPr/>
          <p:nvPr/>
        </p:nvSpPr>
        <p:spPr>
          <a:xfrm>
            <a:off x="8101583" y="2048256"/>
            <a:ext cx="355701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366759" y="2331720"/>
            <a:ext cx="822960" cy="822960"/>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dy-11"/>
          <p:cNvSpPr txBox="1"/>
          <p:nvPr/>
        </p:nvSpPr>
        <p:spPr>
          <a:xfrm>
            <a:off x="8366759" y="2569464"/>
            <a:ext cx="822960" cy="384048"/>
          </a:xfrm>
          <a:prstGeom prst="rect">
            <a:avLst/>
          </a:prstGeom>
          <a:noFill/>
        </p:spPr>
        <p:txBody>
          <a:bodyPr wrap="none" lIns="0" rIns="0" tIns="0" bIns="0" anchor="t">
            <a:noAutofit/>
          </a:bodyPr>
          <a:lstStyle/>
          <a:p>
            <a:pPr algn="ctr">
              <a:lnSpc>
                <a:spcPts val="2668"/>
              </a:lnSpc>
              <a:spcBef>
                <a:spcPts val="0"/>
              </a:spcBef>
              <a:spcAft>
                <a:spcPts val="0"/>
              </a:spcAft>
              <a:defRPr sz="2300" b="1">
                <a:solidFill>
                  <a:srgbClr val="147E80"/>
                </a:solidFill>
                <a:latin typeface="Arial"/>
              </a:defRPr>
            </a:pPr>
            <a:r>
              <a:t>03</a:t>
            </a:r>
          </a:p>
        </p:txBody>
      </p:sp>
      <p:sp>
        <p:nvSpPr>
          <p:cNvPr id="20" name="body-12"/>
          <p:cNvSpPr txBox="1"/>
          <p:nvPr/>
        </p:nvSpPr>
        <p:spPr>
          <a:xfrm>
            <a:off x="8375904" y="3502152"/>
            <a:ext cx="2971800" cy="1216152"/>
          </a:xfrm>
          <a:prstGeom prst="rect">
            <a:avLst/>
          </a:prstGeom>
          <a:noFill/>
        </p:spPr>
        <p:txBody>
          <a:bodyPr wrap="none" lIns="0" rIns="0" tIns="0" bIns="0" anchor="t">
            <a:noAutofit/>
          </a:bodyPr>
          <a:lstStyle/>
          <a:p>
            <a:pPr algn="l">
              <a:lnSpc>
                <a:spcPts val="2899"/>
              </a:lnSpc>
              <a:spcBef>
                <a:spcPts val="0"/>
              </a:spcBef>
              <a:spcAft>
                <a:spcPts val="0"/>
              </a:spcAft>
              <a:defRPr sz="2500" b="1">
                <a:solidFill>
                  <a:srgbClr val="183747"/>
                </a:solidFill>
                <a:latin typeface="Arial"/>
              </a:defRPr>
            </a:pPr>
            <a:r>
              <a:t>Amina Boubakary</a:t>
            </a:r>
          </a:p>
        </p:txBody>
      </p:sp>
      <p:sp>
        <p:nvSpPr>
          <p:cNvPr id="21" name="body-13"/>
          <p:cNvSpPr txBox="1"/>
          <p:nvPr/>
        </p:nvSpPr>
        <p:spPr>
          <a:xfrm>
            <a:off x="8375904" y="5074920"/>
            <a:ext cx="2980944" cy="365760"/>
          </a:xfrm>
          <a:prstGeom prst="rect">
            <a:avLst/>
          </a:prstGeom>
          <a:noFill/>
        </p:spPr>
        <p:txBody>
          <a:bodyPr wrap="none" lIns="0" rIns="0" tIns="0" bIns="0" anchor="t">
            <a:noAutofit/>
          </a:bodyPr>
          <a:lstStyle/>
          <a:p>
            <a:pPr algn="l">
              <a:lnSpc>
                <a:spcPts val="2204"/>
              </a:lnSpc>
              <a:spcBef>
                <a:spcPts val="0"/>
              </a:spcBef>
              <a:spcAft>
                <a:spcPts val="0"/>
              </a:spcAft>
              <a:defRPr sz="1900" b="1">
                <a:solidFill>
                  <a:srgbClr val="147E80"/>
                </a:solidFill>
                <a:latin typeface="Arial"/>
              </a:defRPr>
            </a:pPr>
            <a:r>
              <a:t>ICTU20241870</a:t>
            </a:r>
          </a:p>
        </p:txBody>
      </p:sp>
      <p:cxnSp>
        <p:nvCxnSpPr>
          <p:cNvPr id="22" name="Connector 2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4"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docs/document-style.tex</a:t>
            </a:r>
          </a:p>
        </p:txBody>
      </p:sp>
      <p:sp>
        <p:nvSpPr>
          <p:cNvPr id="25"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6"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002 / 100</a:t>
            </a:r>
          </a:p>
        </p:txBody>
      </p:sp>
      <p:sp>
        <p:nvSpPr>
          <p:cNvPr id="27" name="Rectangle 26"/>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0" y="6821424"/>
            <a:ext cx="2438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Three questions this deck answers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Start with the experience. Follow the data. Find the implementation.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68096"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68096"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01</a:t>
            </a:r>
          </a:p>
        </p:txBody>
      </p:sp>
      <p:sp>
        <p:nvSpPr>
          <p:cNvPr id="11" name="body-6"/>
          <p:cNvSpPr txBox="1"/>
          <p:nvPr/>
        </p:nvSpPr>
        <p:spPr>
          <a:xfrm>
            <a:off x="795528"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USE</a:t>
            </a:r>
          </a:p>
        </p:txBody>
      </p:sp>
      <p:sp>
        <p:nvSpPr>
          <p:cNvPr id="12" name="body-7"/>
          <p:cNvSpPr txBox="1"/>
          <p:nvPr/>
        </p:nvSpPr>
        <p:spPr>
          <a:xfrm>
            <a:off x="795528"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What can a visitor do on</a:t>
            </a:r>
          </a:p>
          <a:p>
            <a:pPr algn="l">
              <a:lnSpc>
                <a:spcPts val="2320"/>
              </a:lnSpc>
              <a:spcBef>
                <a:spcPts val="0"/>
              </a:spcBef>
              <a:spcAft>
                <a:spcPts val="0"/>
              </a:spcAft>
              <a:defRPr sz="2000" b="0">
                <a:solidFill>
                  <a:srgbClr val="587080"/>
                </a:solidFill>
                <a:latin typeface="Arial"/>
              </a:defRPr>
            </a:pPr>
            <a:r>
              <a:t>each of the five pages?</a:t>
            </a:r>
          </a:p>
        </p:txBody>
      </p:sp>
      <p:sp>
        <p:nvSpPr>
          <p:cNvPr id="13" name="Rounded Rectangle 12"/>
          <p:cNvSpPr/>
          <p:nvPr/>
        </p:nvSpPr>
        <p:spPr>
          <a:xfrm>
            <a:off x="4312920"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12920" y="2029968"/>
            <a:ext cx="50292" cy="36850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541520"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8"/>
          <p:cNvSpPr txBox="1"/>
          <p:nvPr/>
        </p:nvSpPr>
        <p:spPr>
          <a:xfrm>
            <a:off x="4541520"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02</a:t>
            </a:r>
          </a:p>
        </p:txBody>
      </p:sp>
      <p:sp>
        <p:nvSpPr>
          <p:cNvPr id="17" name="body-9"/>
          <p:cNvSpPr txBox="1"/>
          <p:nvPr/>
        </p:nvSpPr>
        <p:spPr>
          <a:xfrm>
            <a:off x="4568952"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TRACE</a:t>
            </a:r>
          </a:p>
        </p:txBody>
      </p:sp>
      <p:sp>
        <p:nvSpPr>
          <p:cNvPr id="18" name="body-10"/>
          <p:cNvSpPr txBox="1"/>
          <p:nvPr/>
        </p:nvSpPr>
        <p:spPr>
          <a:xfrm>
            <a:off x="4568952"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How does a statement</a:t>
            </a:r>
          </a:p>
          <a:p>
            <a:pPr algn="l">
              <a:lnSpc>
                <a:spcPts val="2320"/>
              </a:lnSpc>
              <a:spcBef>
                <a:spcPts val="0"/>
              </a:spcBef>
              <a:spcAft>
                <a:spcPts val="0"/>
              </a:spcAft>
              <a:defRPr sz="2000" b="0">
                <a:solidFill>
                  <a:srgbClr val="587080"/>
                </a:solidFill>
                <a:latin typeface="Arial"/>
              </a:defRPr>
            </a:pPr>
            <a:r>
              <a:t>become tokens, verdicts</a:t>
            </a:r>
          </a:p>
          <a:p>
            <a:pPr algn="l">
              <a:lnSpc>
                <a:spcPts val="2320"/>
              </a:lnSpc>
              <a:spcBef>
                <a:spcPts val="0"/>
              </a:spcBef>
              <a:spcAft>
                <a:spcPts val="0"/>
              </a:spcAft>
              <a:defRPr sz="2000" b="0">
                <a:solidFill>
                  <a:srgbClr val="587080"/>
                </a:solidFill>
                <a:latin typeface="Arial"/>
              </a:defRPr>
            </a:pPr>
            <a:r>
              <a:t>and a saved result?</a:t>
            </a:r>
          </a:p>
        </p:txBody>
      </p:sp>
      <p:sp>
        <p:nvSpPr>
          <p:cNvPr id="19" name="Rounded Rectangle 18"/>
          <p:cNvSpPr/>
          <p:nvPr/>
        </p:nvSpPr>
        <p:spPr>
          <a:xfrm>
            <a:off x="8086344"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086344"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314944"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1"/>
          <p:cNvSpPr txBox="1"/>
          <p:nvPr/>
        </p:nvSpPr>
        <p:spPr>
          <a:xfrm>
            <a:off x="8314944"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03</a:t>
            </a:r>
          </a:p>
        </p:txBody>
      </p:sp>
      <p:sp>
        <p:nvSpPr>
          <p:cNvPr id="23" name="body-12"/>
          <p:cNvSpPr txBox="1"/>
          <p:nvPr/>
        </p:nvSpPr>
        <p:spPr>
          <a:xfrm>
            <a:off x="8342376"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LOCATE</a:t>
            </a:r>
          </a:p>
        </p:txBody>
      </p:sp>
      <p:sp>
        <p:nvSpPr>
          <p:cNvPr id="24" name="body-13"/>
          <p:cNvSpPr txBox="1"/>
          <p:nvPr/>
        </p:nvSpPr>
        <p:spPr>
          <a:xfrm>
            <a:off x="8342376"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Which real source file</a:t>
            </a:r>
          </a:p>
          <a:p>
            <a:pPr algn="l">
              <a:lnSpc>
                <a:spcPts val="2320"/>
              </a:lnSpc>
              <a:spcBef>
                <a:spcPts val="0"/>
              </a:spcBef>
              <a:spcAft>
                <a:spcPts val="0"/>
              </a:spcAft>
              <a:defRPr sz="2000" b="0">
                <a:solidFill>
                  <a:srgbClr val="587080"/>
                </a:solidFill>
                <a:latin typeface="Arial"/>
              </a:defRPr>
            </a:pPr>
            <a:r>
              <a:t>owns each part of that</a:t>
            </a:r>
          </a:p>
          <a:p>
            <a:pPr algn="l">
              <a:lnSpc>
                <a:spcPts val="2320"/>
              </a:lnSpc>
              <a:spcBef>
                <a:spcPts val="0"/>
              </a:spcBef>
              <a:spcAft>
                <a:spcPts val="0"/>
              </a:spcAft>
              <a:defRPr sz="2000" b="0">
                <a:solidFill>
                  <a:srgbClr val="587080"/>
                </a:solidFill>
                <a:latin typeface="Arial"/>
              </a:defRPr>
            </a:pPr>
            <a:r>
              <a:t>behavior?</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README.md</a:t>
            </a:r>
          </a:p>
        </p:txBody>
      </p:sp>
      <p:sp>
        <p:nvSpPr>
          <p:cNvPr id="28" name="source-1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docs/sdd.tex</a:t>
            </a:r>
          </a:p>
        </p:txBody>
      </p:sp>
      <p:sp>
        <p:nvSpPr>
          <p:cNvPr id="29"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003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3657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Mixed language. Traceable rules.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teaching tool for inspecting informal urban communication.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074920" y="1984248"/>
            <a:ext cx="6547104" cy="380390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illustration-language.png"/>
          <p:cNvPicPr>
            <a:picLocks noChangeAspect="1"/>
          </p:cNvPicPr>
          <p:nvPr/>
        </p:nvPicPr>
        <p:blipFill>
          <a:blip r:embed="rId2"/>
          <a:stretch>
            <a:fillRect/>
          </a:stretch>
        </p:blipFill>
        <p:spPr>
          <a:xfrm>
            <a:off x="5722837" y="2048256"/>
            <a:ext cx="5251268" cy="3675887"/>
          </a:xfrm>
          <a:prstGeom prst="rect">
            <a:avLst/>
          </a:prstGeom>
        </p:spPr>
      </p:pic>
      <p:sp>
        <p:nvSpPr>
          <p:cNvPr id="9" name="Rectangle 8"/>
          <p:cNvSpPr/>
          <p:nvPr/>
        </p:nvSpPr>
        <p:spPr>
          <a:xfrm>
            <a:off x="594360" y="209397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77240" y="207568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Multiple influences</a:t>
            </a:r>
          </a:p>
        </p:txBody>
      </p:sp>
      <p:sp>
        <p:nvSpPr>
          <p:cNvPr id="11" name="body-6"/>
          <p:cNvSpPr txBox="1"/>
          <p:nvPr/>
        </p:nvSpPr>
        <p:spPr>
          <a:xfrm>
            <a:off x="777240" y="251460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French, English, Camfranglais and</a:t>
            </a:r>
          </a:p>
          <a:p>
            <a:pPr algn="l">
              <a:lnSpc>
                <a:spcPts val="2088"/>
              </a:lnSpc>
              <a:spcBef>
                <a:spcPts val="0"/>
              </a:spcBef>
              <a:spcAft>
                <a:spcPts val="0"/>
              </a:spcAft>
              <a:defRPr sz="1800" b="0">
                <a:solidFill>
                  <a:srgbClr val="587080"/>
                </a:solidFill>
                <a:latin typeface="Arial"/>
              </a:defRPr>
            </a:pPr>
            <a:r>
              <a:t>Pidgin evidence can coexist.</a:t>
            </a:r>
          </a:p>
        </p:txBody>
      </p:sp>
      <p:sp>
        <p:nvSpPr>
          <p:cNvPr id="12" name="Rectangle 11"/>
          <p:cNvSpPr/>
          <p:nvPr/>
        </p:nvSpPr>
        <p:spPr>
          <a:xfrm>
            <a:off x="594360" y="329793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777240" y="327964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Original wording</a:t>
            </a:r>
          </a:p>
        </p:txBody>
      </p:sp>
      <p:sp>
        <p:nvSpPr>
          <p:cNvPr id="14" name="body-8"/>
          <p:cNvSpPr txBox="1"/>
          <p:nvPr/>
        </p:nvSpPr>
        <p:spPr>
          <a:xfrm>
            <a:off x="777240" y="371856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Keep spelling, apostrophes and</a:t>
            </a:r>
          </a:p>
          <a:p>
            <a:pPr algn="l">
              <a:lnSpc>
                <a:spcPts val="2088"/>
              </a:lnSpc>
              <a:spcBef>
                <a:spcPts val="0"/>
              </a:spcBef>
              <a:spcAft>
                <a:spcPts val="0"/>
              </a:spcAft>
              <a:defRPr sz="1800" b="0">
                <a:solidFill>
                  <a:srgbClr val="587080"/>
                </a:solidFill>
                <a:latin typeface="Arial"/>
              </a:defRPr>
            </a:pPr>
            <a:r>
              <a:t>punctuation visible.</a:t>
            </a:r>
          </a:p>
        </p:txBody>
      </p:sp>
      <p:sp>
        <p:nvSpPr>
          <p:cNvPr id="15" name="Rectangle 14"/>
          <p:cNvSpPr/>
          <p:nvPr/>
        </p:nvSpPr>
        <p:spPr>
          <a:xfrm>
            <a:off x="594360"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9"/>
          <p:cNvSpPr txBox="1"/>
          <p:nvPr/>
        </p:nvSpPr>
        <p:spPr>
          <a:xfrm>
            <a:off x="777240" y="448360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Inspectable decisions</a:t>
            </a:r>
          </a:p>
        </p:txBody>
      </p:sp>
      <p:sp>
        <p:nvSpPr>
          <p:cNvPr id="17" name="body-10"/>
          <p:cNvSpPr txBox="1"/>
          <p:nvPr/>
        </p:nvSpPr>
        <p:spPr>
          <a:xfrm>
            <a:off x="777240" y="492252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Explain categories and grammar, not</a:t>
            </a:r>
          </a:p>
          <a:p>
            <a:pPr algn="l">
              <a:lnSpc>
                <a:spcPts val="2088"/>
              </a:lnSpc>
              <a:spcBef>
                <a:spcPts val="0"/>
              </a:spcBef>
              <a:spcAft>
                <a:spcPts val="0"/>
              </a:spcAft>
              <a:defRPr sz="1800" b="0">
                <a:solidFill>
                  <a:srgbClr val="587080"/>
                </a:solidFill>
                <a:latin typeface="Arial"/>
              </a:defRPr>
            </a:pPr>
            <a:r>
              <a:t>a translation.</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compiler/lexer/languages.py</a:t>
            </a:r>
          </a:p>
        </p:txBody>
      </p:sp>
      <p:sp>
        <p:nvSpPr>
          <p:cNvPr id="22"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004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4876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Five pages, one connected workflow</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Click a page card in the slideshow to jump to its walkthrough.</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a:hlinkClick action="ppaction://hlinksldjump" r:id="rId4"/>
          </p:cNvPr>
          <p:cNvSpPr/>
          <p:nvPr/>
        </p:nvSpPr>
        <p:spPr>
          <a:xfrm>
            <a:off x="548640" y="2020824"/>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a:hlinkClick action="ppaction://hlinksldjump" r:id="rId4"/>
          </p:cNvPr>
          <p:cNvSpPr txBox="1"/>
          <p:nvPr/>
        </p:nvSpPr>
        <p:spPr>
          <a:xfrm>
            <a:off x="758952" y="2194560"/>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01</a:t>
            </a:r>
          </a:p>
        </p:txBody>
      </p:sp>
      <p:sp>
        <p:nvSpPr>
          <p:cNvPr id="9" name="body-6">
            <a:hlinkClick action="ppaction://hlinksldjump" r:id="rId4"/>
          </p:cNvPr>
          <p:cNvSpPr txBox="1"/>
          <p:nvPr/>
        </p:nvSpPr>
        <p:spPr>
          <a:xfrm>
            <a:off x="758952" y="2624328"/>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Franc Analyzer</a:t>
            </a:r>
          </a:p>
        </p:txBody>
      </p:sp>
      <p:sp>
        <p:nvSpPr>
          <p:cNvPr id="10" name="body-7">
            <a:hlinkClick action="ppaction://hlinksldjump" r:id="rId4"/>
          </p:cNvPr>
          <p:cNvSpPr txBox="1"/>
          <p:nvPr/>
        </p:nvSpPr>
        <p:spPr>
          <a:xfrm>
            <a:off x="758952" y="3127248"/>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Enter text and record a test.</a:t>
            </a:r>
          </a:p>
        </p:txBody>
      </p:sp>
      <p:sp>
        <p:nvSpPr>
          <p:cNvPr id="11" name="Rounded Rectangle 10">
            <a:hlinkClick action="ppaction://hlinksldjump" r:id="rId5"/>
          </p:cNvPr>
          <p:cNvSpPr/>
          <p:nvPr/>
        </p:nvSpPr>
        <p:spPr>
          <a:xfrm>
            <a:off x="4315968" y="2020824"/>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a:hlinkClick action="ppaction://hlinksldjump" r:id="rId5"/>
          </p:cNvPr>
          <p:cNvSpPr txBox="1"/>
          <p:nvPr/>
        </p:nvSpPr>
        <p:spPr>
          <a:xfrm>
            <a:off x="4526280" y="2194560"/>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02</a:t>
            </a:r>
          </a:p>
        </p:txBody>
      </p:sp>
      <p:sp>
        <p:nvSpPr>
          <p:cNvPr id="13" name="body-9">
            <a:hlinkClick action="ppaction://hlinksldjump" r:id="rId5"/>
          </p:cNvPr>
          <p:cNvSpPr txBox="1"/>
          <p:nvPr/>
        </p:nvSpPr>
        <p:spPr>
          <a:xfrm>
            <a:off x="4526280" y="2624328"/>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Analysis</a:t>
            </a:r>
          </a:p>
        </p:txBody>
      </p:sp>
      <p:sp>
        <p:nvSpPr>
          <p:cNvPr id="14" name="body-10">
            <a:hlinkClick action="ppaction://hlinksldjump" r:id="rId5"/>
          </p:cNvPr>
          <p:cNvSpPr txBox="1"/>
          <p:nvPr/>
        </p:nvSpPr>
        <p:spPr>
          <a:xfrm>
            <a:off x="4526280" y="3127248"/>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Inspect saved results and</a:t>
            </a:r>
          </a:p>
          <a:p>
            <a:pPr algn="l">
              <a:lnSpc>
                <a:spcPts val="1972"/>
              </a:lnSpc>
              <a:spcBef>
                <a:spcPts val="0"/>
              </a:spcBef>
              <a:spcAft>
                <a:spcPts val="0"/>
              </a:spcAft>
              <a:defRPr sz="1700" b="0">
                <a:solidFill>
                  <a:srgbClr val="587080"/>
                </a:solidFill>
                <a:latin typeface="Arial"/>
              </a:defRPr>
            </a:pPr>
            <a:r>
              <a:t>statistics.</a:t>
            </a:r>
          </a:p>
        </p:txBody>
      </p:sp>
      <p:sp>
        <p:nvSpPr>
          <p:cNvPr id="15" name="Rounded Rectangle 14">
            <a:hlinkClick action="ppaction://hlinksldjump" r:id="rId6"/>
          </p:cNvPr>
          <p:cNvSpPr/>
          <p:nvPr/>
        </p:nvSpPr>
        <p:spPr>
          <a:xfrm>
            <a:off x="8083296" y="2020824"/>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11">
            <a:hlinkClick action="ppaction://hlinksldjump" r:id="rId6"/>
          </p:cNvPr>
          <p:cNvSpPr txBox="1"/>
          <p:nvPr/>
        </p:nvSpPr>
        <p:spPr>
          <a:xfrm>
            <a:off x="8293608" y="2194560"/>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03</a:t>
            </a:r>
          </a:p>
        </p:txBody>
      </p:sp>
      <p:sp>
        <p:nvSpPr>
          <p:cNvPr id="17" name="body-12">
            <a:hlinkClick action="ppaction://hlinksldjump" r:id="rId6"/>
          </p:cNvPr>
          <p:cNvSpPr txBox="1"/>
          <p:nvPr/>
        </p:nvSpPr>
        <p:spPr>
          <a:xfrm>
            <a:off x="8293608" y="2624328"/>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Collection</a:t>
            </a:r>
          </a:p>
        </p:txBody>
      </p:sp>
      <p:sp>
        <p:nvSpPr>
          <p:cNvPr id="18" name="body-13">
            <a:hlinkClick action="ppaction://hlinksldjump" r:id="rId6"/>
          </p:cNvPr>
          <p:cNvSpPr txBox="1"/>
          <p:nvPr/>
        </p:nvSpPr>
        <p:spPr>
          <a:xfrm>
            <a:off x="8293608" y="3127248"/>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Browse supplied records,</a:t>
            </a:r>
          </a:p>
          <a:p>
            <a:pPr algn="l">
              <a:lnSpc>
                <a:spcPts val="1972"/>
              </a:lnSpc>
              <a:spcBef>
                <a:spcPts val="0"/>
              </a:spcBef>
              <a:spcAft>
                <a:spcPts val="0"/>
              </a:spcAft>
              <a:defRPr sz="1700" b="0">
                <a:solidFill>
                  <a:srgbClr val="587080"/>
                </a:solidFill>
                <a:latin typeface="Arial"/>
              </a:defRPr>
            </a:pPr>
            <a:r>
              <a:t>context and audio.</a:t>
            </a:r>
          </a:p>
        </p:txBody>
      </p:sp>
      <p:sp>
        <p:nvSpPr>
          <p:cNvPr id="19" name="Rounded Rectangle 18">
            <a:hlinkClick action="ppaction://hlinksldjump" r:id="rId7"/>
          </p:cNvPr>
          <p:cNvSpPr/>
          <p:nvPr/>
        </p:nvSpPr>
        <p:spPr>
          <a:xfrm>
            <a:off x="548640" y="3922776"/>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body-14">
            <a:hlinkClick action="ppaction://hlinksldjump" r:id="rId7"/>
          </p:cNvPr>
          <p:cNvSpPr txBox="1"/>
          <p:nvPr/>
        </p:nvSpPr>
        <p:spPr>
          <a:xfrm>
            <a:off x="758952" y="4096512"/>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04</a:t>
            </a:r>
          </a:p>
        </p:txBody>
      </p:sp>
      <p:sp>
        <p:nvSpPr>
          <p:cNvPr id="21" name="body-15">
            <a:hlinkClick action="ppaction://hlinksldjump" r:id="rId7"/>
          </p:cNvPr>
          <p:cNvSpPr txBox="1"/>
          <p:nvPr/>
        </p:nvSpPr>
        <p:spPr>
          <a:xfrm>
            <a:off x="758952" y="4526280"/>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Dictionary</a:t>
            </a:r>
          </a:p>
        </p:txBody>
      </p:sp>
      <p:sp>
        <p:nvSpPr>
          <p:cNvPr id="22" name="body-16">
            <a:hlinkClick action="ppaction://hlinksldjump" r:id="rId7"/>
          </p:cNvPr>
          <p:cNvSpPr txBox="1"/>
          <p:nvPr/>
        </p:nvSpPr>
        <p:spPr>
          <a:xfrm>
            <a:off x="758952" y="5029200"/>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Search source-labelled</a:t>
            </a:r>
          </a:p>
          <a:p>
            <a:pPr algn="l">
              <a:lnSpc>
                <a:spcPts val="1972"/>
              </a:lnSpc>
              <a:spcBef>
                <a:spcPts val="0"/>
              </a:spcBef>
              <a:spcAft>
                <a:spcPts val="0"/>
              </a:spcAft>
              <a:defRPr sz="1700" b="0">
                <a:solidFill>
                  <a:srgbClr val="587080"/>
                </a:solidFill>
                <a:latin typeface="Arial"/>
              </a:defRPr>
            </a:pPr>
            <a:r>
              <a:t>vocabulary.</a:t>
            </a:r>
          </a:p>
        </p:txBody>
      </p:sp>
      <p:sp>
        <p:nvSpPr>
          <p:cNvPr id="23" name="Rounded Rectangle 22">
            <a:hlinkClick action="ppaction://hlinksldjump" r:id="rId8"/>
          </p:cNvPr>
          <p:cNvSpPr/>
          <p:nvPr/>
        </p:nvSpPr>
        <p:spPr>
          <a:xfrm>
            <a:off x="4315968" y="3922776"/>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body-17">
            <a:hlinkClick action="ppaction://hlinksldjump" r:id="rId8"/>
          </p:cNvPr>
          <p:cNvSpPr txBox="1"/>
          <p:nvPr/>
        </p:nvSpPr>
        <p:spPr>
          <a:xfrm>
            <a:off x="4526280" y="4096512"/>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05</a:t>
            </a:r>
          </a:p>
        </p:txBody>
      </p:sp>
      <p:sp>
        <p:nvSpPr>
          <p:cNvPr id="25" name="body-18">
            <a:hlinkClick action="ppaction://hlinksldjump" r:id="rId8"/>
          </p:cNvPr>
          <p:cNvSpPr txBox="1"/>
          <p:nvPr/>
        </p:nvSpPr>
        <p:spPr>
          <a:xfrm>
            <a:off x="4526280" y="4526280"/>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Synthetic examples</a:t>
            </a:r>
          </a:p>
        </p:txBody>
      </p:sp>
      <p:sp>
        <p:nvSpPr>
          <p:cNvPr id="26" name="body-19">
            <a:hlinkClick action="ppaction://hlinksldjump" r:id="rId8"/>
          </p:cNvPr>
          <p:cNvSpPr txBox="1"/>
          <p:nvPr/>
        </p:nvSpPr>
        <p:spPr>
          <a:xfrm>
            <a:off x="4526280" y="5029200"/>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Explore clearly constructed</a:t>
            </a:r>
          </a:p>
          <a:p>
            <a:pPr algn="l">
              <a:lnSpc>
                <a:spcPts val="1972"/>
              </a:lnSpc>
              <a:spcBef>
                <a:spcPts val="0"/>
              </a:spcBef>
              <a:spcAft>
                <a:spcPts val="0"/>
              </a:spcAft>
              <a:defRPr sz="1700" b="0">
                <a:solidFill>
                  <a:srgbClr val="587080"/>
                </a:solidFill>
                <a:latin typeface="Arial"/>
              </a:defRPr>
            </a:pPr>
            <a:r>
              <a:t>practice material.</a:t>
            </a:r>
          </a:p>
        </p:txBody>
      </p:sp>
      <p:sp>
        <p:nvSpPr>
          <p:cNvPr id="27" name="Rounded Rectangle 26"/>
          <p:cNvSpPr/>
          <p:nvPr/>
        </p:nvSpPr>
        <p:spPr>
          <a:xfrm>
            <a:off x="8083296" y="3922776"/>
            <a:ext cx="3547872" cy="170078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20"/>
          <p:cNvSpPr txBox="1"/>
          <p:nvPr/>
        </p:nvSpPr>
        <p:spPr>
          <a:xfrm>
            <a:off x="8311896" y="4279392"/>
            <a:ext cx="3017520" cy="100584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FFFFFF"/>
                </a:solidFill>
                <a:latin typeface="Arial"/>
              </a:defRPr>
            </a:pPr>
            <a:r>
              <a:t>ONE SHARED</a:t>
            </a:r>
          </a:p>
          <a:p>
            <a:pPr algn="l">
              <a:lnSpc>
                <a:spcPts val="2552"/>
              </a:lnSpc>
              <a:spcBef>
                <a:spcPts val="0"/>
              </a:spcBef>
              <a:spcAft>
                <a:spcPts val="0"/>
              </a:spcAft>
              <a:defRPr sz="2200" b="1">
                <a:solidFill>
                  <a:srgbClr val="FFFFFF"/>
                </a:solidFill>
                <a:latin typeface="Arial"/>
              </a:defRPr>
            </a:pPr>
            <a:r>
              <a:t>PUBLIC WORKSPACE</a:t>
            </a:r>
          </a:p>
        </p:txBody>
      </p:sp>
      <p:cxnSp>
        <p:nvCxnSpPr>
          <p:cNvPr id="29" name="Connector 2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0"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1"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32"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3"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005 / 100</a:t>
            </a:r>
          </a:p>
        </p:txBody>
      </p:sp>
      <p:sp>
        <p:nvSpPr>
          <p:cNvPr id="34" name="Rectangle 3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0" y="6821424"/>
            <a:ext cx="6095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From statement to saved evidence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main journey has five visible outcomes.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TEXT</a:t>
            </a:r>
          </a:p>
        </p:txBody>
      </p:sp>
      <p:sp>
        <p:nvSpPr>
          <p:cNvPr id="10" name="body-7"/>
          <p:cNvSpPr txBox="1"/>
          <p:nvPr/>
        </p:nvSpPr>
        <p:spPr>
          <a:xfrm>
            <a:off x="731520"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Preserve the</a:t>
            </a:r>
          </a:p>
          <a:p>
            <a:pPr algn="l">
              <a:lnSpc>
                <a:spcPts val="2088"/>
              </a:lnSpc>
              <a:spcBef>
                <a:spcPts val="0"/>
              </a:spcBef>
              <a:spcAft>
                <a:spcPts val="0"/>
              </a:spcAft>
              <a:defRPr sz="1800" b="0">
                <a:solidFill>
                  <a:srgbClr val="587080"/>
                </a:solidFill>
                <a:latin typeface="Arial"/>
              </a:defRPr>
            </a:pPr>
            <a:r>
              <a:t>raw input.</a:t>
            </a:r>
          </a:p>
        </p:txBody>
      </p:sp>
      <p:sp>
        <p:nvSpPr>
          <p:cNvPr id="11" name="Chevron 10"/>
          <p:cNvSpPr/>
          <p:nvPr/>
        </p:nvSpPr>
        <p:spPr>
          <a:xfrm>
            <a:off x="262158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82732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01020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01020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TOKENS</a:t>
            </a:r>
          </a:p>
        </p:txBody>
      </p:sp>
      <p:sp>
        <p:nvSpPr>
          <p:cNvPr id="15" name="body-10"/>
          <p:cNvSpPr txBox="1"/>
          <p:nvPr/>
        </p:nvSpPr>
        <p:spPr>
          <a:xfrm>
            <a:off x="3010204"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Split and assign</a:t>
            </a:r>
          </a:p>
          <a:p>
            <a:pPr algn="l">
              <a:lnSpc>
                <a:spcPts val="2088"/>
              </a:lnSpc>
              <a:spcBef>
                <a:spcPts val="0"/>
              </a:spcBef>
              <a:spcAft>
                <a:spcPts val="0"/>
              </a:spcAft>
              <a:defRPr sz="1800" b="0">
                <a:solidFill>
                  <a:srgbClr val="587080"/>
                </a:solidFill>
                <a:latin typeface="Arial"/>
              </a:defRPr>
            </a:pPr>
            <a:r>
              <a:t>categories.</a:t>
            </a:r>
          </a:p>
        </p:txBody>
      </p:sp>
      <p:sp>
        <p:nvSpPr>
          <p:cNvPr id="16" name="Chevron 15"/>
          <p:cNvSpPr/>
          <p:nvPr/>
        </p:nvSpPr>
        <p:spPr>
          <a:xfrm>
            <a:off x="490026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510600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528888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528888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GRAMMAR</a:t>
            </a:r>
          </a:p>
        </p:txBody>
      </p:sp>
      <p:sp>
        <p:nvSpPr>
          <p:cNvPr id="20" name="body-13"/>
          <p:cNvSpPr txBox="1"/>
          <p:nvPr/>
        </p:nvSpPr>
        <p:spPr>
          <a:xfrm>
            <a:off x="5288889"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Run the saved</a:t>
            </a:r>
          </a:p>
          <a:p>
            <a:pPr algn="l">
              <a:lnSpc>
                <a:spcPts val="2088"/>
              </a:lnSpc>
              <a:spcBef>
                <a:spcPts val="0"/>
              </a:spcBef>
              <a:spcAft>
                <a:spcPts val="0"/>
              </a:spcAft>
              <a:defRPr sz="1800" b="0">
                <a:solidFill>
                  <a:srgbClr val="587080"/>
                </a:solidFill>
                <a:latin typeface="Arial"/>
              </a:defRPr>
            </a:pPr>
            <a:r>
              <a:t>LL(1) rules.</a:t>
            </a:r>
          </a:p>
        </p:txBody>
      </p:sp>
      <p:sp>
        <p:nvSpPr>
          <p:cNvPr id="21" name="Chevron 20"/>
          <p:cNvSpPr/>
          <p:nvPr/>
        </p:nvSpPr>
        <p:spPr>
          <a:xfrm>
            <a:off x="717895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38469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756757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756757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SNAPSHOT</a:t>
            </a:r>
          </a:p>
        </p:txBody>
      </p:sp>
      <p:sp>
        <p:nvSpPr>
          <p:cNvPr id="25" name="body-16"/>
          <p:cNvSpPr txBox="1"/>
          <p:nvPr/>
        </p:nvSpPr>
        <p:spPr>
          <a:xfrm>
            <a:off x="7567574"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Retain the</a:t>
            </a:r>
          </a:p>
          <a:p>
            <a:pPr algn="l">
              <a:lnSpc>
                <a:spcPts val="2088"/>
              </a:lnSpc>
              <a:spcBef>
                <a:spcPts val="0"/>
              </a:spcBef>
              <a:spcAft>
                <a:spcPts val="0"/>
              </a:spcAft>
              <a:defRPr sz="1800" b="0">
                <a:solidFill>
                  <a:srgbClr val="587080"/>
                </a:solidFill>
                <a:latin typeface="Arial"/>
              </a:defRPr>
            </a:pPr>
            <a:r>
              <a:t>original result.</a:t>
            </a:r>
          </a:p>
        </p:txBody>
      </p:sp>
      <p:sp>
        <p:nvSpPr>
          <p:cNvPr id="26" name="Chevron 25"/>
          <p:cNvSpPr/>
          <p:nvPr/>
        </p:nvSpPr>
        <p:spPr>
          <a:xfrm>
            <a:off x="945763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966337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17"/>
          <p:cNvSpPr txBox="1"/>
          <p:nvPr/>
        </p:nvSpPr>
        <p:spPr>
          <a:xfrm>
            <a:off x="984625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05</a:t>
            </a:r>
          </a:p>
        </p:txBody>
      </p:sp>
      <p:sp>
        <p:nvSpPr>
          <p:cNvPr id="29" name="body-18"/>
          <p:cNvSpPr txBox="1"/>
          <p:nvPr/>
        </p:nvSpPr>
        <p:spPr>
          <a:xfrm>
            <a:off x="984625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REVIEW</a:t>
            </a:r>
          </a:p>
        </p:txBody>
      </p:sp>
      <p:sp>
        <p:nvSpPr>
          <p:cNvPr id="30" name="body-19"/>
          <p:cNvSpPr txBox="1"/>
          <p:nvPr/>
        </p:nvSpPr>
        <p:spPr>
          <a:xfrm>
            <a:off x="9846259"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Inspect tokens,</a:t>
            </a:r>
          </a:p>
          <a:p>
            <a:pPr algn="l">
              <a:lnSpc>
                <a:spcPts val="1972"/>
              </a:lnSpc>
              <a:spcBef>
                <a:spcPts val="0"/>
              </a:spcBef>
              <a:spcAft>
                <a:spcPts val="0"/>
              </a:spcAft>
              <a:defRPr sz="1700" b="0">
                <a:solidFill>
                  <a:srgbClr val="587080"/>
                </a:solidFill>
                <a:latin typeface="Arial"/>
              </a:defRPr>
            </a:pPr>
            <a:r>
              <a:t>trace and</a:t>
            </a:r>
          </a:p>
          <a:p>
            <a:pPr algn="l">
              <a:lnSpc>
                <a:spcPts val="1972"/>
              </a:lnSpc>
              <a:spcBef>
                <a:spcPts val="0"/>
              </a:spcBef>
              <a:spcAft>
                <a:spcPts val="0"/>
              </a:spcAft>
              <a:defRPr sz="1700" b="0">
                <a:solidFill>
                  <a:srgbClr val="587080"/>
                </a:solidFill>
                <a:latin typeface="Arial"/>
              </a:defRPr>
            </a:pPr>
            <a:r>
              <a:t>statistics.</a:t>
            </a:r>
          </a:p>
        </p:txBody>
      </p:sp>
      <p:sp>
        <p:nvSpPr>
          <p:cNvPr id="31" name="caption-20"/>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35"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backend/analyzer.py</a:t>
            </a:r>
          </a:p>
        </p:txBody>
      </p:sp>
      <p:sp>
        <p:nvSpPr>
          <p:cNvPr id="36"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7"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8"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006 / 100</a:t>
            </a:r>
          </a:p>
        </p:txBody>
      </p:sp>
      <p:sp>
        <p:nvSpPr>
          <p:cNvPr id="39" name="Rectangle 38"/>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0" y="6821424"/>
            <a:ext cx="7315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Two verdicts. Different questions.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familiar word sequence is not automatically a grammatical match.</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VOCABULARY</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Are any tokens UNKNOWN?</a:t>
            </a:r>
          </a:p>
          <a:p>
            <a:pPr algn="l">
              <a:lnSpc>
                <a:spcPts val="2552"/>
              </a:lnSpc>
              <a:spcBef>
                <a:spcPts val="0"/>
              </a:spcBef>
              <a:spcAft>
                <a:spcPts val="0"/>
              </a:spcAft>
              <a:defRPr sz="2200" b="0">
                <a:solidFill>
                  <a:srgbClr val="D1E2E1"/>
                </a:solidFill>
                <a:latin typeface="Arial"/>
              </a:defRPr>
            </a:pPr>
            <a:r>
              <a:t>No unknowns means vocabulary</a:t>
            </a:r>
          </a:p>
          <a:p>
            <a:pPr algn="l">
              <a:lnSpc>
                <a:spcPts val="2552"/>
              </a:lnSpc>
              <a:spcBef>
                <a:spcPts val="0"/>
              </a:spcBef>
              <a:spcAft>
                <a:spcPts val="0"/>
              </a:spcAft>
              <a:defRPr sz="2200" b="0">
                <a:solidFill>
                  <a:srgbClr val="D1E2E1"/>
                </a:solidFill>
                <a:latin typeface="Arial"/>
              </a:defRPr>
            </a:pPr>
            <a:r>
              <a:t>approval.</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GRAMMAR</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Does the category sequence fit the</a:t>
            </a:r>
          </a:p>
          <a:p>
            <a:pPr algn="l">
              <a:lnSpc>
                <a:spcPts val="2552"/>
              </a:lnSpc>
              <a:spcBef>
                <a:spcPts val="0"/>
              </a:spcBef>
              <a:spcAft>
                <a:spcPts val="0"/>
              </a:spcAft>
              <a:defRPr sz="2200" b="0">
                <a:solidFill>
                  <a:srgbClr val="587080"/>
                </a:solidFill>
                <a:latin typeface="Arial"/>
              </a:defRPr>
            </a:pPr>
            <a:r>
              <a:t>saved CFG?</a:t>
            </a:r>
          </a:p>
          <a:p>
            <a:pPr algn="l">
              <a:lnSpc>
                <a:spcPts val="2552"/>
              </a:lnSpc>
              <a:spcBef>
                <a:spcPts val="0"/>
              </a:spcBef>
              <a:spcAft>
                <a:spcPts val="0"/>
              </a:spcAft>
              <a:defRPr sz="2200" b="0">
                <a:solidFill>
                  <a:srgbClr val="587080"/>
                </a:solidFill>
                <a:latin typeface="Arial"/>
              </a:defRPr>
            </a:pPr>
            <a:r>
              <a:t>Known words can still reject.</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frontend/src/VocabularyVerdict.tsx</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007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8534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Public does not mean editable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permission boundary is deliberate.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Action</a:t>
            </a:r>
          </a:p>
        </p:txBody>
      </p:sp>
      <p:sp>
        <p:nvSpPr>
          <p:cNvPr id="9" name="body-6"/>
          <p:cNvSpPr txBox="1"/>
          <p:nvPr/>
        </p:nvSpPr>
        <p:spPr>
          <a:xfrm>
            <a:off x="5464362" y="2093976"/>
            <a:ext cx="6047933"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Public behavior</a:t>
            </a:r>
          </a:p>
        </p:txBody>
      </p:sp>
      <p:sp>
        <p:nvSpPr>
          <p:cNvPr id="10" name="Rectangle 9"/>
          <p:cNvSpPr/>
          <p:nvPr/>
        </p:nvSpPr>
        <p:spPr>
          <a:xfrm>
            <a:off x="548640" y="2441448"/>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548640" y="299466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2" name="body-7"/>
          <p:cNvSpPr txBox="1"/>
          <p:nvPr/>
        </p:nvSpPr>
        <p:spPr>
          <a:xfrm>
            <a:off x="694944" y="252374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Analyze and save tests</a:t>
            </a:r>
          </a:p>
        </p:txBody>
      </p:sp>
      <p:sp>
        <p:nvSpPr>
          <p:cNvPr id="13" name="body-8"/>
          <p:cNvSpPr txBox="1"/>
          <p:nvPr/>
        </p:nvSpPr>
        <p:spPr>
          <a:xfrm>
            <a:off x="5464362" y="2523744"/>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Allowed; results are retained publicly</a:t>
            </a:r>
          </a:p>
        </p:txBody>
      </p:sp>
      <p:sp>
        <p:nvSpPr>
          <p:cNvPr id="14" name="Rectangle 13"/>
          <p:cNvSpPr/>
          <p:nvPr/>
        </p:nvSpPr>
        <p:spPr>
          <a:xfrm>
            <a:off x="548640" y="2994660"/>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48640" y="354787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body-9"/>
          <p:cNvSpPr txBox="1"/>
          <p:nvPr/>
        </p:nvSpPr>
        <p:spPr>
          <a:xfrm>
            <a:off x="694944" y="3076956"/>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Read saved tests</a:t>
            </a:r>
          </a:p>
        </p:txBody>
      </p:sp>
      <p:sp>
        <p:nvSpPr>
          <p:cNvPr id="17" name="body-10"/>
          <p:cNvSpPr txBox="1"/>
          <p:nvPr/>
        </p:nvSpPr>
        <p:spPr>
          <a:xfrm>
            <a:off x="5464362" y="3076956"/>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Allowed; original snapshots</a:t>
            </a:r>
          </a:p>
        </p:txBody>
      </p:sp>
      <p:sp>
        <p:nvSpPr>
          <p:cNvPr id="18" name="Rectangle 17"/>
          <p:cNvSpPr/>
          <p:nvPr/>
        </p:nvSpPr>
        <p:spPr>
          <a:xfrm>
            <a:off x="548640" y="3547872"/>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a:off x="548640" y="410108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body-11"/>
          <p:cNvSpPr txBox="1"/>
          <p:nvPr/>
        </p:nvSpPr>
        <p:spPr>
          <a:xfrm>
            <a:off x="694944" y="3630168"/>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Browse Collection and grammar</a:t>
            </a:r>
          </a:p>
        </p:txBody>
      </p:sp>
      <p:sp>
        <p:nvSpPr>
          <p:cNvPr id="21" name="body-12"/>
          <p:cNvSpPr txBox="1"/>
          <p:nvPr/>
        </p:nvSpPr>
        <p:spPr>
          <a:xfrm>
            <a:off x="5464362" y="3630168"/>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Read-only</a:t>
            </a:r>
          </a:p>
        </p:txBody>
      </p:sp>
      <p:sp>
        <p:nvSpPr>
          <p:cNvPr id="22" name="Rectangle 21"/>
          <p:cNvSpPr/>
          <p:nvPr/>
        </p:nvSpPr>
        <p:spPr>
          <a:xfrm>
            <a:off x="548640" y="4101083"/>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Connector 22"/>
          <p:cNvCxnSpPr/>
          <p:nvPr/>
        </p:nvCxnSpPr>
        <p:spPr>
          <a:xfrm>
            <a:off x="548640" y="465429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body-13"/>
          <p:cNvSpPr txBox="1"/>
          <p:nvPr/>
        </p:nvSpPr>
        <p:spPr>
          <a:xfrm>
            <a:off x="694944" y="4183379"/>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Play existing recordings</a:t>
            </a:r>
          </a:p>
        </p:txBody>
      </p:sp>
      <p:sp>
        <p:nvSpPr>
          <p:cNvPr id="25" name="body-14"/>
          <p:cNvSpPr txBox="1"/>
          <p:nvPr/>
        </p:nvSpPr>
        <p:spPr>
          <a:xfrm>
            <a:off x="5464362" y="4183379"/>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Allowed when a matching file exists</a:t>
            </a:r>
          </a:p>
        </p:txBody>
      </p:sp>
      <p:sp>
        <p:nvSpPr>
          <p:cNvPr id="26" name="Rectangle 25"/>
          <p:cNvSpPr/>
          <p:nvPr/>
        </p:nvSpPr>
        <p:spPr>
          <a:xfrm>
            <a:off x="548640" y="4654296"/>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207508"/>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5"/>
          <p:cNvSpPr txBox="1"/>
          <p:nvPr/>
        </p:nvSpPr>
        <p:spPr>
          <a:xfrm>
            <a:off x="694944" y="4736592"/>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Edit reference data or recordings</a:t>
            </a:r>
          </a:p>
        </p:txBody>
      </p:sp>
      <p:sp>
        <p:nvSpPr>
          <p:cNvPr id="29" name="body-16"/>
          <p:cNvSpPr txBox="1"/>
          <p:nvPr/>
        </p:nvSpPr>
        <p:spPr>
          <a:xfrm>
            <a:off x="5464362" y="4736592"/>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Denied</a:t>
            </a:r>
          </a:p>
        </p:txBody>
      </p:sp>
      <p:sp>
        <p:nvSpPr>
          <p:cNvPr id="30" name="Rectangle 29"/>
          <p:cNvSpPr/>
          <p:nvPr/>
        </p:nvSpPr>
        <p:spPr>
          <a:xfrm>
            <a:off x="548640" y="5207508"/>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30"/>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2" name="body-17"/>
          <p:cNvSpPr txBox="1"/>
          <p:nvPr/>
        </p:nvSpPr>
        <p:spPr>
          <a:xfrm>
            <a:off x="694944" y="528980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Use accounts or private maintenance APIs</a:t>
            </a:r>
          </a:p>
        </p:txBody>
      </p:sp>
      <p:sp>
        <p:nvSpPr>
          <p:cNvPr id="33" name="body-18"/>
          <p:cNvSpPr txBox="1"/>
          <p:nvPr/>
        </p:nvSpPr>
        <p:spPr>
          <a:xfrm>
            <a:off x="5464362" y="5289804"/>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Not exposed publicly</a:t>
            </a:r>
          </a:p>
        </p:txBody>
      </p:sp>
      <p:cxnSp>
        <p:nvCxnSpPr>
          <p:cNvPr id="34" name="Connector 33"/>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5" name="footer-19"/>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6" name="source-20">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37" name="source-21">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frontend/src/PublicSession.tsx</a:t>
            </a:r>
          </a:p>
        </p:txBody>
      </p:sp>
      <p:sp>
        <p:nvSpPr>
          <p:cNvPr id="38"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008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9753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Every feature has a source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Read the source rail as a map, not just a list of filenames.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0" name="body-6"/>
          <p:cNvSpPr txBox="1"/>
          <p:nvPr/>
        </p:nvSpPr>
        <p:spPr>
          <a:xfrm>
            <a:off x="749808"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App.tsx</a:t>
            </a:r>
          </a:p>
        </p:txBody>
      </p:sp>
      <p:sp>
        <p:nvSpPr>
          <p:cNvPr id="11" name="body-7"/>
          <p:cNvSpPr txBox="1"/>
          <p:nvPr/>
        </p:nvSpPr>
        <p:spPr>
          <a:xfrm>
            <a:off x="749808"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Chooses the page and connects navigation.</a:t>
            </a:r>
          </a:p>
        </p:txBody>
      </p:sp>
      <p:sp>
        <p:nvSpPr>
          <p:cNvPr id="12" name="Rounded Rectangle 11"/>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6409944"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15" name="body-9"/>
          <p:cNvSpPr txBox="1"/>
          <p:nvPr/>
        </p:nvSpPr>
        <p:spPr>
          <a:xfrm>
            <a:off x="6409944"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analyzer_api.py</a:t>
            </a:r>
          </a:p>
        </p:txBody>
      </p:sp>
      <p:sp>
        <p:nvSpPr>
          <p:cNvPr id="16" name="body-10"/>
          <p:cNvSpPr txBox="1"/>
          <p:nvPr/>
        </p:nvSpPr>
        <p:spPr>
          <a:xfrm>
            <a:off x="6409944"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Receives analyzer HTTP requests.</a:t>
            </a:r>
          </a:p>
        </p:txBody>
      </p:sp>
      <p:sp>
        <p:nvSpPr>
          <p:cNvPr id="17" name="Rounded Rectangle 16"/>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749808"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20" name="body-12"/>
          <p:cNvSpPr txBox="1"/>
          <p:nvPr/>
        </p:nvSpPr>
        <p:spPr>
          <a:xfrm>
            <a:off x="749808"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tokenizer.py</a:t>
            </a:r>
          </a:p>
        </p:txBody>
      </p:sp>
      <p:sp>
        <p:nvSpPr>
          <p:cNvPr id="21" name="body-13"/>
          <p:cNvSpPr txBox="1"/>
          <p:nvPr/>
        </p:nvSpPr>
        <p:spPr>
          <a:xfrm>
            <a:off x="749808"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Splits and classifies the input.</a:t>
            </a:r>
          </a:p>
        </p:txBody>
      </p:sp>
      <p:sp>
        <p:nvSpPr>
          <p:cNvPr id="22" name="Rounded Rectangle 21"/>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6409944"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5" name="body-15"/>
          <p:cNvSpPr txBox="1"/>
          <p:nvPr/>
        </p:nvSpPr>
        <p:spPr>
          <a:xfrm>
            <a:off x="6409944"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predictive.py</a:t>
            </a:r>
          </a:p>
        </p:txBody>
      </p:sp>
      <p:sp>
        <p:nvSpPr>
          <p:cNvPr id="26" name="body-16"/>
          <p:cNvSpPr txBox="1"/>
          <p:nvPr/>
        </p:nvSpPr>
        <p:spPr>
          <a:xfrm>
            <a:off x="6409944"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Executes the bounded parsing stack.</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8">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30" name="source-19">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31" name="source-20">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2" name="source-21">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3"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4"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009 / 100</a:t>
            </a:r>
          </a:p>
        </p:txBody>
      </p:sp>
      <p:sp>
        <p:nvSpPr>
          <p:cNvPr id="35" name="Rectangle 3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0" y="6821424"/>
            <a:ext cx="10972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01 / MEET THE PRODUCT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project at a glance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Different numbers describe different parts of the system.</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95528"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5</a:t>
            </a:r>
          </a:p>
        </p:txBody>
      </p:sp>
      <p:sp>
        <p:nvSpPr>
          <p:cNvPr id="9" name="body-6"/>
          <p:cNvSpPr txBox="1"/>
          <p:nvPr/>
        </p:nvSpPr>
        <p:spPr>
          <a:xfrm>
            <a:off x="804672"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Public pages</a:t>
            </a:r>
          </a:p>
        </p:txBody>
      </p:sp>
      <p:sp>
        <p:nvSpPr>
          <p:cNvPr id="10" name="Rounded Rectangle 9"/>
          <p:cNvSpPr/>
          <p:nvPr/>
        </p:nvSpPr>
        <p:spPr>
          <a:xfrm>
            <a:off x="6208776"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6455664"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12</a:t>
            </a:r>
          </a:p>
        </p:txBody>
      </p:sp>
      <p:sp>
        <p:nvSpPr>
          <p:cNvPr id="12" name="body-8"/>
          <p:cNvSpPr txBox="1"/>
          <p:nvPr/>
        </p:nvSpPr>
        <p:spPr>
          <a:xfrm>
            <a:off x="6464808"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Statements in the controlled study</a:t>
            </a:r>
          </a:p>
        </p:txBody>
      </p:sp>
      <p:sp>
        <p:nvSpPr>
          <p:cNvPr id="13" name="Rounded Rectangle 12"/>
          <p:cNvSpPr/>
          <p:nvPr/>
        </p:nvSpPr>
        <p:spPr>
          <a:xfrm>
            <a:off x="548640"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95528"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938</a:t>
            </a:r>
          </a:p>
        </p:txBody>
      </p:sp>
      <p:sp>
        <p:nvSpPr>
          <p:cNvPr id="15" name="body-10"/>
          <p:cNvSpPr txBox="1"/>
          <p:nvPr/>
        </p:nvSpPr>
        <p:spPr>
          <a:xfrm>
            <a:off x="804672"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Reference dictionary entries</a:t>
            </a:r>
          </a:p>
        </p:txBody>
      </p:sp>
      <p:sp>
        <p:nvSpPr>
          <p:cNvPr id="16" name="Rounded Rectangle 15"/>
          <p:cNvSpPr/>
          <p:nvPr/>
        </p:nvSpPr>
        <p:spPr>
          <a:xfrm>
            <a:off x="6208776"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6455664"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26</a:t>
            </a:r>
          </a:p>
        </p:txBody>
      </p:sp>
      <p:sp>
        <p:nvSpPr>
          <p:cNvPr id="18" name="body-12"/>
          <p:cNvSpPr txBox="1"/>
          <p:nvPr/>
        </p:nvSpPr>
        <p:spPr>
          <a:xfrm>
            <a:off x="6464808"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Constructed practice examples</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3"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docs/README.md</a:t>
            </a:r>
          </a:p>
        </p:txBody>
      </p:sp>
      <p:sp>
        <p:nvSpPr>
          <p:cNvPr id="24"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5"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010 / 100</a:t>
            </a:r>
          </a:p>
        </p:txBody>
      </p:sp>
      <p:sp>
        <p:nvSpPr>
          <p:cNvPr id="26" name="Rectangle 25"/>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0" y="6821424"/>
            <a:ext cx="12191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Start in Franc Analyzer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No account gate stands between the visitor and the input.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One main input</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Type or paste a sentence</a:t>
            </a:r>
          </a:p>
          <a:p>
            <a:pPr algn="l">
              <a:lnSpc>
                <a:spcPts val="2088"/>
              </a:lnSpc>
              <a:spcBef>
                <a:spcPts val="0"/>
              </a:spcBef>
              <a:spcAft>
                <a:spcPts val="0"/>
              </a:spcAft>
              <a:defRPr sz="1800" b="0">
                <a:solidFill>
                  <a:srgbClr val="587080"/>
                </a:solidFill>
                <a:latin typeface="Arial"/>
              </a:defRPr>
            </a:pPr>
            <a:r>
              <a:t>or word.</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Saved grammar</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The public interface uses the</a:t>
            </a:r>
          </a:p>
          <a:p>
            <a:pPr algn="l">
              <a:lnSpc>
                <a:spcPts val="1972"/>
              </a:lnSpc>
              <a:spcBef>
                <a:spcPts val="0"/>
              </a:spcBef>
              <a:spcAft>
                <a:spcPts val="0"/>
              </a:spcAft>
              <a:defRPr sz="1700" b="0">
                <a:solidFill>
                  <a:srgbClr val="587080"/>
                </a:solidFill>
                <a:latin typeface="Arial"/>
              </a:defRPr>
            </a:pPr>
            <a:r>
              <a:t>operator-saved grammar.</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Visible retention notice</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interface explains that</a:t>
            </a:r>
          </a:p>
          <a:p>
            <a:pPr algn="l">
              <a:lnSpc>
                <a:spcPts val="2088"/>
              </a:lnSpc>
              <a:spcBef>
                <a:spcPts val="0"/>
              </a:spcBef>
              <a:spcAft>
                <a:spcPts val="0"/>
              </a:spcAft>
              <a:defRPr sz="1800" b="0">
                <a:solidFill>
                  <a:srgbClr val="587080"/>
                </a:solidFill>
                <a:latin typeface="Arial"/>
              </a:defRPr>
            </a:pPr>
            <a:r>
              <a:t>tests become public.</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analyzer-desktop.png"/>
          <p:cNvPicPr>
            <a:picLocks noChangeAspect="1"/>
          </p:cNvPicPr>
          <p:nvPr/>
        </p:nvPicPr>
        <p:blipFill>
          <a:blip r:embed="rId2"/>
          <a:stretch>
            <a:fillRect/>
          </a:stretch>
        </p:blipFill>
        <p:spPr>
          <a:xfrm>
            <a:off x="5253228" y="2322576"/>
            <a:ext cx="5020056"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frontend/src/PublicSession.tsx</a:t>
            </a:r>
          </a:p>
        </p:txBody>
      </p:sp>
      <p:sp>
        <p:nvSpPr>
          <p:cNvPr id="29"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011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13411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Keep the speaker's original text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input is evidence, not text to silently repair.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4,000 characters</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UI bounds one</a:t>
            </a:r>
          </a:p>
          <a:p>
            <a:pPr algn="l">
              <a:lnSpc>
                <a:spcPts val="2088"/>
              </a:lnSpc>
              <a:spcBef>
                <a:spcPts val="0"/>
              </a:spcBef>
              <a:spcAft>
                <a:spcPts val="0"/>
              </a:spcAft>
              <a:defRPr sz="1800" b="0">
                <a:solidFill>
                  <a:srgbClr val="587080"/>
                </a:solidFill>
                <a:latin typeface="Arial"/>
              </a:defRPr>
            </a:pPr>
            <a:r>
              <a:t>analyzer request.</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No hidden correction</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Keep case, spelling and</a:t>
            </a:r>
          </a:p>
          <a:p>
            <a:pPr algn="l">
              <a:lnSpc>
                <a:spcPts val="2088"/>
              </a:lnSpc>
              <a:spcBef>
                <a:spcPts val="0"/>
              </a:spcBef>
              <a:spcAft>
                <a:spcPts val="0"/>
              </a:spcAft>
              <a:defRPr sz="1800" b="0">
                <a:solidFill>
                  <a:srgbClr val="587080"/>
                </a:solidFill>
                <a:latin typeface="Arial"/>
              </a:defRPr>
            </a:pPr>
            <a:r>
              <a:t>punctuation.</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Separate destination</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 test is not added to</a:t>
            </a:r>
          </a:p>
          <a:p>
            <a:pPr algn="l">
              <a:lnSpc>
                <a:spcPts val="2088"/>
              </a:lnSpc>
              <a:spcBef>
                <a:spcPts val="0"/>
              </a:spcBef>
              <a:spcAft>
                <a:spcPts val="0"/>
              </a:spcAft>
              <a:defRPr sz="1800" b="0">
                <a:solidFill>
                  <a:srgbClr val="587080"/>
                </a:solidFill>
                <a:latin typeface="Arial"/>
              </a:defRPr>
            </a:pPr>
            <a:r>
              <a:t>Collection.</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analyzer-input.png"/>
          <p:cNvPicPr>
            <a:picLocks noChangeAspect="1"/>
          </p:cNvPicPr>
          <p:nvPr/>
        </p:nvPicPr>
        <p:blipFill>
          <a:blip r:embed="rId2"/>
          <a:stretch>
            <a:fillRect/>
          </a:stretch>
        </p:blipFill>
        <p:spPr>
          <a:xfrm>
            <a:off x="4300319" y="2322576"/>
            <a:ext cx="6925873"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frontend/src/types.ts</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012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14630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What happens after Analyze?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click starts a reproducible, server-side workflow.</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PREPARE</a:t>
            </a:r>
          </a:p>
        </p:txBody>
      </p:sp>
      <p:sp>
        <p:nvSpPr>
          <p:cNvPr id="10" name="body-7"/>
          <p:cNvSpPr txBox="1"/>
          <p:nvPr/>
        </p:nvSpPr>
        <p:spPr>
          <a:xfrm>
            <a:off x="731520"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Text + saved</a:t>
            </a:r>
          </a:p>
          <a:p>
            <a:pPr algn="l">
              <a:lnSpc>
                <a:spcPts val="1972"/>
              </a:lnSpc>
              <a:spcBef>
                <a:spcPts val="0"/>
              </a:spcBef>
              <a:spcAft>
                <a:spcPts val="0"/>
              </a:spcAft>
              <a:defRPr sz="1700" b="0">
                <a:solidFill>
                  <a:srgbClr val="587080"/>
                </a:solidFill>
                <a:latin typeface="Arial"/>
              </a:defRPr>
            </a:pPr>
            <a:r>
              <a:t>grammar +</a:t>
            </a:r>
          </a:p>
          <a:p>
            <a:pPr algn="l">
              <a:lnSpc>
                <a:spcPts val="1972"/>
              </a:lnSpc>
              <a:spcBef>
                <a:spcPts val="0"/>
              </a:spcBef>
              <a:spcAft>
                <a:spcPts val="0"/>
              </a:spcAft>
              <a:defRPr sz="1700" b="0">
                <a:solidFill>
                  <a:srgbClr val="587080"/>
                </a:solidFill>
                <a:latin typeface="Arial"/>
              </a:defRPr>
            </a:pPr>
            <a:r>
              <a:t>request ID</a:t>
            </a:r>
          </a:p>
        </p:txBody>
      </p:sp>
      <p:sp>
        <p:nvSpPr>
          <p:cNvPr id="11" name="Chevron 10"/>
          <p:cNvSpPr/>
          <p:nvPr/>
        </p:nvSpPr>
        <p:spPr>
          <a:xfrm>
            <a:off x="262158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82732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01020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01020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VALIDATE</a:t>
            </a:r>
          </a:p>
        </p:txBody>
      </p:sp>
      <p:sp>
        <p:nvSpPr>
          <p:cNvPr id="15" name="body-10"/>
          <p:cNvSpPr txBox="1"/>
          <p:nvPr/>
        </p:nvSpPr>
        <p:spPr>
          <a:xfrm>
            <a:off x="3010204"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Public access</a:t>
            </a:r>
          </a:p>
          <a:p>
            <a:pPr algn="l">
              <a:lnSpc>
                <a:spcPts val="1972"/>
              </a:lnSpc>
              <a:spcBef>
                <a:spcPts val="0"/>
              </a:spcBef>
              <a:spcAft>
                <a:spcPts val="0"/>
              </a:spcAft>
              <a:defRPr sz="1700" b="0">
                <a:solidFill>
                  <a:srgbClr val="587080"/>
                </a:solidFill>
                <a:latin typeface="Arial"/>
              </a:defRPr>
            </a:pPr>
            <a:r>
              <a:t>and current</a:t>
            </a:r>
          </a:p>
          <a:p>
            <a:pPr algn="l">
              <a:lnSpc>
                <a:spcPts val="1972"/>
              </a:lnSpc>
              <a:spcBef>
                <a:spcPts val="0"/>
              </a:spcBef>
              <a:spcAft>
                <a:spcPts val="0"/>
              </a:spcAft>
              <a:defRPr sz="1700" b="0">
                <a:solidFill>
                  <a:srgbClr val="587080"/>
                </a:solidFill>
                <a:latin typeface="Arial"/>
              </a:defRPr>
            </a:pPr>
            <a:r>
              <a:t>grammar</a:t>
            </a:r>
          </a:p>
        </p:txBody>
      </p:sp>
      <p:sp>
        <p:nvSpPr>
          <p:cNvPr id="16" name="Chevron 15"/>
          <p:cNvSpPr/>
          <p:nvPr/>
        </p:nvSpPr>
        <p:spPr>
          <a:xfrm>
            <a:off x="490026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510600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528888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528888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COMPUTE</a:t>
            </a:r>
          </a:p>
        </p:txBody>
      </p:sp>
      <p:sp>
        <p:nvSpPr>
          <p:cNvPr id="20" name="body-13"/>
          <p:cNvSpPr txBox="1"/>
          <p:nvPr/>
        </p:nvSpPr>
        <p:spPr>
          <a:xfrm>
            <a:off x="5288889"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Lexical report +</a:t>
            </a:r>
          </a:p>
          <a:p>
            <a:pPr algn="l">
              <a:lnSpc>
                <a:spcPts val="2088"/>
              </a:lnSpc>
              <a:spcBef>
                <a:spcPts val="0"/>
              </a:spcBef>
              <a:spcAft>
                <a:spcPts val="0"/>
              </a:spcAft>
              <a:defRPr sz="1800" b="0">
                <a:solidFill>
                  <a:srgbClr val="587080"/>
                </a:solidFill>
                <a:latin typeface="Arial"/>
              </a:defRPr>
            </a:pPr>
            <a:r>
              <a:t>grammar trace</a:t>
            </a:r>
          </a:p>
        </p:txBody>
      </p:sp>
      <p:sp>
        <p:nvSpPr>
          <p:cNvPr id="21" name="Chevron 20"/>
          <p:cNvSpPr/>
          <p:nvPr/>
        </p:nvSpPr>
        <p:spPr>
          <a:xfrm>
            <a:off x="717895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38469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756757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756757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PERSIST</a:t>
            </a:r>
          </a:p>
        </p:txBody>
      </p:sp>
      <p:sp>
        <p:nvSpPr>
          <p:cNvPr id="25" name="body-16"/>
          <p:cNvSpPr txBox="1"/>
          <p:nvPr/>
        </p:nvSpPr>
        <p:spPr>
          <a:xfrm>
            <a:off x="7567574"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Immutable test</a:t>
            </a:r>
          </a:p>
          <a:p>
            <a:pPr algn="l">
              <a:lnSpc>
                <a:spcPts val="1972"/>
              </a:lnSpc>
              <a:spcBef>
                <a:spcPts val="0"/>
              </a:spcBef>
              <a:spcAft>
                <a:spcPts val="0"/>
              </a:spcAft>
              <a:defRPr sz="1700" b="0">
                <a:solidFill>
                  <a:srgbClr val="587080"/>
                </a:solidFill>
                <a:latin typeface="Arial"/>
              </a:defRPr>
            </a:pPr>
            <a:r>
              <a:t>in shared</a:t>
            </a:r>
          </a:p>
          <a:p>
            <a:pPr algn="l">
              <a:lnSpc>
                <a:spcPts val="1972"/>
              </a:lnSpc>
              <a:spcBef>
                <a:spcPts val="0"/>
              </a:spcBef>
              <a:spcAft>
                <a:spcPts val="0"/>
              </a:spcAft>
              <a:defRPr sz="1700" b="0">
                <a:solidFill>
                  <a:srgbClr val="587080"/>
                </a:solidFill>
                <a:latin typeface="Arial"/>
              </a:defRPr>
            </a:pPr>
            <a:r>
              <a:t>storage</a:t>
            </a:r>
          </a:p>
        </p:txBody>
      </p:sp>
      <p:sp>
        <p:nvSpPr>
          <p:cNvPr id="26" name="Chevron 25"/>
          <p:cNvSpPr/>
          <p:nvPr/>
        </p:nvSpPr>
        <p:spPr>
          <a:xfrm>
            <a:off x="945763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966337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17"/>
          <p:cNvSpPr txBox="1"/>
          <p:nvPr/>
        </p:nvSpPr>
        <p:spPr>
          <a:xfrm>
            <a:off x="984625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05</a:t>
            </a:r>
          </a:p>
        </p:txBody>
      </p:sp>
      <p:sp>
        <p:nvSpPr>
          <p:cNvPr id="29" name="body-18"/>
          <p:cNvSpPr txBox="1"/>
          <p:nvPr/>
        </p:nvSpPr>
        <p:spPr>
          <a:xfrm>
            <a:off x="984625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DISPLAY</a:t>
            </a:r>
          </a:p>
        </p:txBody>
      </p:sp>
      <p:sp>
        <p:nvSpPr>
          <p:cNvPr id="30" name="body-19"/>
          <p:cNvSpPr txBox="1"/>
          <p:nvPr/>
        </p:nvSpPr>
        <p:spPr>
          <a:xfrm>
            <a:off x="9846259"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Show the</a:t>
            </a:r>
          </a:p>
          <a:p>
            <a:pPr algn="l">
              <a:lnSpc>
                <a:spcPts val="1972"/>
              </a:lnSpc>
              <a:spcBef>
                <a:spcPts val="0"/>
              </a:spcBef>
              <a:spcAft>
                <a:spcPts val="0"/>
              </a:spcAft>
              <a:defRPr sz="1700" b="0">
                <a:solidFill>
                  <a:srgbClr val="587080"/>
                </a:solidFill>
                <a:latin typeface="Arial"/>
              </a:defRPr>
            </a:pPr>
            <a:r>
              <a:t>recorded</a:t>
            </a:r>
          </a:p>
          <a:p>
            <a:pPr algn="l">
              <a:lnSpc>
                <a:spcPts val="1972"/>
              </a:lnSpc>
              <a:spcBef>
                <a:spcPts val="0"/>
              </a:spcBef>
              <a:spcAft>
                <a:spcPts val="0"/>
              </a:spcAft>
              <a:defRPr sz="1700" b="0">
                <a:solidFill>
                  <a:srgbClr val="587080"/>
                </a:solidFill>
                <a:latin typeface="Arial"/>
              </a:defRPr>
            </a:pPr>
            <a:r>
              <a:t>snapshot</a:t>
            </a:r>
          </a:p>
        </p:txBody>
      </p:sp>
      <p:sp>
        <p:nvSpPr>
          <p:cNvPr id="31" name="caption-20"/>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35"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36"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7" name="source-25">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38" name="footer-2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013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15849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client sends a reproducible request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Three fields connect the UI to a specific computation.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1993392"/>
            <a:ext cx="7315200" cy="3794760"/>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aption-5"/>
          <p:cNvSpPr txBox="1"/>
          <p:nvPr/>
        </p:nvSpPr>
        <p:spPr>
          <a:xfrm>
            <a:off x="786384" y="2185416"/>
            <a:ext cx="6821424" cy="219456"/>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CBA261"/>
                </a:solidFill>
                <a:latin typeface="Arial"/>
              </a:defRPr>
            </a:pPr>
            <a:r>
              <a:t>SOURCE WALKTHROUGH / ABBREVIATED WHERE MARKED</a:t>
            </a:r>
          </a:p>
        </p:txBody>
      </p:sp>
      <p:sp>
        <p:nvSpPr>
          <p:cNvPr id="9" name="body-6"/>
          <p:cNvSpPr txBox="1"/>
          <p:nvPr/>
        </p:nvSpPr>
        <p:spPr>
          <a:xfrm>
            <a:off x="795528" y="2688336"/>
            <a:ext cx="6784848" cy="2779776"/>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E0EFEB"/>
                </a:solidFill>
                <a:latin typeface="Consolas"/>
              </a:defRPr>
            </a:pPr>
            <a:r>
              <a:t>POST /api/analyzer/tests</a:t>
            </a:r>
          </a:p>
          <a:p>
            <a:pPr algn="l">
              <a:lnSpc>
                <a:spcPts val="2204"/>
              </a:lnSpc>
              <a:spcBef>
                <a:spcPts val="0"/>
              </a:spcBef>
              <a:spcAft>
                <a:spcPts val="0"/>
              </a:spcAft>
              <a:defRPr sz="1900" b="0">
                <a:solidFill>
                  <a:srgbClr val="E0EFEB"/>
                </a:solidFill>
                <a:latin typeface="Consolas"/>
              </a:defRPr>
            </a:pPr>
          </a:p>
          <a:p>
            <a:pPr algn="l">
              <a:lnSpc>
                <a:spcPts val="2204"/>
              </a:lnSpc>
              <a:spcBef>
                <a:spcPts val="0"/>
              </a:spcBef>
              <a:spcAft>
                <a:spcPts val="0"/>
              </a:spcAft>
              <a:defRPr sz="1900" b="0">
                <a:solidFill>
                  <a:srgbClr val="E0EFEB"/>
                </a:solidFill>
                <a:latin typeface="Consolas"/>
              </a:defRPr>
            </a:pPr>
            <a:r>
              <a:t>{</a:t>
            </a:r>
          </a:p>
          <a:p>
            <a:pPr algn="l">
              <a:lnSpc>
                <a:spcPts val="2204"/>
              </a:lnSpc>
              <a:spcBef>
                <a:spcPts val="0"/>
              </a:spcBef>
              <a:spcAft>
                <a:spcPts val="0"/>
              </a:spcAft>
              <a:defRPr sz="1900" b="0">
                <a:solidFill>
                  <a:srgbClr val="E0EFEB"/>
                </a:solidFill>
                <a:latin typeface="Consolas"/>
              </a:defRPr>
            </a:pPr>
            <a:r>
              <a:t>  "request_id": "&lt;new or reused UUID&gt;",</a:t>
            </a:r>
          </a:p>
          <a:p>
            <a:pPr algn="l">
              <a:lnSpc>
                <a:spcPts val="2204"/>
              </a:lnSpc>
              <a:spcBef>
                <a:spcPts val="0"/>
              </a:spcBef>
              <a:spcAft>
                <a:spcPts val="0"/>
              </a:spcAft>
              <a:defRPr sz="1900" b="0">
                <a:solidFill>
                  <a:srgbClr val="E0EFEB"/>
                </a:solidFill>
                <a:latin typeface="Consolas"/>
              </a:defRPr>
            </a:pPr>
            <a:r>
              <a:t>  "text": "je suis kass je go nang",</a:t>
            </a:r>
          </a:p>
          <a:p>
            <a:pPr algn="l">
              <a:lnSpc>
                <a:spcPts val="2204"/>
              </a:lnSpc>
              <a:spcBef>
                <a:spcPts val="0"/>
              </a:spcBef>
              <a:spcAft>
                <a:spcPts val="0"/>
              </a:spcAft>
              <a:defRPr sz="1900" b="0">
                <a:solidFill>
                  <a:srgbClr val="E0EFEB"/>
                </a:solidFill>
                <a:latin typeface="Consolas"/>
              </a:defRPr>
            </a:pPr>
            <a:r>
              <a:t>  "grammar": "&lt;exact saved grammar&gt;"</a:t>
            </a:r>
          </a:p>
          <a:p>
            <a:pPr algn="l">
              <a:lnSpc>
                <a:spcPts val="2204"/>
              </a:lnSpc>
              <a:spcBef>
                <a:spcPts val="0"/>
              </a:spcBef>
              <a:spcAft>
                <a:spcPts val="0"/>
              </a:spcAft>
              <a:defRPr sz="1900" b="0">
                <a:solidFill>
                  <a:srgbClr val="E0EFEB"/>
                </a:solidFill>
                <a:latin typeface="Consolas"/>
              </a:defRPr>
            </a:pPr>
            <a:r>
              <a:t>}</a:t>
            </a:r>
          </a:p>
        </p:txBody>
      </p:sp>
      <p:sp>
        <p:nvSpPr>
          <p:cNvPr id="10" name="Rectangle 9"/>
          <p:cNvSpPr/>
          <p:nvPr/>
        </p:nvSpPr>
        <p:spPr>
          <a:xfrm>
            <a:off x="8202168"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8385048" y="2093976"/>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Text</a:t>
            </a:r>
          </a:p>
        </p:txBody>
      </p:sp>
      <p:sp>
        <p:nvSpPr>
          <p:cNvPr id="12" name="body-8"/>
          <p:cNvSpPr txBox="1"/>
          <p:nvPr/>
        </p:nvSpPr>
        <p:spPr>
          <a:xfrm>
            <a:off x="8385048" y="2532888"/>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original string, not a</a:t>
            </a:r>
          </a:p>
          <a:p>
            <a:pPr algn="l">
              <a:lnSpc>
                <a:spcPts val="2088"/>
              </a:lnSpc>
              <a:spcBef>
                <a:spcPts val="0"/>
              </a:spcBef>
              <a:spcAft>
                <a:spcPts val="0"/>
              </a:spcAft>
              <a:defRPr sz="1800" b="0">
                <a:solidFill>
                  <a:srgbClr val="587080"/>
                </a:solidFill>
                <a:latin typeface="Arial"/>
              </a:defRPr>
            </a:pPr>
            <a:r>
              <a:t>translation.</a:t>
            </a:r>
          </a:p>
        </p:txBody>
      </p:sp>
      <p:sp>
        <p:nvSpPr>
          <p:cNvPr id="13" name="Rectangle 12"/>
          <p:cNvSpPr/>
          <p:nvPr/>
        </p:nvSpPr>
        <p:spPr>
          <a:xfrm>
            <a:off x="8202168" y="330708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8385048" y="3288792"/>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Grammar</a:t>
            </a:r>
          </a:p>
        </p:txBody>
      </p:sp>
      <p:sp>
        <p:nvSpPr>
          <p:cNvPr id="15" name="body-10"/>
          <p:cNvSpPr txBox="1"/>
          <p:nvPr/>
        </p:nvSpPr>
        <p:spPr>
          <a:xfrm>
            <a:off x="8385048" y="3727703"/>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saved rule text used for</a:t>
            </a:r>
          </a:p>
          <a:p>
            <a:pPr algn="l">
              <a:lnSpc>
                <a:spcPts val="2088"/>
              </a:lnSpc>
              <a:spcBef>
                <a:spcPts val="0"/>
              </a:spcBef>
              <a:spcAft>
                <a:spcPts val="0"/>
              </a:spcAft>
              <a:defRPr sz="1800" b="0">
                <a:solidFill>
                  <a:srgbClr val="587080"/>
                </a:solidFill>
                <a:latin typeface="Arial"/>
              </a:defRPr>
            </a:pPr>
            <a:r>
              <a:t>this test.</a:t>
            </a:r>
          </a:p>
        </p:txBody>
      </p:sp>
      <p:sp>
        <p:nvSpPr>
          <p:cNvPr id="16" name="Rectangle 15"/>
          <p:cNvSpPr/>
          <p:nvPr/>
        </p:nvSpPr>
        <p:spPr>
          <a:xfrm>
            <a:off x="8202168"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8385048" y="4483608"/>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Request ID</a:t>
            </a:r>
          </a:p>
        </p:txBody>
      </p:sp>
      <p:sp>
        <p:nvSpPr>
          <p:cNvPr id="18" name="body-12"/>
          <p:cNvSpPr txBox="1"/>
          <p:nvPr/>
        </p:nvSpPr>
        <p:spPr>
          <a:xfrm>
            <a:off x="8385048" y="4922520"/>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Identical retry can find the</a:t>
            </a:r>
          </a:p>
          <a:p>
            <a:pPr algn="l">
              <a:lnSpc>
                <a:spcPts val="2088"/>
              </a:lnSpc>
              <a:spcBef>
                <a:spcPts val="0"/>
              </a:spcBef>
              <a:spcAft>
                <a:spcPts val="0"/>
              </a:spcAft>
              <a:defRPr sz="1800" b="0">
                <a:solidFill>
                  <a:srgbClr val="587080"/>
                </a:solidFill>
                <a:latin typeface="Arial"/>
              </a:defRPr>
            </a:pPr>
            <a:r>
              <a:t>same result.</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23"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24"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5"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014 / 100</a:t>
            </a:r>
          </a:p>
        </p:txBody>
      </p:sp>
      <p:sp>
        <p:nvSpPr>
          <p:cNvPr id="26" name="Rectangle 25"/>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0" y="6821424"/>
            <a:ext cx="17068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Waiting, stopping and retrying</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Browser state and server completion are not the same thing.</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68096"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68096"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01</a:t>
            </a:r>
          </a:p>
        </p:txBody>
      </p:sp>
      <p:sp>
        <p:nvSpPr>
          <p:cNvPr id="11" name="body-6"/>
          <p:cNvSpPr txBox="1"/>
          <p:nvPr/>
        </p:nvSpPr>
        <p:spPr>
          <a:xfrm>
            <a:off x="795528"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WAIT</a:t>
            </a:r>
          </a:p>
        </p:txBody>
      </p:sp>
      <p:sp>
        <p:nvSpPr>
          <p:cNvPr id="12" name="body-7"/>
          <p:cNvSpPr txBox="1"/>
          <p:nvPr/>
        </p:nvSpPr>
        <p:spPr>
          <a:xfrm>
            <a:off x="795528"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The analyzer allows up to</a:t>
            </a:r>
          </a:p>
          <a:p>
            <a:pPr algn="l">
              <a:lnSpc>
                <a:spcPts val="2320"/>
              </a:lnSpc>
              <a:spcBef>
                <a:spcPts val="0"/>
              </a:spcBef>
              <a:spcAft>
                <a:spcPts val="0"/>
              </a:spcAft>
              <a:defRPr sz="2000" b="0">
                <a:solidFill>
                  <a:srgbClr val="587080"/>
                </a:solidFill>
                <a:latin typeface="Arial"/>
              </a:defRPr>
            </a:pPr>
            <a:r>
              <a:t>60 seconds for its request.</a:t>
            </a:r>
          </a:p>
        </p:txBody>
      </p:sp>
      <p:sp>
        <p:nvSpPr>
          <p:cNvPr id="13" name="Rounded Rectangle 12"/>
          <p:cNvSpPr/>
          <p:nvPr/>
        </p:nvSpPr>
        <p:spPr>
          <a:xfrm>
            <a:off x="4312920"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12920" y="2029968"/>
            <a:ext cx="50292" cy="36850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541520"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8"/>
          <p:cNvSpPr txBox="1"/>
          <p:nvPr/>
        </p:nvSpPr>
        <p:spPr>
          <a:xfrm>
            <a:off x="4541520"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02</a:t>
            </a:r>
          </a:p>
        </p:txBody>
      </p:sp>
      <p:sp>
        <p:nvSpPr>
          <p:cNvPr id="17" name="body-9"/>
          <p:cNvSpPr txBox="1"/>
          <p:nvPr/>
        </p:nvSpPr>
        <p:spPr>
          <a:xfrm>
            <a:off x="4568952"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STOP WAITING</a:t>
            </a:r>
          </a:p>
        </p:txBody>
      </p:sp>
      <p:sp>
        <p:nvSpPr>
          <p:cNvPr id="18" name="body-10"/>
          <p:cNvSpPr txBox="1"/>
          <p:nvPr/>
        </p:nvSpPr>
        <p:spPr>
          <a:xfrm>
            <a:off x="4568952"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Abort the local wait, not a</a:t>
            </a:r>
          </a:p>
          <a:p>
            <a:pPr algn="l">
              <a:lnSpc>
                <a:spcPts val="2320"/>
              </a:lnSpc>
              <a:spcBef>
                <a:spcPts val="0"/>
              </a:spcBef>
              <a:spcAft>
                <a:spcPts val="0"/>
              </a:spcAft>
              <a:defRPr sz="2000" b="0">
                <a:solidFill>
                  <a:srgbClr val="587080"/>
                </a:solidFill>
                <a:latin typeface="Arial"/>
              </a:defRPr>
            </a:pPr>
            <a:r>
              <a:t>guaranteed server</a:t>
            </a:r>
          </a:p>
          <a:p>
            <a:pPr algn="l">
              <a:lnSpc>
                <a:spcPts val="2320"/>
              </a:lnSpc>
              <a:spcBef>
                <a:spcPts val="0"/>
              </a:spcBef>
              <a:spcAft>
                <a:spcPts val="0"/>
              </a:spcAft>
              <a:defRPr sz="2000" b="0">
                <a:solidFill>
                  <a:srgbClr val="587080"/>
                </a:solidFill>
                <a:latin typeface="Arial"/>
              </a:defRPr>
            </a:pPr>
            <a:r>
              <a:t>rollback.</a:t>
            </a:r>
          </a:p>
        </p:txBody>
      </p:sp>
      <p:sp>
        <p:nvSpPr>
          <p:cNvPr id="19" name="Rounded Rectangle 18"/>
          <p:cNvSpPr/>
          <p:nvPr/>
        </p:nvSpPr>
        <p:spPr>
          <a:xfrm>
            <a:off x="8086344"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086344"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314944"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1"/>
          <p:cNvSpPr txBox="1"/>
          <p:nvPr/>
        </p:nvSpPr>
        <p:spPr>
          <a:xfrm>
            <a:off x="8314944"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03</a:t>
            </a:r>
          </a:p>
        </p:txBody>
      </p:sp>
      <p:sp>
        <p:nvSpPr>
          <p:cNvPr id="23" name="body-12"/>
          <p:cNvSpPr txBox="1"/>
          <p:nvPr/>
        </p:nvSpPr>
        <p:spPr>
          <a:xfrm>
            <a:off x="8342376"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RETRY IDENTICALLY</a:t>
            </a:r>
          </a:p>
        </p:txBody>
      </p:sp>
      <p:sp>
        <p:nvSpPr>
          <p:cNvPr id="24" name="body-13"/>
          <p:cNvSpPr txBox="1"/>
          <p:nvPr/>
        </p:nvSpPr>
        <p:spPr>
          <a:xfrm>
            <a:off x="8342376"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Keep the request ID to</a:t>
            </a:r>
          </a:p>
          <a:p>
            <a:pPr algn="l">
              <a:lnSpc>
                <a:spcPts val="2320"/>
              </a:lnSpc>
              <a:spcBef>
                <a:spcPts val="0"/>
              </a:spcBef>
              <a:spcAft>
                <a:spcPts val="0"/>
              </a:spcAft>
              <a:defRPr sz="2000" b="0">
                <a:solidFill>
                  <a:srgbClr val="587080"/>
                </a:solidFill>
                <a:latin typeface="Arial"/>
              </a:defRPr>
            </a:pPr>
            <a:r>
              <a:t>recover the already-saved</a:t>
            </a:r>
          </a:p>
          <a:p>
            <a:pPr algn="l">
              <a:lnSpc>
                <a:spcPts val="2320"/>
              </a:lnSpc>
              <a:spcBef>
                <a:spcPts val="0"/>
              </a:spcBef>
              <a:spcAft>
                <a:spcPts val="0"/>
              </a:spcAft>
              <a:defRPr sz="2000" b="0">
                <a:solidFill>
                  <a:srgbClr val="587080"/>
                </a:solidFill>
                <a:latin typeface="Arial"/>
              </a:defRPr>
            </a:pPr>
            <a:r>
              <a:t>result.</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8" name="source-1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frontend/src/useRequest.ts</a:t>
            </a:r>
          </a:p>
        </p:txBody>
      </p:sp>
      <p:sp>
        <p:nvSpPr>
          <p:cNvPr id="29" name="source-17">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30"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015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18287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 test is an immutable snapshot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Opening an old result does not run today's rules again.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5"/>
          <p:cNvSpPr txBox="1"/>
          <p:nvPr/>
        </p:nvSpPr>
        <p:spPr>
          <a:xfrm>
            <a:off x="777240"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SOURCE</a:t>
            </a:r>
          </a:p>
        </p:txBody>
      </p:sp>
      <p:sp>
        <p:nvSpPr>
          <p:cNvPr id="10" name="body-6"/>
          <p:cNvSpPr txBox="1"/>
          <p:nvPr/>
        </p:nvSpPr>
        <p:spPr>
          <a:xfrm>
            <a:off x="777240"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The exact original text.</a:t>
            </a:r>
          </a:p>
        </p:txBody>
      </p:sp>
      <p:sp>
        <p:nvSpPr>
          <p:cNvPr id="11" name="Rounded Rectangle 10"/>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6437375"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RULES</a:t>
            </a:r>
          </a:p>
        </p:txBody>
      </p:sp>
      <p:sp>
        <p:nvSpPr>
          <p:cNvPr id="14" name="body-8"/>
          <p:cNvSpPr txBox="1"/>
          <p:nvPr/>
        </p:nvSpPr>
        <p:spPr>
          <a:xfrm>
            <a:off x="6437375"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The grammar used at that time.</a:t>
            </a:r>
          </a:p>
        </p:txBody>
      </p:sp>
      <p:sp>
        <p:nvSpPr>
          <p:cNvPr id="15" name="Rounded Rectangle 14"/>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9"/>
          <p:cNvSpPr txBox="1"/>
          <p:nvPr/>
        </p:nvSpPr>
        <p:spPr>
          <a:xfrm>
            <a:off x="777240"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RESULT</a:t>
            </a:r>
          </a:p>
        </p:txBody>
      </p:sp>
      <p:sp>
        <p:nvSpPr>
          <p:cNvPr id="18" name="body-10"/>
          <p:cNvSpPr txBox="1"/>
          <p:nvPr/>
        </p:nvSpPr>
        <p:spPr>
          <a:xfrm>
            <a:off x="777240"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Tokens, approval and parser trace.</a:t>
            </a:r>
          </a:p>
        </p:txBody>
      </p:sp>
      <p:sp>
        <p:nvSpPr>
          <p:cNvPr id="19" name="Rounded Rectangle 18"/>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1"/>
          <p:cNvSpPr txBox="1"/>
          <p:nvPr/>
        </p:nvSpPr>
        <p:spPr>
          <a:xfrm>
            <a:off x="6437375"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IDENTITY</a:t>
            </a:r>
          </a:p>
        </p:txBody>
      </p:sp>
      <p:sp>
        <p:nvSpPr>
          <p:cNvPr id="22" name="body-12"/>
          <p:cNvSpPr txBox="1"/>
          <p:nvPr/>
        </p:nvSpPr>
        <p:spPr>
          <a:xfrm>
            <a:off x="6437375"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A stable test ID and recorded time.</a:t>
            </a:r>
          </a:p>
        </p:txBody>
      </p:sp>
      <p:cxnSp>
        <p:nvCxnSpPr>
          <p:cNvPr id="23" name="Connector 2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5"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26"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27"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28"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9"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016 / 100</a:t>
            </a:r>
          </a:p>
        </p:txBody>
      </p:sp>
      <p:sp>
        <p:nvSpPr>
          <p:cNvPr id="30" name="Rectangle 2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0" y="6821424"/>
            <a:ext cx="19507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An accepted example, token by token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S02: je suis kass je go nang</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body-5"/>
          <p:cNvSpPr txBox="1"/>
          <p:nvPr/>
        </p:nvSpPr>
        <p:spPr>
          <a:xfrm>
            <a:off x="576072" y="2039112"/>
            <a:ext cx="10972800" cy="640080"/>
          </a:xfrm>
          <a:prstGeom prst="rect">
            <a:avLst/>
          </a:prstGeom>
          <a:noFill/>
        </p:spPr>
        <p:txBody>
          <a:bodyPr wrap="none" lIns="0" rIns="0" tIns="0" bIns="0" anchor="t">
            <a:noAutofit/>
          </a:bodyPr>
          <a:lstStyle/>
          <a:p>
            <a:pPr algn="l">
              <a:lnSpc>
                <a:spcPts val="4176"/>
              </a:lnSpc>
              <a:spcBef>
                <a:spcPts val="0"/>
              </a:spcBef>
              <a:spcAft>
                <a:spcPts val="0"/>
              </a:spcAft>
              <a:defRPr sz="3600" b="0">
                <a:solidFill>
                  <a:srgbClr val="147E80"/>
                </a:solidFill>
                <a:latin typeface="Georgia"/>
              </a:defRPr>
            </a:pPr>
            <a:r>
              <a:t>je suis kass je go nang</a:t>
            </a:r>
          </a:p>
        </p:txBody>
      </p:sp>
      <p:sp>
        <p:nvSpPr>
          <p:cNvPr id="8" name="Rounded Rectangle 7"/>
          <p:cNvSpPr/>
          <p:nvPr/>
        </p:nvSpPr>
        <p:spPr>
          <a:xfrm>
            <a:off x="566928" y="2990088"/>
            <a:ext cx="1655064" cy="123444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6"/>
          <p:cNvSpPr txBox="1"/>
          <p:nvPr/>
        </p:nvSpPr>
        <p:spPr>
          <a:xfrm>
            <a:off x="667512" y="3182112"/>
            <a:ext cx="1453896" cy="402336"/>
          </a:xfrm>
          <a:prstGeom prst="rect">
            <a:avLst/>
          </a:prstGeom>
          <a:noFill/>
        </p:spPr>
        <p:txBody>
          <a:bodyPr wrap="none" lIns="0" rIns="0" tIns="0" bIns="0" anchor="t">
            <a:noAutofit/>
          </a:bodyPr>
          <a:lstStyle/>
          <a:p>
            <a:pPr algn="ctr">
              <a:lnSpc>
                <a:spcPts val="2899"/>
              </a:lnSpc>
              <a:spcBef>
                <a:spcPts val="0"/>
              </a:spcBef>
              <a:spcAft>
                <a:spcPts val="0"/>
              </a:spcAft>
              <a:defRPr sz="2500" b="1">
                <a:solidFill>
                  <a:srgbClr val="183747"/>
                </a:solidFill>
                <a:latin typeface="Arial"/>
              </a:defRPr>
            </a:pPr>
            <a:r>
              <a:t>je</a:t>
            </a:r>
          </a:p>
        </p:txBody>
      </p:sp>
      <p:sp>
        <p:nvSpPr>
          <p:cNvPr id="10" name="body-7"/>
          <p:cNvSpPr txBox="1"/>
          <p:nvPr/>
        </p:nvSpPr>
        <p:spPr>
          <a:xfrm>
            <a:off x="621792" y="3703320"/>
            <a:ext cx="1545336" cy="256032"/>
          </a:xfrm>
          <a:prstGeom prst="rect">
            <a:avLst/>
          </a:prstGeom>
          <a:noFill/>
        </p:spPr>
        <p:txBody>
          <a:bodyPr wrap="none" lIns="0" rIns="0" tIns="0" bIns="0" anchor="t">
            <a:noAutofit/>
          </a:bodyPr>
          <a:lstStyle/>
          <a:p>
            <a:pPr algn="ctr">
              <a:lnSpc>
                <a:spcPts val="1334"/>
              </a:lnSpc>
              <a:spcBef>
                <a:spcPts val="0"/>
              </a:spcBef>
              <a:spcAft>
                <a:spcPts val="0"/>
              </a:spcAft>
              <a:defRPr sz="1150" b="1">
                <a:solidFill>
                  <a:srgbClr val="147E80"/>
                </a:solidFill>
                <a:latin typeface="Arial"/>
              </a:defRPr>
            </a:pPr>
            <a:r>
              <a:t>FF</a:t>
            </a:r>
          </a:p>
        </p:txBody>
      </p:sp>
      <p:sp>
        <p:nvSpPr>
          <p:cNvPr id="11" name="Rounded Rectangle 10"/>
          <p:cNvSpPr/>
          <p:nvPr/>
        </p:nvSpPr>
        <p:spPr>
          <a:xfrm>
            <a:off x="2427732" y="2990088"/>
            <a:ext cx="1655064" cy="123444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2528316" y="3182112"/>
            <a:ext cx="1453896" cy="402336"/>
          </a:xfrm>
          <a:prstGeom prst="rect">
            <a:avLst/>
          </a:prstGeom>
          <a:noFill/>
        </p:spPr>
        <p:txBody>
          <a:bodyPr wrap="none" lIns="0" rIns="0" tIns="0" bIns="0" anchor="t">
            <a:noAutofit/>
          </a:bodyPr>
          <a:lstStyle/>
          <a:p>
            <a:pPr algn="ctr">
              <a:lnSpc>
                <a:spcPts val="2899"/>
              </a:lnSpc>
              <a:spcBef>
                <a:spcPts val="0"/>
              </a:spcBef>
              <a:spcAft>
                <a:spcPts val="0"/>
              </a:spcAft>
              <a:defRPr sz="2500" b="1">
                <a:solidFill>
                  <a:srgbClr val="183747"/>
                </a:solidFill>
                <a:latin typeface="Arial"/>
              </a:defRPr>
            </a:pPr>
            <a:r>
              <a:t>suis</a:t>
            </a:r>
          </a:p>
        </p:txBody>
      </p:sp>
      <p:sp>
        <p:nvSpPr>
          <p:cNvPr id="13" name="body-9"/>
          <p:cNvSpPr txBox="1"/>
          <p:nvPr/>
        </p:nvSpPr>
        <p:spPr>
          <a:xfrm>
            <a:off x="2482596" y="3703320"/>
            <a:ext cx="1545336" cy="256032"/>
          </a:xfrm>
          <a:prstGeom prst="rect">
            <a:avLst/>
          </a:prstGeom>
          <a:noFill/>
        </p:spPr>
        <p:txBody>
          <a:bodyPr wrap="none" lIns="0" rIns="0" tIns="0" bIns="0" anchor="t">
            <a:noAutofit/>
          </a:bodyPr>
          <a:lstStyle/>
          <a:p>
            <a:pPr algn="ctr">
              <a:lnSpc>
                <a:spcPts val="1334"/>
              </a:lnSpc>
              <a:spcBef>
                <a:spcPts val="0"/>
              </a:spcBef>
              <a:spcAft>
                <a:spcPts val="0"/>
              </a:spcAft>
              <a:defRPr sz="1150" b="1">
                <a:solidFill>
                  <a:srgbClr val="147E80"/>
                </a:solidFill>
                <a:latin typeface="Arial"/>
              </a:defRPr>
            </a:pPr>
            <a:r>
              <a:t>VERB</a:t>
            </a:r>
          </a:p>
        </p:txBody>
      </p:sp>
      <p:sp>
        <p:nvSpPr>
          <p:cNvPr id="14" name="Rounded Rectangle 13"/>
          <p:cNvSpPr/>
          <p:nvPr/>
        </p:nvSpPr>
        <p:spPr>
          <a:xfrm>
            <a:off x="4288536" y="2990088"/>
            <a:ext cx="1655064" cy="123444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dy-10"/>
          <p:cNvSpPr txBox="1"/>
          <p:nvPr/>
        </p:nvSpPr>
        <p:spPr>
          <a:xfrm>
            <a:off x="4389120" y="3182112"/>
            <a:ext cx="1453896" cy="402336"/>
          </a:xfrm>
          <a:prstGeom prst="rect">
            <a:avLst/>
          </a:prstGeom>
          <a:noFill/>
        </p:spPr>
        <p:txBody>
          <a:bodyPr wrap="none" lIns="0" rIns="0" tIns="0" bIns="0" anchor="t">
            <a:noAutofit/>
          </a:bodyPr>
          <a:lstStyle/>
          <a:p>
            <a:pPr algn="ctr">
              <a:lnSpc>
                <a:spcPts val="2899"/>
              </a:lnSpc>
              <a:spcBef>
                <a:spcPts val="0"/>
              </a:spcBef>
              <a:spcAft>
                <a:spcPts val="0"/>
              </a:spcAft>
              <a:defRPr sz="2500" b="1">
                <a:solidFill>
                  <a:srgbClr val="183747"/>
                </a:solidFill>
                <a:latin typeface="Arial"/>
              </a:defRPr>
            </a:pPr>
            <a:r>
              <a:t>kass</a:t>
            </a:r>
          </a:p>
        </p:txBody>
      </p:sp>
      <p:sp>
        <p:nvSpPr>
          <p:cNvPr id="16" name="body-11"/>
          <p:cNvSpPr txBox="1"/>
          <p:nvPr/>
        </p:nvSpPr>
        <p:spPr>
          <a:xfrm>
            <a:off x="4343400" y="3703320"/>
            <a:ext cx="1545336" cy="256032"/>
          </a:xfrm>
          <a:prstGeom prst="rect">
            <a:avLst/>
          </a:prstGeom>
          <a:noFill/>
        </p:spPr>
        <p:txBody>
          <a:bodyPr wrap="none" lIns="0" rIns="0" tIns="0" bIns="0" anchor="t">
            <a:noAutofit/>
          </a:bodyPr>
          <a:lstStyle/>
          <a:p>
            <a:pPr algn="ctr">
              <a:lnSpc>
                <a:spcPts val="1334"/>
              </a:lnSpc>
              <a:spcBef>
                <a:spcPts val="0"/>
              </a:spcBef>
              <a:spcAft>
                <a:spcPts val="0"/>
              </a:spcAft>
              <a:defRPr sz="1150" b="1">
                <a:solidFill>
                  <a:srgbClr val="147E80"/>
                </a:solidFill>
                <a:latin typeface="Arial"/>
              </a:defRPr>
            </a:pPr>
            <a:r>
              <a:t>ADJECTIVE</a:t>
            </a:r>
          </a:p>
        </p:txBody>
      </p:sp>
      <p:sp>
        <p:nvSpPr>
          <p:cNvPr id="17" name="Rounded Rectangle 16"/>
          <p:cNvSpPr/>
          <p:nvPr/>
        </p:nvSpPr>
        <p:spPr>
          <a:xfrm>
            <a:off x="6149340" y="2990088"/>
            <a:ext cx="1655064" cy="123444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2"/>
          <p:cNvSpPr txBox="1"/>
          <p:nvPr/>
        </p:nvSpPr>
        <p:spPr>
          <a:xfrm>
            <a:off x="6249924" y="3182112"/>
            <a:ext cx="1453896" cy="402336"/>
          </a:xfrm>
          <a:prstGeom prst="rect">
            <a:avLst/>
          </a:prstGeom>
          <a:noFill/>
        </p:spPr>
        <p:txBody>
          <a:bodyPr wrap="none" lIns="0" rIns="0" tIns="0" bIns="0" anchor="t">
            <a:noAutofit/>
          </a:bodyPr>
          <a:lstStyle/>
          <a:p>
            <a:pPr algn="ctr">
              <a:lnSpc>
                <a:spcPts val="2899"/>
              </a:lnSpc>
              <a:spcBef>
                <a:spcPts val="0"/>
              </a:spcBef>
              <a:spcAft>
                <a:spcPts val="0"/>
              </a:spcAft>
              <a:defRPr sz="2500" b="1">
                <a:solidFill>
                  <a:srgbClr val="183747"/>
                </a:solidFill>
                <a:latin typeface="Arial"/>
              </a:defRPr>
            </a:pPr>
            <a:r>
              <a:t>je</a:t>
            </a:r>
          </a:p>
        </p:txBody>
      </p:sp>
      <p:sp>
        <p:nvSpPr>
          <p:cNvPr id="19" name="body-13"/>
          <p:cNvSpPr txBox="1"/>
          <p:nvPr/>
        </p:nvSpPr>
        <p:spPr>
          <a:xfrm>
            <a:off x="6204204" y="3703320"/>
            <a:ext cx="1545336" cy="256032"/>
          </a:xfrm>
          <a:prstGeom prst="rect">
            <a:avLst/>
          </a:prstGeom>
          <a:noFill/>
        </p:spPr>
        <p:txBody>
          <a:bodyPr wrap="none" lIns="0" rIns="0" tIns="0" bIns="0" anchor="t">
            <a:noAutofit/>
          </a:bodyPr>
          <a:lstStyle/>
          <a:p>
            <a:pPr algn="ctr">
              <a:lnSpc>
                <a:spcPts val="1334"/>
              </a:lnSpc>
              <a:spcBef>
                <a:spcPts val="0"/>
              </a:spcBef>
              <a:spcAft>
                <a:spcPts val="0"/>
              </a:spcAft>
              <a:defRPr sz="1150" b="1">
                <a:solidFill>
                  <a:srgbClr val="147E80"/>
                </a:solidFill>
                <a:latin typeface="Arial"/>
              </a:defRPr>
            </a:pPr>
            <a:r>
              <a:t>FF</a:t>
            </a:r>
          </a:p>
        </p:txBody>
      </p:sp>
      <p:sp>
        <p:nvSpPr>
          <p:cNvPr id="20" name="Rounded Rectangle 19"/>
          <p:cNvSpPr/>
          <p:nvPr/>
        </p:nvSpPr>
        <p:spPr>
          <a:xfrm>
            <a:off x="8010144" y="2990088"/>
            <a:ext cx="1655064" cy="123444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4"/>
          <p:cNvSpPr txBox="1"/>
          <p:nvPr/>
        </p:nvSpPr>
        <p:spPr>
          <a:xfrm>
            <a:off x="8110727" y="3182112"/>
            <a:ext cx="1453896" cy="402336"/>
          </a:xfrm>
          <a:prstGeom prst="rect">
            <a:avLst/>
          </a:prstGeom>
          <a:noFill/>
        </p:spPr>
        <p:txBody>
          <a:bodyPr wrap="none" lIns="0" rIns="0" tIns="0" bIns="0" anchor="t">
            <a:noAutofit/>
          </a:bodyPr>
          <a:lstStyle/>
          <a:p>
            <a:pPr algn="ctr">
              <a:lnSpc>
                <a:spcPts val="2899"/>
              </a:lnSpc>
              <a:spcBef>
                <a:spcPts val="0"/>
              </a:spcBef>
              <a:spcAft>
                <a:spcPts val="0"/>
              </a:spcAft>
              <a:defRPr sz="2500" b="1">
                <a:solidFill>
                  <a:srgbClr val="183747"/>
                </a:solidFill>
                <a:latin typeface="Arial"/>
              </a:defRPr>
            </a:pPr>
            <a:r>
              <a:t>go</a:t>
            </a:r>
          </a:p>
        </p:txBody>
      </p:sp>
      <p:sp>
        <p:nvSpPr>
          <p:cNvPr id="22" name="body-15"/>
          <p:cNvSpPr txBox="1"/>
          <p:nvPr/>
        </p:nvSpPr>
        <p:spPr>
          <a:xfrm>
            <a:off x="8065008" y="3703320"/>
            <a:ext cx="1545336" cy="256032"/>
          </a:xfrm>
          <a:prstGeom prst="rect">
            <a:avLst/>
          </a:prstGeom>
          <a:noFill/>
        </p:spPr>
        <p:txBody>
          <a:bodyPr wrap="none" lIns="0" rIns="0" tIns="0" bIns="0" anchor="t">
            <a:noAutofit/>
          </a:bodyPr>
          <a:lstStyle/>
          <a:p>
            <a:pPr algn="ctr">
              <a:lnSpc>
                <a:spcPts val="1334"/>
              </a:lnSpc>
              <a:spcBef>
                <a:spcPts val="0"/>
              </a:spcBef>
              <a:spcAft>
                <a:spcPts val="0"/>
              </a:spcAft>
              <a:defRPr sz="1150" b="1">
                <a:solidFill>
                  <a:srgbClr val="147E80"/>
                </a:solidFill>
                <a:latin typeface="Arial"/>
              </a:defRPr>
            </a:pPr>
            <a:r>
              <a:t>VERB</a:t>
            </a:r>
          </a:p>
        </p:txBody>
      </p:sp>
      <p:sp>
        <p:nvSpPr>
          <p:cNvPr id="23" name="Rounded Rectangle 22"/>
          <p:cNvSpPr/>
          <p:nvPr/>
        </p:nvSpPr>
        <p:spPr>
          <a:xfrm>
            <a:off x="9870948" y="2990088"/>
            <a:ext cx="1655064" cy="123444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body-16"/>
          <p:cNvSpPr txBox="1"/>
          <p:nvPr/>
        </p:nvSpPr>
        <p:spPr>
          <a:xfrm>
            <a:off x="9971532" y="3182112"/>
            <a:ext cx="1453896" cy="402336"/>
          </a:xfrm>
          <a:prstGeom prst="rect">
            <a:avLst/>
          </a:prstGeom>
          <a:noFill/>
        </p:spPr>
        <p:txBody>
          <a:bodyPr wrap="none" lIns="0" rIns="0" tIns="0" bIns="0" anchor="t">
            <a:noAutofit/>
          </a:bodyPr>
          <a:lstStyle/>
          <a:p>
            <a:pPr algn="ctr">
              <a:lnSpc>
                <a:spcPts val="2899"/>
              </a:lnSpc>
              <a:spcBef>
                <a:spcPts val="0"/>
              </a:spcBef>
              <a:spcAft>
                <a:spcPts val="0"/>
              </a:spcAft>
              <a:defRPr sz="2500" b="1">
                <a:solidFill>
                  <a:srgbClr val="183747"/>
                </a:solidFill>
                <a:latin typeface="Arial"/>
              </a:defRPr>
            </a:pPr>
            <a:r>
              <a:t>nang</a:t>
            </a:r>
          </a:p>
        </p:txBody>
      </p:sp>
      <p:sp>
        <p:nvSpPr>
          <p:cNvPr id="25" name="body-17"/>
          <p:cNvSpPr txBox="1"/>
          <p:nvPr/>
        </p:nvSpPr>
        <p:spPr>
          <a:xfrm>
            <a:off x="9925812" y="3703320"/>
            <a:ext cx="1545336" cy="256032"/>
          </a:xfrm>
          <a:prstGeom prst="rect">
            <a:avLst/>
          </a:prstGeom>
          <a:noFill/>
        </p:spPr>
        <p:txBody>
          <a:bodyPr wrap="none" lIns="0" rIns="0" tIns="0" bIns="0" anchor="t">
            <a:noAutofit/>
          </a:bodyPr>
          <a:lstStyle/>
          <a:p>
            <a:pPr algn="ctr">
              <a:lnSpc>
                <a:spcPts val="1334"/>
              </a:lnSpc>
              <a:spcBef>
                <a:spcPts val="0"/>
              </a:spcBef>
              <a:spcAft>
                <a:spcPts val="0"/>
              </a:spcAft>
              <a:defRPr sz="1150" b="1">
                <a:solidFill>
                  <a:srgbClr val="147E80"/>
                </a:solidFill>
                <a:latin typeface="Arial"/>
              </a:defRPr>
            </a:pPr>
            <a:r>
              <a:t>VERB</a:t>
            </a:r>
          </a:p>
        </p:txBody>
      </p:sp>
      <p:sp>
        <p:nvSpPr>
          <p:cNvPr id="26" name="body-18"/>
          <p:cNvSpPr txBox="1"/>
          <p:nvPr/>
        </p:nvSpPr>
        <p:spPr>
          <a:xfrm>
            <a:off x="594360" y="4718304"/>
            <a:ext cx="3474720" cy="356616"/>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6 tokens</a:t>
            </a:r>
          </a:p>
        </p:txBody>
      </p:sp>
      <p:sp>
        <p:nvSpPr>
          <p:cNvPr id="27" name="body-19"/>
          <p:cNvSpPr txBox="1"/>
          <p:nvPr/>
        </p:nvSpPr>
        <p:spPr>
          <a:xfrm>
            <a:off x="594360" y="5239512"/>
            <a:ext cx="3493008" cy="466344"/>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Every raw word is retained.</a:t>
            </a:r>
          </a:p>
        </p:txBody>
      </p:sp>
      <p:sp>
        <p:nvSpPr>
          <p:cNvPr id="28" name="body-20"/>
          <p:cNvSpPr txBox="1"/>
          <p:nvPr/>
        </p:nvSpPr>
        <p:spPr>
          <a:xfrm>
            <a:off x="4343400" y="4718304"/>
            <a:ext cx="3474720" cy="356616"/>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No UNKNOWN</a:t>
            </a:r>
          </a:p>
        </p:txBody>
      </p:sp>
      <p:sp>
        <p:nvSpPr>
          <p:cNvPr id="29" name="body-21"/>
          <p:cNvSpPr txBox="1"/>
          <p:nvPr/>
        </p:nvSpPr>
        <p:spPr>
          <a:xfrm>
            <a:off x="4343400" y="5239512"/>
            <a:ext cx="3493008" cy="466344"/>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Vocabulary approval passes.</a:t>
            </a:r>
          </a:p>
        </p:txBody>
      </p:sp>
      <p:sp>
        <p:nvSpPr>
          <p:cNvPr id="30" name="body-22"/>
          <p:cNvSpPr txBox="1"/>
          <p:nvPr/>
        </p:nvSpPr>
        <p:spPr>
          <a:xfrm>
            <a:off x="8092440" y="4718304"/>
            <a:ext cx="3474720" cy="356616"/>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Accepted CFG</a:t>
            </a:r>
          </a:p>
        </p:txBody>
      </p:sp>
      <p:sp>
        <p:nvSpPr>
          <p:cNvPr id="31" name="body-23"/>
          <p:cNvSpPr txBox="1"/>
          <p:nvPr/>
        </p:nvSpPr>
        <p:spPr>
          <a:xfrm>
            <a:off x="8092440" y="5239512"/>
            <a:ext cx="3493008" cy="466344"/>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All six categories are consumed.</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5" name="source-2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6" name="source-27">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37" name="footer-2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8" name="footer-2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017 / 100</a:t>
            </a:r>
          </a:p>
        </p:txBody>
      </p:sp>
      <p:sp>
        <p:nvSpPr>
          <p:cNvPr id="39" name="Rectangle 38"/>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0" y="6821424"/>
            <a:ext cx="20726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Rejection keeps the evidence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two unresolved corpus forms are not erased or repaired.</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S09 / n'ais</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The sixth token is UNKNOWN.</a:t>
            </a:r>
          </a:p>
          <a:p>
            <a:pPr algn="l">
              <a:lnSpc>
                <a:spcPts val="2552"/>
              </a:lnSpc>
              <a:spcBef>
                <a:spcPts val="0"/>
              </a:spcBef>
              <a:spcAft>
                <a:spcPts val="0"/>
              </a:spcAft>
              <a:defRPr sz="2200" b="0">
                <a:solidFill>
                  <a:srgbClr val="D1E2E1"/>
                </a:solidFill>
                <a:latin typeface="Arial"/>
              </a:defRPr>
            </a:pPr>
            <a:r>
              <a:t>Five tokens are consumed before</a:t>
            </a:r>
          </a:p>
          <a:p>
            <a:pPr algn="l">
              <a:lnSpc>
                <a:spcPts val="2552"/>
              </a:lnSpc>
              <a:spcBef>
                <a:spcPts val="0"/>
              </a:spcBef>
              <a:spcAft>
                <a:spcPts val="0"/>
              </a:spcAft>
              <a:defRPr sz="2200" b="0">
                <a:solidFill>
                  <a:srgbClr val="D1E2E1"/>
                </a:solidFill>
                <a:latin typeface="Arial"/>
              </a:defRPr>
            </a:pPr>
            <a:r>
              <a:t>rejection.</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S10 / alli</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The sixth token is UNKNOWN.</a:t>
            </a:r>
          </a:p>
          <a:p>
            <a:pPr algn="l">
              <a:lnSpc>
                <a:spcPts val="2552"/>
              </a:lnSpc>
              <a:spcBef>
                <a:spcPts val="0"/>
              </a:spcBef>
              <a:spcAft>
                <a:spcPts val="0"/>
              </a:spcAft>
              <a:defRPr sz="2200" b="0">
                <a:solidFill>
                  <a:srgbClr val="587080"/>
                </a:solidFill>
                <a:latin typeface="Arial"/>
              </a:defRPr>
            </a:pPr>
            <a:r>
              <a:t>Later tokens are not silently skipped.</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compiler/tests/yaounde_cases.py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018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21945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Reference, then draft, then explicit Analyze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Opening a library item does not secretly create a test.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CHOOSE</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Collection, Dictionary</a:t>
            </a:r>
          </a:p>
          <a:p>
            <a:pPr algn="l">
              <a:lnSpc>
                <a:spcPts val="2088"/>
              </a:lnSpc>
              <a:spcBef>
                <a:spcPts val="0"/>
              </a:spcBef>
              <a:spcAft>
                <a:spcPts val="0"/>
              </a:spcAft>
              <a:defRPr sz="1800" b="0">
                <a:solidFill>
                  <a:srgbClr val="587080"/>
                </a:solidFill>
                <a:latin typeface="Arial"/>
              </a:defRPr>
            </a:pPr>
            <a:r>
              <a:t>or an example</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HAND OFF</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Copy its text to Franc</a:t>
            </a:r>
          </a:p>
          <a:p>
            <a:pPr algn="l">
              <a:lnSpc>
                <a:spcPts val="2088"/>
              </a:lnSpc>
              <a:spcBef>
                <a:spcPts val="0"/>
              </a:spcBef>
              <a:spcAft>
                <a:spcPts val="0"/>
              </a:spcAft>
              <a:defRPr sz="1800" b="0">
                <a:solidFill>
                  <a:srgbClr val="587080"/>
                </a:solidFill>
                <a:latin typeface="Arial"/>
              </a:defRPr>
            </a:pPr>
            <a:r>
              <a:t>Analyzer</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REVIEW</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Inspect the draft and</a:t>
            </a:r>
          </a:p>
          <a:p>
            <a:pPr algn="l">
              <a:lnSpc>
                <a:spcPts val="2088"/>
              </a:lnSpc>
              <a:spcBef>
                <a:spcPts val="0"/>
              </a:spcBef>
              <a:spcAft>
                <a:spcPts val="0"/>
              </a:spcAft>
              <a:defRPr sz="1800" b="0">
                <a:solidFill>
                  <a:srgbClr val="587080"/>
                </a:solidFill>
                <a:latin typeface="Arial"/>
              </a:defRPr>
            </a:pPr>
            <a:r>
              <a:t>retention notice</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ANALYZE</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Explicitly run and</a:t>
            </a:r>
          </a:p>
          <a:p>
            <a:pPr algn="l">
              <a:lnSpc>
                <a:spcPts val="2088"/>
              </a:lnSpc>
              <a:spcBef>
                <a:spcPts val="0"/>
              </a:spcBef>
              <a:spcAft>
                <a:spcPts val="0"/>
              </a:spcAft>
              <a:defRPr sz="1800" b="0">
                <a:solidFill>
                  <a:srgbClr val="587080"/>
                </a:solidFill>
                <a:latin typeface="Arial"/>
              </a:defRPr>
            </a:pPr>
            <a:r>
              <a:t>save the test</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frontend/src/Dictionary.tsx</a:t>
            </a:r>
          </a:p>
        </p:txBody>
      </p:sp>
      <p:sp>
        <p:nvSpPr>
          <p:cNvPr id="32" name="source-22">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frontend/src/Examples.tsx</a:t>
            </a:r>
          </a:p>
        </p:txBody>
      </p:sp>
      <p:sp>
        <p:nvSpPr>
          <p:cNvPr id="33"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4"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019 / 100</a:t>
            </a:r>
          </a:p>
        </p:txBody>
      </p:sp>
      <p:sp>
        <p:nvSpPr>
          <p:cNvPr id="35" name="Rectangle 3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0" y="6821424"/>
            <a:ext cx="23164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02 / FRANC ANALYZER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Analyzer: the files to open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Use this map when explaining or debugging the main workflow.</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0" name="body-6"/>
          <p:cNvSpPr txBox="1"/>
          <p:nvPr/>
        </p:nvSpPr>
        <p:spPr>
          <a:xfrm>
            <a:off x="749808"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FrancAnalyzer.tsx</a:t>
            </a:r>
          </a:p>
        </p:txBody>
      </p:sp>
      <p:sp>
        <p:nvSpPr>
          <p:cNvPr id="11" name="body-7"/>
          <p:cNvSpPr txBox="1"/>
          <p:nvPr/>
        </p:nvSpPr>
        <p:spPr>
          <a:xfrm>
            <a:off x="749808"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Input, saved grammar, submit, retry and selected</a:t>
            </a:r>
          </a:p>
          <a:p>
            <a:pPr algn="l">
              <a:lnSpc>
                <a:spcPts val="2088"/>
              </a:lnSpc>
              <a:spcBef>
                <a:spcPts val="0"/>
              </a:spcBef>
              <a:spcAft>
                <a:spcPts val="0"/>
              </a:spcAft>
              <a:defRPr sz="1800" b="0">
                <a:solidFill>
                  <a:srgbClr val="587080"/>
                </a:solidFill>
                <a:latin typeface="Arial"/>
              </a:defRPr>
            </a:pPr>
            <a:r>
              <a:t>test.</a:t>
            </a:r>
          </a:p>
        </p:txBody>
      </p:sp>
      <p:sp>
        <p:nvSpPr>
          <p:cNvPr id="12" name="Rounded Rectangle 11"/>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6409944"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5" name="body-9"/>
          <p:cNvSpPr txBox="1"/>
          <p:nvPr/>
        </p:nvSpPr>
        <p:spPr>
          <a:xfrm>
            <a:off x="6409944"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api.ts</a:t>
            </a:r>
          </a:p>
        </p:txBody>
      </p:sp>
      <p:sp>
        <p:nvSpPr>
          <p:cNvPr id="16" name="body-10"/>
          <p:cNvSpPr txBox="1"/>
          <p:nvPr/>
        </p:nvSpPr>
        <p:spPr>
          <a:xfrm>
            <a:off x="6409944"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JSON requests, CSRF headers and error</a:t>
            </a:r>
          </a:p>
          <a:p>
            <a:pPr algn="l">
              <a:lnSpc>
                <a:spcPts val="2088"/>
              </a:lnSpc>
              <a:spcBef>
                <a:spcPts val="0"/>
              </a:spcBef>
              <a:spcAft>
                <a:spcPts val="0"/>
              </a:spcAft>
              <a:defRPr sz="1800" b="0">
                <a:solidFill>
                  <a:srgbClr val="587080"/>
                </a:solidFill>
                <a:latin typeface="Arial"/>
              </a:defRPr>
            </a:pPr>
            <a:r>
              <a:t>messages.</a:t>
            </a:r>
          </a:p>
        </p:txBody>
      </p:sp>
      <p:sp>
        <p:nvSpPr>
          <p:cNvPr id="17" name="Rounded Rectangle 16"/>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749808"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20" name="body-12"/>
          <p:cNvSpPr txBox="1"/>
          <p:nvPr/>
        </p:nvSpPr>
        <p:spPr>
          <a:xfrm>
            <a:off x="749808"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analyzer_api.py</a:t>
            </a:r>
          </a:p>
        </p:txBody>
      </p:sp>
      <p:sp>
        <p:nvSpPr>
          <p:cNvPr id="21" name="body-13"/>
          <p:cNvSpPr txBox="1"/>
          <p:nvPr/>
        </p:nvSpPr>
        <p:spPr>
          <a:xfrm>
            <a:off x="749808"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Public analyzer endpoints.</a:t>
            </a:r>
          </a:p>
        </p:txBody>
      </p:sp>
      <p:sp>
        <p:nvSpPr>
          <p:cNvPr id="22" name="Rounded Rectangle 21"/>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6409944"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25" name="body-15"/>
          <p:cNvSpPr txBox="1"/>
          <p:nvPr/>
        </p:nvSpPr>
        <p:spPr>
          <a:xfrm>
            <a:off x="6409944"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analyzer_history.py</a:t>
            </a:r>
          </a:p>
        </p:txBody>
      </p:sp>
      <p:sp>
        <p:nvSpPr>
          <p:cNvPr id="26" name="body-16"/>
          <p:cNvSpPr txBox="1"/>
          <p:nvPr/>
        </p:nvSpPr>
        <p:spPr>
          <a:xfrm>
            <a:off x="6409944"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Record, retrieve and report saved tests.</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8">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30" name="source-19">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31" name="source-20">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32" name="source-21">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3"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4"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020 / 100</a:t>
            </a:r>
          </a:p>
        </p:txBody>
      </p:sp>
      <p:sp>
        <p:nvSpPr>
          <p:cNvPr id="35" name="Rectangle 3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0" y="6821424"/>
            <a:ext cx="24383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Analysis is the evidence desk</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Statistics and original results from publicly saved tests.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Dashboard</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View retained-test totals</a:t>
            </a:r>
          </a:p>
          <a:p>
            <a:pPr algn="l">
              <a:lnSpc>
                <a:spcPts val="2088"/>
              </a:lnSpc>
              <a:spcBef>
                <a:spcPts val="0"/>
              </a:spcBef>
              <a:spcAft>
                <a:spcPts val="0"/>
              </a:spcAft>
              <a:defRPr sz="1800" b="0">
                <a:solidFill>
                  <a:srgbClr val="587080"/>
                </a:solidFill>
                <a:latin typeface="Arial"/>
              </a:defRPr>
            </a:pPr>
            <a:r>
              <a:t>and verdicts.</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Individual result</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Inspect the original tokens</a:t>
            </a:r>
          </a:p>
          <a:p>
            <a:pPr algn="l">
              <a:lnSpc>
                <a:spcPts val="2088"/>
              </a:lnSpc>
              <a:spcBef>
                <a:spcPts val="0"/>
              </a:spcBef>
              <a:spcAft>
                <a:spcPts val="0"/>
              </a:spcAft>
              <a:defRPr sz="1800" b="0">
                <a:solidFill>
                  <a:srgbClr val="587080"/>
                </a:solidFill>
                <a:latin typeface="Arial"/>
              </a:defRPr>
            </a:pPr>
            <a:r>
              <a:t>and trace.</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Rule visibility</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Open the read-only</a:t>
            </a:r>
          </a:p>
          <a:p>
            <a:pPr algn="l">
              <a:lnSpc>
                <a:spcPts val="2088"/>
              </a:lnSpc>
              <a:spcBef>
                <a:spcPts val="0"/>
              </a:spcBef>
              <a:spcAft>
                <a:spcPts val="0"/>
              </a:spcAft>
              <a:defRPr sz="1800" b="0">
                <a:solidFill>
                  <a:srgbClr val="587080"/>
                </a:solidFill>
                <a:latin typeface="Arial"/>
              </a:defRPr>
            </a:pPr>
            <a:r>
              <a:t>grammar settings.</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analysis-desktop.png"/>
          <p:cNvPicPr>
            <a:picLocks noChangeAspect="1"/>
          </p:cNvPicPr>
          <p:nvPr/>
        </p:nvPicPr>
        <p:blipFill>
          <a:blip r:embed="rId2"/>
          <a:stretch>
            <a:fillRect/>
          </a:stretch>
        </p:blipFill>
        <p:spPr>
          <a:xfrm>
            <a:off x="5253228" y="2322576"/>
            <a:ext cx="5020056"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frontend/src/Analysis.tsx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frontend/src/TestStatistics.tsx</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frontend/src/CourseworkResults.tsx</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021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25603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Count saved tests, not collected records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dated history snapshot is different from a controlled study.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95528"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34</a:t>
            </a:r>
          </a:p>
        </p:txBody>
      </p:sp>
      <p:sp>
        <p:nvSpPr>
          <p:cNvPr id="9" name="body-6"/>
          <p:cNvSpPr txBox="1"/>
          <p:nvPr/>
        </p:nvSpPr>
        <p:spPr>
          <a:xfrm>
            <a:off x="804672"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Retained tests in the screenshot</a:t>
            </a:r>
          </a:p>
        </p:txBody>
      </p:sp>
      <p:sp>
        <p:nvSpPr>
          <p:cNvPr id="10" name="Rounded Rectangle 9"/>
          <p:cNvSpPr/>
          <p:nvPr/>
        </p:nvSpPr>
        <p:spPr>
          <a:xfrm>
            <a:off x="6208776"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6455664"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179</a:t>
            </a:r>
          </a:p>
        </p:txBody>
      </p:sp>
      <p:sp>
        <p:nvSpPr>
          <p:cNvPr id="12" name="body-8"/>
          <p:cNvSpPr txBox="1"/>
          <p:nvPr/>
        </p:nvSpPr>
        <p:spPr>
          <a:xfrm>
            <a:off x="6464808"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Token occurrences in that history</a:t>
            </a:r>
          </a:p>
        </p:txBody>
      </p:sp>
      <p:sp>
        <p:nvSpPr>
          <p:cNvPr id="13" name="Rounded Rectangle 12"/>
          <p:cNvSpPr/>
          <p:nvPr/>
        </p:nvSpPr>
        <p:spPr>
          <a:xfrm>
            <a:off x="548640"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95528"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12</a:t>
            </a:r>
          </a:p>
        </p:txBody>
      </p:sp>
      <p:sp>
        <p:nvSpPr>
          <p:cNvPr id="15" name="body-10"/>
          <p:cNvSpPr txBox="1"/>
          <p:nvPr/>
        </p:nvSpPr>
        <p:spPr>
          <a:xfrm>
            <a:off x="804672"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Statements in the fixed study</a:t>
            </a:r>
          </a:p>
        </p:txBody>
      </p:sp>
      <p:sp>
        <p:nvSpPr>
          <p:cNvPr id="16" name="Rounded Rectangle 15"/>
          <p:cNvSpPr/>
          <p:nvPr/>
        </p:nvSpPr>
        <p:spPr>
          <a:xfrm>
            <a:off x="6208776"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6455664"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81</a:t>
            </a:r>
          </a:p>
        </p:txBody>
      </p:sp>
      <p:sp>
        <p:nvSpPr>
          <p:cNvPr id="18" name="body-12"/>
          <p:cNvSpPr txBox="1"/>
          <p:nvPr/>
        </p:nvSpPr>
        <p:spPr>
          <a:xfrm>
            <a:off x="6464808"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Token occurrences in the fixed study</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frontend/src/TestStatistics.tsx</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23"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4"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5"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022 / 100</a:t>
            </a:r>
          </a:p>
        </p:txBody>
      </p:sp>
      <p:sp>
        <p:nvSpPr>
          <p:cNvPr id="26" name="Rectangle 25"/>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0" y="6821424"/>
            <a:ext cx="26822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Vocabulary approval asks one question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Does the saved token stream contain UNKNOWN?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ZERO UNKNOWN</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Vocabulary ACCEPT.</a:t>
            </a:r>
          </a:p>
          <a:p>
            <a:pPr algn="l">
              <a:lnSpc>
                <a:spcPts val="2552"/>
              </a:lnSpc>
              <a:spcBef>
                <a:spcPts val="0"/>
              </a:spcBef>
              <a:spcAft>
                <a:spcPts val="0"/>
              </a:spcAft>
              <a:defRPr sz="2200" b="0">
                <a:solidFill>
                  <a:srgbClr val="D1E2E1"/>
                </a:solidFill>
                <a:latin typeface="Arial"/>
              </a:defRPr>
            </a:pPr>
            <a:r>
              <a:t>Slang and AMBIGUOUS are not</a:t>
            </a:r>
          </a:p>
          <a:p>
            <a:pPr algn="l">
              <a:lnSpc>
                <a:spcPts val="2552"/>
              </a:lnSpc>
              <a:spcBef>
                <a:spcPts val="0"/>
              </a:spcBef>
              <a:spcAft>
                <a:spcPts val="0"/>
              </a:spcAft>
              <a:defRPr sz="2200" b="0">
                <a:solidFill>
                  <a:srgbClr val="D1E2E1"/>
                </a:solidFill>
                <a:latin typeface="Arial"/>
              </a:defRPr>
            </a:pPr>
            <a:r>
              <a:t>automatically rejected.</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ONE OR MORE UNKNOWN</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Vocabulary REJECT.</a:t>
            </a:r>
          </a:p>
          <a:p>
            <a:pPr algn="l">
              <a:lnSpc>
                <a:spcPts val="2552"/>
              </a:lnSpc>
              <a:spcBef>
                <a:spcPts val="0"/>
              </a:spcBef>
              <a:spcAft>
                <a:spcPts val="0"/>
              </a:spcAft>
              <a:defRPr sz="2200" b="0">
                <a:solidFill>
                  <a:srgbClr val="587080"/>
                </a:solidFill>
                <a:latin typeface="Arial"/>
              </a:defRPr>
            </a:pPr>
            <a:r>
              <a:t>Keep the unresolved forms visible for</a:t>
            </a:r>
          </a:p>
          <a:p>
            <a:pPr algn="l">
              <a:lnSpc>
                <a:spcPts val="2552"/>
              </a:lnSpc>
              <a:spcBef>
                <a:spcPts val="0"/>
              </a:spcBef>
              <a:spcAft>
                <a:spcPts val="0"/>
              </a:spcAft>
              <a:defRPr sz="2200" b="0">
                <a:solidFill>
                  <a:srgbClr val="587080"/>
                </a:solidFill>
                <a:latin typeface="Arial"/>
              </a:defRPr>
            </a:pPr>
            <a:r>
              <a:t>review.</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frontend/src/VocabularyVerdict.tsx</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19"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0"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023 / 100</a:t>
            </a:r>
          </a:p>
        </p:txBody>
      </p:sp>
      <p:sp>
        <p:nvSpPr>
          <p:cNvPr id="21" name="Rectangle 2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0" y="6821424"/>
            <a:ext cx="28041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Known words may still fail the CFG</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Constructed control: je je suis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LEXICAL VIEW</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All three words have recognized</a:t>
            </a:r>
          </a:p>
          <a:p>
            <a:pPr algn="l">
              <a:lnSpc>
                <a:spcPts val="2552"/>
              </a:lnSpc>
              <a:spcBef>
                <a:spcPts val="0"/>
              </a:spcBef>
              <a:spcAft>
                <a:spcPts val="0"/>
              </a:spcAft>
              <a:defRPr sz="2200" b="0">
                <a:solidFill>
                  <a:srgbClr val="D1E2E1"/>
                </a:solidFill>
                <a:latin typeface="Arial"/>
              </a:defRPr>
            </a:pPr>
            <a:r>
              <a:t>categories.</a:t>
            </a:r>
          </a:p>
          <a:p>
            <a:pPr algn="l">
              <a:lnSpc>
                <a:spcPts val="2552"/>
              </a:lnSpc>
              <a:spcBef>
                <a:spcPts val="0"/>
              </a:spcBef>
              <a:spcAft>
                <a:spcPts val="0"/>
              </a:spcAft>
              <a:defRPr sz="2200" b="0">
                <a:solidFill>
                  <a:srgbClr val="D1E2E1"/>
                </a:solidFill>
                <a:latin typeface="Arial"/>
              </a:defRPr>
            </a:pPr>
            <a:r>
              <a:t>Vocabulary approval passes.</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SYNTACTIC VIEW</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The category order is unsupported.</a:t>
            </a:r>
          </a:p>
          <a:p>
            <a:pPr algn="l">
              <a:lnSpc>
                <a:spcPts val="2552"/>
              </a:lnSpc>
              <a:spcBef>
                <a:spcPts val="0"/>
              </a:spcBef>
              <a:spcAft>
                <a:spcPts val="0"/>
              </a:spcAft>
              <a:defRPr sz="2200" b="0">
                <a:solidFill>
                  <a:srgbClr val="587080"/>
                </a:solidFill>
                <a:latin typeface="Arial"/>
              </a:defRPr>
            </a:pPr>
            <a:r>
              <a:t>The saved grammar rejects it.</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024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29260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Nine categories occur in the study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Counts are generated from all 81 token occurrences.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body-5"/>
          <p:cNvSpPr txBox="1"/>
          <p:nvPr/>
        </p:nvSpPr>
        <p:spPr>
          <a:xfrm>
            <a:off x="585216" y="2089404"/>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FF</a:t>
            </a:r>
          </a:p>
        </p:txBody>
      </p:sp>
      <p:sp>
        <p:nvSpPr>
          <p:cNvPr id="8" name="Rounded Rectangle 7"/>
          <p:cNvSpPr/>
          <p:nvPr/>
        </p:nvSpPr>
        <p:spPr>
          <a:xfrm>
            <a:off x="3282696" y="2093976"/>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3282696" y="2093976"/>
            <a:ext cx="7534656" cy="252933"/>
          </a:xfrm>
          <a:prstGeom prst="roundRect">
            <a:avLst>
              <a:gd name="adj" fmla="val 11000"/>
            </a:avLst>
          </a:prstGeom>
          <a:solidFill>
            <a:srgbClr val="B89A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6"/>
          <p:cNvSpPr txBox="1"/>
          <p:nvPr/>
        </p:nvSpPr>
        <p:spPr>
          <a:xfrm>
            <a:off x="11000232" y="2080260"/>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28</a:t>
            </a:r>
          </a:p>
        </p:txBody>
      </p:sp>
      <p:sp>
        <p:nvSpPr>
          <p:cNvPr id="11" name="body-7"/>
          <p:cNvSpPr txBox="1"/>
          <p:nvPr/>
        </p:nvSpPr>
        <p:spPr>
          <a:xfrm>
            <a:off x="585216" y="2478532"/>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VERB</a:t>
            </a:r>
          </a:p>
        </p:txBody>
      </p:sp>
      <p:sp>
        <p:nvSpPr>
          <p:cNvPr id="12" name="Rounded Rectangle 11"/>
          <p:cNvSpPr/>
          <p:nvPr/>
        </p:nvSpPr>
        <p:spPr>
          <a:xfrm>
            <a:off x="3282696" y="2483104"/>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3282696" y="2483104"/>
            <a:ext cx="5112802" cy="252933"/>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8"/>
          <p:cNvSpPr txBox="1"/>
          <p:nvPr/>
        </p:nvSpPr>
        <p:spPr>
          <a:xfrm>
            <a:off x="11000232" y="2469388"/>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19</a:t>
            </a:r>
          </a:p>
        </p:txBody>
      </p:sp>
      <p:sp>
        <p:nvSpPr>
          <p:cNvPr id="15" name="body-9"/>
          <p:cNvSpPr txBox="1"/>
          <p:nvPr/>
        </p:nvSpPr>
        <p:spPr>
          <a:xfrm>
            <a:off x="585216" y="2867660"/>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NOUN</a:t>
            </a:r>
          </a:p>
        </p:txBody>
      </p:sp>
      <p:sp>
        <p:nvSpPr>
          <p:cNvPr id="16" name="Rounded Rectangle 15"/>
          <p:cNvSpPr/>
          <p:nvPr/>
        </p:nvSpPr>
        <p:spPr>
          <a:xfrm>
            <a:off x="3282696" y="2872232"/>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82696" y="2872232"/>
            <a:ext cx="3767328" cy="252933"/>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0"/>
          <p:cNvSpPr txBox="1"/>
          <p:nvPr/>
        </p:nvSpPr>
        <p:spPr>
          <a:xfrm>
            <a:off x="11000232" y="2858516"/>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14</a:t>
            </a:r>
          </a:p>
        </p:txBody>
      </p:sp>
      <p:sp>
        <p:nvSpPr>
          <p:cNvPr id="19" name="body-11"/>
          <p:cNvSpPr txBox="1"/>
          <p:nvPr/>
        </p:nvSpPr>
        <p:spPr>
          <a:xfrm>
            <a:off x="585216" y="3256788"/>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ADVERB</a:t>
            </a:r>
          </a:p>
        </p:txBody>
      </p:sp>
      <p:sp>
        <p:nvSpPr>
          <p:cNvPr id="20" name="Rounded Rectangle 19"/>
          <p:cNvSpPr/>
          <p:nvPr/>
        </p:nvSpPr>
        <p:spPr>
          <a:xfrm>
            <a:off x="3282696" y="3261360"/>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3282696" y="3261360"/>
            <a:ext cx="1614569" cy="252933"/>
          </a:xfrm>
          <a:prstGeom prst="roundRect">
            <a:avLst>
              <a:gd name="adj" fmla="val 11000"/>
            </a:avLst>
          </a:prstGeom>
          <a:solidFill>
            <a:srgbClr val="B89A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2"/>
          <p:cNvSpPr txBox="1"/>
          <p:nvPr/>
        </p:nvSpPr>
        <p:spPr>
          <a:xfrm>
            <a:off x="11000232" y="3247644"/>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6</a:t>
            </a:r>
          </a:p>
        </p:txBody>
      </p:sp>
      <p:sp>
        <p:nvSpPr>
          <p:cNvPr id="23" name="body-13"/>
          <p:cNvSpPr txBox="1"/>
          <p:nvPr/>
        </p:nvSpPr>
        <p:spPr>
          <a:xfrm>
            <a:off x="585216" y="3645916"/>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AMBIGUOUS</a:t>
            </a:r>
          </a:p>
        </p:txBody>
      </p:sp>
      <p:sp>
        <p:nvSpPr>
          <p:cNvPr id="24" name="Rounded Rectangle 23"/>
          <p:cNvSpPr/>
          <p:nvPr/>
        </p:nvSpPr>
        <p:spPr>
          <a:xfrm>
            <a:off x="3282696" y="3650488"/>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3282696" y="3650488"/>
            <a:ext cx="1345474" cy="252933"/>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body-14"/>
          <p:cNvSpPr txBox="1"/>
          <p:nvPr/>
        </p:nvSpPr>
        <p:spPr>
          <a:xfrm>
            <a:off x="11000232" y="3636772"/>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5</a:t>
            </a:r>
          </a:p>
        </p:txBody>
      </p:sp>
      <p:sp>
        <p:nvSpPr>
          <p:cNvPr id="27" name="body-15"/>
          <p:cNvSpPr txBox="1"/>
          <p:nvPr/>
        </p:nvSpPr>
        <p:spPr>
          <a:xfrm>
            <a:off x="585216" y="4035044"/>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EF</a:t>
            </a:r>
          </a:p>
        </p:txBody>
      </p:sp>
      <p:sp>
        <p:nvSpPr>
          <p:cNvPr id="28" name="Rounded Rectangle 27"/>
          <p:cNvSpPr/>
          <p:nvPr/>
        </p:nvSpPr>
        <p:spPr>
          <a:xfrm>
            <a:off x="3282696" y="4039616"/>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3282696" y="4039616"/>
            <a:ext cx="807284" cy="252933"/>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body-16"/>
          <p:cNvSpPr txBox="1"/>
          <p:nvPr/>
        </p:nvSpPr>
        <p:spPr>
          <a:xfrm>
            <a:off x="11000232" y="4025900"/>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3</a:t>
            </a:r>
          </a:p>
        </p:txBody>
      </p:sp>
      <p:sp>
        <p:nvSpPr>
          <p:cNvPr id="31" name="body-17"/>
          <p:cNvSpPr txBox="1"/>
          <p:nvPr/>
        </p:nvSpPr>
        <p:spPr>
          <a:xfrm>
            <a:off x="585216" y="4424172"/>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ADJECTIVE</a:t>
            </a:r>
          </a:p>
        </p:txBody>
      </p:sp>
      <p:sp>
        <p:nvSpPr>
          <p:cNvPr id="32" name="Rounded Rectangle 31"/>
          <p:cNvSpPr/>
          <p:nvPr/>
        </p:nvSpPr>
        <p:spPr>
          <a:xfrm>
            <a:off x="3282696" y="4428744"/>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3282696" y="4428744"/>
            <a:ext cx="538189" cy="252933"/>
          </a:xfrm>
          <a:prstGeom prst="roundRect">
            <a:avLst>
              <a:gd name="adj" fmla="val 11000"/>
            </a:avLst>
          </a:prstGeom>
          <a:solidFill>
            <a:srgbClr val="B89A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body-18"/>
          <p:cNvSpPr txBox="1"/>
          <p:nvPr/>
        </p:nvSpPr>
        <p:spPr>
          <a:xfrm>
            <a:off x="11000232" y="4415028"/>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2</a:t>
            </a:r>
          </a:p>
        </p:txBody>
      </p:sp>
      <p:sp>
        <p:nvSpPr>
          <p:cNvPr id="35" name="body-19"/>
          <p:cNvSpPr txBox="1"/>
          <p:nvPr/>
        </p:nvSpPr>
        <p:spPr>
          <a:xfrm>
            <a:off x="585216" y="4813300"/>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PIDGIN</a:t>
            </a:r>
          </a:p>
        </p:txBody>
      </p:sp>
      <p:sp>
        <p:nvSpPr>
          <p:cNvPr id="36" name="Rounded Rectangle 35"/>
          <p:cNvSpPr/>
          <p:nvPr/>
        </p:nvSpPr>
        <p:spPr>
          <a:xfrm>
            <a:off x="3282696" y="4817872"/>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3282696" y="4817872"/>
            <a:ext cx="538189" cy="252933"/>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body-20"/>
          <p:cNvSpPr txBox="1"/>
          <p:nvPr/>
        </p:nvSpPr>
        <p:spPr>
          <a:xfrm>
            <a:off x="11000232" y="4804156"/>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2</a:t>
            </a:r>
          </a:p>
        </p:txBody>
      </p:sp>
      <p:sp>
        <p:nvSpPr>
          <p:cNvPr id="39" name="body-21"/>
          <p:cNvSpPr txBox="1"/>
          <p:nvPr/>
        </p:nvSpPr>
        <p:spPr>
          <a:xfrm>
            <a:off x="585216" y="5202428"/>
            <a:ext cx="2697480" cy="361696"/>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UNKNOWN</a:t>
            </a:r>
          </a:p>
        </p:txBody>
      </p:sp>
      <p:sp>
        <p:nvSpPr>
          <p:cNvPr id="40" name="Rounded Rectangle 39"/>
          <p:cNvSpPr/>
          <p:nvPr/>
        </p:nvSpPr>
        <p:spPr>
          <a:xfrm>
            <a:off x="3282696" y="5207000"/>
            <a:ext cx="7534656" cy="252933"/>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3282696" y="5207000"/>
            <a:ext cx="538189" cy="252933"/>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body-22"/>
          <p:cNvSpPr txBox="1"/>
          <p:nvPr/>
        </p:nvSpPr>
        <p:spPr>
          <a:xfrm>
            <a:off x="11000232" y="5193284"/>
            <a:ext cx="594360" cy="370840"/>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2</a:t>
            </a:r>
          </a:p>
        </p:txBody>
      </p:sp>
      <p:sp>
        <p:nvSpPr>
          <p:cNvPr id="43" name="caption-23"/>
          <p:cNvSpPr txBox="1"/>
          <p:nvPr/>
        </p:nvSpPr>
        <p:spPr>
          <a:xfrm>
            <a:off x="594360" y="5687568"/>
            <a:ext cx="10972800" cy="219456"/>
          </a:xfrm>
          <a:prstGeom prst="rect">
            <a:avLst/>
          </a:prstGeom>
          <a:noFill/>
        </p:spPr>
        <p:txBody>
          <a:bodyPr wrap="none" lIns="0" rIns="0" tIns="0" bIns="0" anchor="t">
            <a:noAutofit/>
          </a:bodyPr>
          <a:lstStyle/>
          <a:p>
            <a:pPr algn="l">
              <a:lnSpc>
                <a:spcPts val="1334"/>
              </a:lnSpc>
              <a:spcBef>
                <a:spcPts val="0"/>
              </a:spcBef>
              <a:spcAft>
                <a:spcPts val="0"/>
              </a:spcAft>
              <a:defRPr sz="1150" b="0">
                <a:solidFill>
                  <a:srgbClr val="587080"/>
                </a:solidFill>
                <a:latin typeface="Arial"/>
              </a:defRPr>
            </a:pPr>
            <a:r>
              <a:t>CONTROLLED STUDY / FF = French function word; EF = English function word</a:t>
            </a:r>
          </a:p>
        </p:txBody>
      </p:sp>
      <p:cxnSp>
        <p:nvCxnSpPr>
          <p:cNvPr id="44" name="Connector 43"/>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45" name="footer-2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46" name="source-2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47" name="source-2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tools/build_report_evidence.py</a:t>
            </a:r>
          </a:p>
        </p:txBody>
      </p:sp>
      <p:sp>
        <p:nvSpPr>
          <p:cNvPr id="48" name="footer-2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9" name="footer-2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025 / 100</a:t>
            </a:r>
          </a:p>
        </p:txBody>
      </p:sp>
      <p:sp>
        <p:nvSpPr>
          <p:cNvPr id="50" name="Rectangle 4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ectangle 50"/>
          <p:cNvSpPr/>
          <p:nvPr/>
        </p:nvSpPr>
        <p:spPr>
          <a:xfrm>
            <a:off x="0" y="6821424"/>
            <a:ext cx="3047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Frequency starts with actual tokens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Most frequent forms in the controlled twelve-statement study.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body-5"/>
          <p:cNvSpPr txBox="1"/>
          <p:nvPr/>
        </p:nvSpPr>
        <p:spPr>
          <a:xfrm>
            <a:off x="585216" y="2089404"/>
            <a:ext cx="2697480" cy="55626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je</a:t>
            </a:r>
          </a:p>
        </p:txBody>
      </p:sp>
      <p:sp>
        <p:nvSpPr>
          <p:cNvPr id="8" name="Rounded Rectangle 7"/>
          <p:cNvSpPr/>
          <p:nvPr/>
        </p:nvSpPr>
        <p:spPr>
          <a:xfrm>
            <a:off x="3282696" y="2093976"/>
            <a:ext cx="7534656" cy="379399"/>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unded Rectangle 8"/>
          <p:cNvSpPr/>
          <p:nvPr/>
        </p:nvSpPr>
        <p:spPr>
          <a:xfrm>
            <a:off x="3282696" y="2093976"/>
            <a:ext cx="7534656" cy="379399"/>
          </a:xfrm>
          <a:prstGeom prst="roundRect">
            <a:avLst>
              <a:gd name="adj" fmla="val 11000"/>
            </a:avLst>
          </a:prstGeom>
          <a:solidFill>
            <a:srgbClr val="B89A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6"/>
          <p:cNvSpPr txBox="1"/>
          <p:nvPr/>
        </p:nvSpPr>
        <p:spPr>
          <a:xfrm>
            <a:off x="11000232" y="2080260"/>
            <a:ext cx="594360" cy="565404"/>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7</a:t>
            </a:r>
          </a:p>
        </p:txBody>
      </p:sp>
      <p:sp>
        <p:nvSpPr>
          <p:cNvPr id="11" name="body-7"/>
          <p:cNvSpPr txBox="1"/>
          <p:nvPr/>
        </p:nvSpPr>
        <p:spPr>
          <a:xfrm>
            <a:off x="585216" y="2673096"/>
            <a:ext cx="2697480" cy="55626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le</a:t>
            </a:r>
          </a:p>
        </p:txBody>
      </p:sp>
      <p:sp>
        <p:nvSpPr>
          <p:cNvPr id="12" name="Rounded Rectangle 11"/>
          <p:cNvSpPr/>
          <p:nvPr/>
        </p:nvSpPr>
        <p:spPr>
          <a:xfrm>
            <a:off x="3282696" y="2677668"/>
            <a:ext cx="7534656" cy="379399"/>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3282696" y="2677668"/>
            <a:ext cx="6458276" cy="379399"/>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8"/>
          <p:cNvSpPr txBox="1"/>
          <p:nvPr/>
        </p:nvSpPr>
        <p:spPr>
          <a:xfrm>
            <a:off x="11000232" y="2663952"/>
            <a:ext cx="594360" cy="565404"/>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6</a:t>
            </a:r>
          </a:p>
        </p:txBody>
      </p:sp>
      <p:sp>
        <p:nvSpPr>
          <p:cNvPr id="15" name="body-9"/>
          <p:cNvSpPr txBox="1"/>
          <p:nvPr/>
        </p:nvSpPr>
        <p:spPr>
          <a:xfrm>
            <a:off x="585216" y="3256788"/>
            <a:ext cx="2697480" cy="55626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depuis</a:t>
            </a:r>
          </a:p>
        </p:txBody>
      </p:sp>
      <p:sp>
        <p:nvSpPr>
          <p:cNvPr id="16" name="Rounded Rectangle 15"/>
          <p:cNvSpPr/>
          <p:nvPr/>
        </p:nvSpPr>
        <p:spPr>
          <a:xfrm>
            <a:off x="3282696" y="3261360"/>
            <a:ext cx="7534656" cy="379399"/>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82696" y="3261360"/>
            <a:ext cx="3229138" cy="379399"/>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0"/>
          <p:cNvSpPr txBox="1"/>
          <p:nvPr/>
        </p:nvSpPr>
        <p:spPr>
          <a:xfrm>
            <a:off x="11000232" y="3247644"/>
            <a:ext cx="594360" cy="565404"/>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3</a:t>
            </a:r>
          </a:p>
        </p:txBody>
      </p:sp>
      <p:sp>
        <p:nvSpPr>
          <p:cNvPr id="19" name="body-11"/>
          <p:cNvSpPr txBox="1"/>
          <p:nvPr/>
        </p:nvSpPr>
        <p:spPr>
          <a:xfrm>
            <a:off x="585216" y="3840480"/>
            <a:ext cx="2697480" cy="55626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suis</a:t>
            </a:r>
          </a:p>
        </p:txBody>
      </p:sp>
      <p:sp>
        <p:nvSpPr>
          <p:cNvPr id="20" name="Rounded Rectangle 19"/>
          <p:cNvSpPr/>
          <p:nvPr/>
        </p:nvSpPr>
        <p:spPr>
          <a:xfrm>
            <a:off x="3282696" y="3845052"/>
            <a:ext cx="7534656" cy="379399"/>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unded Rectangle 20"/>
          <p:cNvSpPr/>
          <p:nvPr/>
        </p:nvSpPr>
        <p:spPr>
          <a:xfrm>
            <a:off x="3282696" y="3845052"/>
            <a:ext cx="3229138" cy="379399"/>
          </a:xfrm>
          <a:prstGeom prst="roundRect">
            <a:avLst>
              <a:gd name="adj" fmla="val 11000"/>
            </a:avLst>
          </a:prstGeom>
          <a:solidFill>
            <a:srgbClr val="B89A6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2"/>
          <p:cNvSpPr txBox="1"/>
          <p:nvPr/>
        </p:nvSpPr>
        <p:spPr>
          <a:xfrm>
            <a:off x="11000232" y="3831336"/>
            <a:ext cx="594360" cy="565404"/>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3</a:t>
            </a:r>
          </a:p>
        </p:txBody>
      </p:sp>
      <p:sp>
        <p:nvSpPr>
          <p:cNvPr id="23" name="body-13"/>
          <p:cNvSpPr txBox="1"/>
          <p:nvPr/>
        </p:nvSpPr>
        <p:spPr>
          <a:xfrm>
            <a:off x="585216" y="4424172"/>
            <a:ext cx="2697480" cy="55626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j'ai</a:t>
            </a:r>
          </a:p>
        </p:txBody>
      </p:sp>
      <p:sp>
        <p:nvSpPr>
          <p:cNvPr id="24" name="Rounded Rectangle 23"/>
          <p:cNvSpPr/>
          <p:nvPr/>
        </p:nvSpPr>
        <p:spPr>
          <a:xfrm>
            <a:off x="3282696" y="4428744"/>
            <a:ext cx="7534656" cy="379399"/>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3282696" y="4428744"/>
            <a:ext cx="2152758" cy="379399"/>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body-14"/>
          <p:cNvSpPr txBox="1"/>
          <p:nvPr/>
        </p:nvSpPr>
        <p:spPr>
          <a:xfrm>
            <a:off x="11000232" y="4415028"/>
            <a:ext cx="594360" cy="565404"/>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2</a:t>
            </a:r>
          </a:p>
        </p:txBody>
      </p:sp>
      <p:sp>
        <p:nvSpPr>
          <p:cNvPr id="27" name="body-15"/>
          <p:cNvSpPr txBox="1"/>
          <p:nvPr/>
        </p:nvSpPr>
        <p:spPr>
          <a:xfrm>
            <a:off x="585216" y="5007864"/>
            <a:ext cx="2697480" cy="55626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pas</a:t>
            </a:r>
          </a:p>
        </p:txBody>
      </p:sp>
      <p:sp>
        <p:nvSpPr>
          <p:cNvPr id="28" name="Rounded Rectangle 27"/>
          <p:cNvSpPr/>
          <p:nvPr/>
        </p:nvSpPr>
        <p:spPr>
          <a:xfrm>
            <a:off x="3282696" y="5012436"/>
            <a:ext cx="7534656" cy="379399"/>
          </a:xfrm>
          <a:prstGeom prst="roundRect">
            <a:avLst>
              <a:gd name="adj" fmla="val 11000"/>
            </a:avLst>
          </a:prstGeom>
          <a:solidFill>
            <a:srgbClr val="E4EB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3282696" y="5012436"/>
            <a:ext cx="2152758" cy="379399"/>
          </a:xfrm>
          <a:prstGeom prst="roundRect">
            <a:avLst>
              <a:gd name="adj" fmla="val 11000"/>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body-16"/>
          <p:cNvSpPr txBox="1"/>
          <p:nvPr/>
        </p:nvSpPr>
        <p:spPr>
          <a:xfrm>
            <a:off x="11000232" y="4998720"/>
            <a:ext cx="594360" cy="565404"/>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83747"/>
                </a:solidFill>
                <a:latin typeface="Arial"/>
              </a:defRPr>
            </a:pPr>
            <a:r>
              <a:t>2</a:t>
            </a:r>
          </a:p>
        </p:txBody>
      </p:sp>
      <p:sp>
        <p:nvSpPr>
          <p:cNvPr id="31" name="caption-17"/>
          <p:cNvSpPr txBox="1"/>
          <p:nvPr/>
        </p:nvSpPr>
        <p:spPr>
          <a:xfrm>
            <a:off x="594360" y="5687568"/>
            <a:ext cx="10972800" cy="219456"/>
          </a:xfrm>
          <a:prstGeom prst="rect">
            <a:avLst/>
          </a:prstGeom>
          <a:noFill/>
        </p:spPr>
        <p:txBody>
          <a:bodyPr wrap="none" lIns="0" rIns="0" tIns="0" bIns="0" anchor="t">
            <a:noAutofit/>
          </a:bodyPr>
          <a:lstStyle/>
          <a:p>
            <a:pPr algn="l">
              <a:lnSpc>
                <a:spcPts val="1334"/>
              </a:lnSpc>
              <a:spcBef>
                <a:spcPts val="0"/>
              </a:spcBef>
              <a:spcAft>
                <a:spcPts val="0"/>
              </a:spcAft>
              <a:defRPr sz="1150" b="0">
                <a:solidFill>
                  <a:srgbClr val="587080"/>
                </a:solidFill>
                <a:latin typeface="Arial"/>
              </a:defRPr>
            </a:pPr>
            <a:r>
              <a:t>CONTROLLED STUDY / FF = French function word; EF = English function word</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35"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tools/build_report_evidence.py</a:t>
            </a:r>
          </a:p>
        </p:txBody>
      </p:sp>
      <p:sp>
        <p:nvSpPr>
          <p:cNvPr id="36" name="footer-21"/>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7" name="footer-22"/>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026 / 100</a:t>
            </a:r>
          </a:p>
        </p:txBody>
      </p:sp>
      <p:sp>
        <p:nvSpPr>
          <p:cNvPr id="38" name="Rectangle 37"/>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ectangle 38"/>
          <p:cNvSpPr/>
          <p:nvPr/>
        </p:nvSpPr>
        <p:spPr>
          <a:xfrm>
            <a:off x="0" y="6821424"/>
            <a:ext cx="31699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Inspect raw text and categories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selected-test panel makes individual decisions visible.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Original input</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Review exactly what was</a:t>
            </a:r>
          </a:p>
          <a:p>
            <a:pPr algn="l">
              <a:lnSpc>
                <a:spcPts val="2088"/>
              </a:lnSpc>
              <a:spcBef>
                <a:spcPts val="0"/>
              </a:spcBef>
              <a:spcAft>
                <a:spcPts val="0"/>
              </a:spcAft>
              <a:defRPr sz="1800" b="0">
                <a:solidFill>
                  <a:srgbClr val="587080"/>
                </a:solidFill>
                <a:latin typeface="Arial"/>
              </a:defRPr>
            </a:pPr>
            <a:r>
              <a:t>recorded.</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Token detail</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Compare each spelling with</a:t>
            </a:r>
          </a:p>
          <a:p>
            <a:pPr algn="l">
              <a:lnSpc>
                <a:spcPts val="2088"/>
              </a:lnSpc>
              <a:spcBef>
                <a:spcPts val="0"/>
              </a:spcBef>
              <a:spcAft>
                <a:spcPts val="0"/>
              </a:spcAft>
              <a:defRPr sz="1800" b="0">
                <a:solidFill>
                  <a:srgbClr val="587080"/>
                </a:solidFill>
                <a:latin typeface="Arial"/>
              </a:defRPr>
            </a:pPr>
            <a:r>
              <a:t>its chosen label.</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Historical result</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This is a saved snapshot,</a:t>
            </a:r>
          </a:p>
          <a:p>
            <a:pPr algn="l">
              <a:lnSpc>
                <a:spcPts val="2088"/>
              </a:lnSpc>
              <a:spcBef>
                <a:spcPts val="0"/>
              </a:spcBef>
              <a:spcAft>
                <a:spcPts val="0"/>
              </a:spcAft>
              <a:defRPr sz="1800" b="0">
                <a:solidFill>
                  <a:srgbClr val="587080"/>
                </a:solidFill>
                <a:latin typeface="Arial"/>
              </a:defRPr>
            </a:pPr>
            <a:r>
              <a:t>not a new computation.</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public-test-20260927.png"/>
          <p:cNvPicPr>
            <a:picLocks noChangeAspect="1"/>
          </p:cNvPicPr>
          <p:nvPr/>
        </p:nvPicPr>
        <p:blipFill>
          <a:blip r:embed="rId2"/>
          <a:stretch>
            <a:fillRect/>
          </a:stretch>
        </p:blipFill>
        <p:spPr>
          <a:xfrm>
            <a:off x="5516838" y="2322576"/>
            <a:ext cx="4492835"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frontend/src/CourseworkResults.tsx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frontend/src/VocabularyVerdict.tsx</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027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32918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 trace is a sequence of decisions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Each row records the stack and remaining input before its action.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83134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Stack (top at right)</a:t>
            </a:r>
          </a:p>
        </p:txBody>
      </p:sp>
      <p:sp>
        <p:nvSpPr>
          <p:cNvPr id="9" name="body-6"/>
          <p:cNvSpPr txBox="1"/>
          <p:nvPr/>
        </p:nvSpPr>
        <p:spPr>
          <a:xfrm>
            <a:off x="3800612" y="2093976"/>
            <a:ext cx="3385931"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Remaining input</a:t>
            </a:r>
          </a:p>
        </p:txBody>
      </p:sp>
      <p:sp>
        <p:nvSpPr>
          <p:cNvPr id="10" name="body-7"/>
          <p:cNvSpPr txBox="1"/>
          <p:nvPr/>
        </p:nvSpPr>
        <p:spPr>
          <a:xfrm>
            <a:off x="7460863" y="2093976"/>
            <a:ext cx="4051432"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Action</a:t>
            </a:r>
          </a:p>
        </p:txBody>
      </p:sp>
      <p:sp>
        <p:nvSpPr>
          <p:cNvPr id="11" name="Rectangle 10"/>
          <p:cNvSpPr/>
          <p:nvPr/>
        </p:nvSpPr>
        <p:spPr>
          <a:xfrm>
            <a:off x="548640" y="2441448"/>
            <a:ext cx="11091672" cy="6492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309067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Ut]</a:t>
            </a:r>
          </a:p>
        </p:txBody>
      </p:sp>
      <p:sp>
        <p:nvSpPr>
          <p:cNvPr id="14" name="body-9"/>
          <p:cNvSpPr txBox="1"/>
          <p:nvPr/>
        </p:nvSpPr>
        <p:spPr>
          <a:xfrm>
            <a:off x="3800612" y="2523744"/>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FF VERB ADJECTIVE FF VERB</a:t>
            </a:r>
          </a:p>
          <a:p>
            <a:pPr algn="l">
              <a:lnSpc>
                <a:spcPts val="1972"/>
              </a:lnSpc>
              <a:spcBef>
                <a:spcPts val="0"/>
              </a:spcBef>
              <a:spcAft>
                <a:spcPts val="0"/>
              </a:spcAft>
              <a:defRPr sz="1700" b="0">
                <a:solidFill>
                  <a:srgbClr val="183747"/>
                </a:solidFill>
                <a:latin typeface="Arial"/>
              </a:defRPr>
            </a:pPr>
            <a:r>
              <a:t>VERB $</a:t>
            </a:r>
          </a:p>
        </p:txBody>
      </p:sp>
      <p:sp>
        <p:nvSpPr>
          <p:cNvPr id="15" name="body-10"/>
          <p:cNvSpPr txBox="1"/>
          <p:nvPr/>
        </p:nvSpPr>
        <p:spPr>
          <a:xfrm>
            <a:off x="7460863" y="2523744"/>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Apply Ut -&gt; Cl Uf</a:t>
            </a:r>
          </a:p>
        </p:txBody>
      </p:sp>
      <p:sp>
        <p:nvSpPr>
          <p:cNvPr id="16" name="Rectangle 15"/>
          <p:cNvSpPr/>
          <p:nvPr/>
        </p:nvSpPr>
        <p:spPr>
          <a:xfrm>
            <a:off x="548640" y="3090672"/>
            <a:ext cx="11091672" cy="649224"/>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373989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172968"/>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Uf, Cl]</a:t>
            </a:r>
          </a:p>
        </p:txBody>
      </p:sp>
      <p:sp>
        <p:nvSpPr>
          <p:cNvPr id="19" name="body-12"/>
          <p:cNvSpPr txBox="1"/>
          <p:nvPr/>
        </p:nvSpPr>
        <p:spPr>
          <a:xfrm>
            <a:off x="3800612" y="3172968"/>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FF VERB ADJECTIVE FF VERB</a:t>
            </a:r>
          </a:p>
          <a:p>
            <a:pPr algn="l">
              <a:lnSpc>
                <a:spcPts val="1972"/>
              </a:lnSpc>
              <a:spcBef>
                <a:spcPts val="0"/>
              </a:spcBef>
              <a:spcAft>
                <a:spcPts val="0"/>
              </a:spcAft>
              <a:defRPr sz="1700" b="0">
                <a:solidFill>
                  <a:srgbClr val="183747"/>
                </a:solidFill>
                <a:latin typeface="Arial"/>
              </a:defRPr>
            </a:pPr>
            <a:r>
              <a:t>VERB $</a:t>
            </a:r>
          </a:p>
        </p:txBody>
      </p:sp>
      <p:sp>
        <p:nvSpPr>
          <p:cNvPr id="20" name="body-13"/>
          <p:cNvSpPr txBox="1"/>
          <p:nvPr/>
        </p:nvSpPr>
        <p:spPr>
          <a:xfrm>
            <a:off x="7460863" y="3172968"/>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Apply Cl -&gt; FF St</a:t>
            </a:r>
          </a:p>
        </p:txBody>
      </p:sp>
      <p:sp>
        <p:nvSpPr>
          <p:cNvPr id="21" name="Rectangle 20"/>
          <p:cNvSpPr/>
          <p:nvPr/>
        </p:nvSpPr>
        <p:spPr>
          <a:xfrm>
            <a:off x="548640" y="3739896"/>
            <a:ext cx="11091672" cy="6492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3891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3822191"/>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Uf, St, FF]</a:t>
            </a:r>
          </a:p>
        </p:txBody>
      </p:sp>
      <p:sp>
        <p:nvSpPr>
          <p:cNvPr id="24" name="body-15"/>
          <p:cNvSpPr txBox="1"/>
          <p:nvPr/>
        </p:nvSpPr>
        <p:spPr>
          <a:xfrm>
            <a:off x="3800612" y="3822191"/>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FF VERB ADJECTIVE FF VERB</a:t>
            </a:r>
          </a:p>
          <a:p>
            <a:pPr algn="l">
              <a:lnSpc>
                <a:spcPts val="1972"/>
              </a:lnSpc>
              <a:spcBef>
                <a:spcPts val="0"/>
              </a:spcBef>
              <a:spcAft>
                <a:spcPts val="0"/>
              </a:spcAft>
              <a:defRPr sz="1700" b="0">
                <a:solidFill>
                  <a:srgbClr val="183747"/>
                </a:solidFill>
                <a:latin typeface="Arial"/>
              </a:defRPr>
            </a:pPr>
            <a:r>
              <a:t>VERB $</a:t>
            </a:r>
          </a:p>
        </p:txBody>
      </p:sp>
      <p:sp>
        <p:nvSpPr>
          <p:cNvPr id="25" name="body-16"/>
          <p:cNvSpPr txBox="1"/>
          <p:nvPr/>
        </p:nvSpPr>
        <p:spPr>
          <a:xfrm>
            <a:off x="7460863" y="3822191"/>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Match FF</a:t>
            </a:r>
          </a:p>
        </p:txBody>
      </p:sp>
      <p:sp>
        <p:nvSpPr>
          <p:cNvPr id="26" name="Rectangle 25"/>
          <p:cNvSpPr/>
          <p:nvPr/>
        </p:nvSpPr>
        <p:spPr>
          <a:xfrm>
            <a:off x="548640" y="4389120"/>
            <a:ext cx="11091672" cy="649224"/>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038344"/>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4471416"/>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Uf, St]</a:t>
            </a:r>
          </a:p>
        </p:txBody>
      </p:sp>
      <p:sp>
        <p:nvSpPr>
          <p:cNvPr id="29" name="body-18"/>
          <p:cNvSpPr txBox="1"/>
          <p:nvPr/>
        </p:nvSpPr>
        <p:spPr>
          <a:xfrm>
            <a:off x="3800612" y="4471416"/>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VERB ADJECTIVE FF VERB</a:t>
            </a:r>
          </a:p>
          <a:p>
            <a:pPr algn="l">
              <a:lnSpc>
                <a:spcPts val="1972"/>
              </a:lnSpc>
              <a:spcBef>
                <a:spcPts val="0"/>
              </a:spcBef>
              <a:spcAft>
                <a:spcPts val="0"/>
              </a:spcAft>
              <a:defRPr sz="1700" b="0">
                <a:solidFill>
                  <a:srgbClr val="183747"/>
                </a:solidFill>
                <a:latin typeface="Arial"/>
              </a:defRPr>
            </a:pPr>
            <a:r>
              <a:t>VERB $</a:t>
            </a:r>
          </a:p>
        </p:txBody>
      </p:sp>
      <p:sp>
        <p:nvSpPr>
          <p:cNvPr id="30" name="body-19"/>
          <p:cNvSpPr txBox="1"/>
          <p:nvPr/>
        </p:nvSpPr>
        <p:spPr>
          <a:xfrm>
            <a:off x="7460863" y="4471416"/>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Apply St -&gt; VERB Pt</a:t>
            </a:r>
          </a:p>
        </p:txBody>
      </p:sp>
      <p:sp>
        <p:nvSpPr>
          <p:cNvPr id="31" name="body-20"/>
          <p:cNvSpPr txBox="1"/>
          <p:nvPr/>
        </p:nvSpPr>
        <p:spPr>
          <a:xfrm>
            <a:off x="603504" y="5303520"/>
            <a:ext cx="10972800" cy="44805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Stack state / remaining categories / selected action.</a:t>
            </a:r>
          </a:p>
        </p:txBody>
      </p:sp>
      <p:sp>
        <p:nvSpPr>
          <p:cNvPr id="32" name="caption-21"/>
          <p:cNvSpPr txBox="1"/>
          <p:nvPr/>
        </p:nvSpPr>
        <p:spPr>
          <a:xfrm>
            <a:off x="603504" y="5760720"/>
            <a:ext cx="109728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Arial"/>
              </a:defRPr>
            </a:pPr>
            <a:r>
              <a:t>Ut = Utterance / Uf = ending helper / Cl = Clause / St = SubjectTail / FF = French function word</a:t>
            </a:r>
          </a:p>
        </p:txBody>
      </p:sp>
      <p:cxnSp>
        <p:nvCxnSpPr>
          <p:cNvPr id="33" name="Connector 3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4" name="footer-22"/>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5" name="source-23">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6" name="source-24">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frontend/src/CourseworkResults.tsx</a:t>
            </a:r>
          </a:p>
        </p:txBody>
      </p:sp>
      <p:sp>
        <p:nvSpPr>
          <p:cNvPr id="37"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8"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028 / 100</a:t>
            </a:r>
          </a:p>
        </p:txBody>
      </p:sp>
      <p:sp>
        <p:nvSpPr>
          <p:cNvPr id="39" name="Rectangle 38"/>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0" y="6821424"/>
            <a:ext cx="34137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Grammar panels reveal the calculation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UI exposes intermediate results instead of only a green badge.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ORIGINAL</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exact supplied</a:t>
            </a:r>
          </a:p>
          <a:p>
            <a:pPr algn="l">
              <a:lnSpc>
                <a:spcPts val="2088"/>
              </a:lnSpc>
              <a:spcBef>
                <a:spcPts val="0"/>
              </a:spcBef>
              <a:spcAft>
                <a:spcPts val="0"/>
              </a:spcAft>
              <a:defRPr sz="1800" b="0">
                <a:solidFill>
                  <a:srgbClr val="587080"/>
                </a:solidFill>
                <a:latin typeface="Arial"/>
              </a:defRPr>
            </a:pPr>
            <a:r>
              <a:t>grammar</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TRANSFORMED</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Before/after rule</a:t>
            </a:r>
          </a:p>
          <a:p>
            <a:pPr algn="l">
              <a:lnSpc>
                <a:spcPts val="2088"/>
              </a:lnSpc>
              <a:spcBef>
                <a:spcPts val="0"/>
              </a:spcBef>
              <a:spcAft>
                <a:spcPts val="0"/>
              </a:spcAft>
              <a:defRPr sz="1800" b="0">
                <a:solidFill>
                  <a:srgbClr val="587080"/>
                </a:solidFill>
                <a:latin typeface="Arial"/>
              </a:defRPr>
            </a:pPr>
            <a:r>
              <a:t>rewrites</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SETS</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Computed FIRST</a:t>
            </a:r>
          </a:p>
          <a:p>
            <a:pPr algn="l">
              <a:lnSpc>
                <a:spcPts val="2088"/>
              </a:lnSpc>
              <a:spcBef>
                <a:spcPts val="0"/>
              </a:spcBef>
              <a:spcAft>
                <a:spcPts val="0"/>
              </a:spcAft>
              <a:defRPr sz="1800" b="0">
                <a:solidFill>
                  <a:srgbClr val="587080"/>
                </a:solidFill>
                <a:latin typeface="Arial"/>
              </a:defRPr>
            </a:pPr>
            <a:r>
              <a:t>and FOLLOW</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TABLE</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LL(1) entries and</a:t>
            </a:r>
          </a:p>
          <a:p>
            <a:pPr algn="l">
              <a:lnSpc>
                <a:spcPts val="2088"/>
              </a:lnSpc>
              <a:spcBef>
                <a:spcPts val="0"/>
              </a:spcBef>
              <a:spcAft>
                <a:spcPts val="0"/>
              </a:spcAft>
              <a:defRPr sz="1800" b="0">
                <a:solidFill>
                  <a:srgbClr val="587080"/>
                </a:solidFill>
                <a:latin typeface="Arial"/>
              </a:defRPr>
            </a:pPr>
            <a:r>
              <a:t>conflicts</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frontend/src/CourseworkResults.tsx</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compiler/parser/service.py</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32"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3"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029 / 100</a:t>
            </a:r>
          </a:p>
        </p:txBody>
      </p:sp>
      <p:sp>
        <p:nvSpPr>
          <p:cNvPr id="34" name="Rectangle 3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0" y="6821424"/>
            <a:ext cx="35356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03 / ANALYSIS AND EVIDENCE</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Analysis: rendering versus aggregation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Different files own the view, the evidence and the totals.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0" name="body-6"/>
          <p:cNvSpPr txBox="1"/>
          <p:nvPr/>
        </p:nvSpPr>
        <p:spPr>
          <a:xfrm>
            <a:off x="749808"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Analysis.tsx</a:t>
            </a:r>
          </a:p>
        </p:txBody>
      </p:sp>
      <p:sp>
        <p:nvSpPr>
          <p:cNvPr id="11" name="body-7"/>
          <p:cNvSpPr txBox="1"/>
          <p:nvPr/>
        </p:nvSpPr>
        <p:spPr>
          <a:xfrm>
            <a:off x="749808"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Page wrapper, selected test and loading states.</a:t>
            </a:r>
          </a:p>
        </p:txBody>
      </p:sp>
      <p:sp>
        <p:nvSpPr>
          <p:cNvPr id="12" name="Rounded Rectangle 11"/>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6409944"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5" name="body-9"/>
          <p:cNvSpPr txBox="1"/>
          <p:nvPr/>
        </p:nvSpPr>
        <p:spPr>
          <a:xfrm>
            <a:off x="6409944"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TestStatistics.tsx</a:t>
            </a:r>
          </a:p>
        </p:txBody>
      </p:sp>
      <p:sp>
        <p:nvSpPr>
          <p:cNvPr id="16" name="body-10"/>
          <p:cNvSpPr txBox="1"/>
          <p:nvPr/>
        </p:nvSpPr>
        <p:spPr>
          <a:xfrm>
            <a:off x="6409944"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History metrics, frequencies and pagination.</a:t>
            </a:r>
          </a:p>
        </p:txBody>
      </p:sp>
      <p:sp>
        <p:nvSpPr>
          <p:cNvPr id="17" name="Rounded Rectangle 16"/>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749808"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0" name="body-12"/>
          <p:cNvSpPr txBox="1"/>
          <p:nvPr/>
        </p:nvSpPr>
        <p:spPr>
          <a:xfrm>
            <a:off x="749808"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CourseworkResults.tsx</a:t>
            </a:r>
          </a:p>
        </p:txBody>
      </p:sp>
      <p:sp>
        <p:nvSpPr>
          <p:cNvPr id="21" name="body-13"/>
          <p:cNvSpPr txBox="1"/>
          <p:nvPr/>
        </p:nvSpPr>
        <p:spPr>
          <a:xfrm>
            <a:off x="749808"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Token tables, grammar tables and parse traces.</a:t>
            </a:r>
          </a:p>
        </p:txBody>
      </p:sp>
      <p:sp>
        <p:nvSpPr>
          <p:cNvPr id="22" name="Rounded Rectangle 21"/>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6409944"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25" name="body-15"/>
          <p:cNvSpPr txBox="1"/>
          <p:nvPr/>
        </p:nvSpPr>
        <p:spPr>
          <a:xfrm>
            <a:off x="6409944"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analyzer_history.py</a:t>
            </a:r>
          </a:p>
        </p:txBody>
      </p:sp>
      <p:sp>
        <p:nvSpPr>
          <p:cNvPr id="26" name="body-16"/>
          <p:cNvSpPr txBox="1"/>
          <p:nvPr/>
        </p:nvSpPr>
        <p:spPr>
          <a:xfrm>
            <a:off x="6409944"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Aggregate saved snapshots and page</a:t>
            </a:r>
          </a:p>
          <a:p>
            <a:pPr algn="l">
              <a:lnSpc>
                <a:spcPts val="2088"/>
              </a:lnSpc>
              <a:spcBef>
                <a:spcPts val="0"/>
              </a:spcBef>
              <a:spcAft>
                <a:spcPts val="0"/>
              </a:spcAft>
              <a:defRPr sz="1800" b="0">
                <a:solidFill>
                  <a:srgbClr val="587080"/>
                </a:solidFill>
                <a:latin typeface="Arial"/>
              </a:defRPr>
            </a:pPr>
            <a:r>
              <a:t>summaries.</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8">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frontend/src/Analysis.tsx</a:t>
            </a:r>
          </a:p>
        </p:txBody>
      </p:sp>
      <p:sp>
        <p:nvSpPr>
          <p:cNvPr id="30" name="source-19">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frontend/src/TestStatistics.tsx</a:t>
            </a:r>
          </a:p>
        </p:txBody>
      </p:sp>
      <p:sp>
        <p:nvSpPr>
          <p:cNvPr id="31" name="source-20">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frontend/src/CourseworkResults.tsx</a:t>
            </a:r>
          </a:p>
        </p:txBody>
      </p:sp>
      <p:sp>
        <p:nvSpPr>
          <p:cNvPr id="32" name="source-21">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3"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4"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030 / 100</a:t>
            </a:r>
          </a:p>
        </p:txBody>
      </p:sp>
      <p:sp>
        <p:nvSpPr>
          <p:cNvPr id="35" name="Rectangle 3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0" y="6821424"/>
            <a:ext cx="36575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Collection preserves supplied evidence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read-only browser for statements, annotations and context.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Browse</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Read the existing records.</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Inspect</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Open meanings, notes and</a:t>
            </a:r>
          </a:p>
          <a:p>
            <a:pPr algn="l">
              <a:lnSpc>
                <a:spcPts val="2088"/>
              </a:lnSpc>
              <a:spcBef>
                <a:spcPts val="0"/>
              </a:spcBef>
              <a:spcAft>
                <a:spcPts val="0"/>
              </a:spcAft>
              <a:defRPr sz="1800" b="0">
                <a:solidFill>
                  <a:srgbClr val="587080"/>
                </a:solidFill>
                <a:latin typeface="Arial"/>
              </a:defRPr>
            </a:pPr>
            <a:r>
              <a:t>available audio.</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Reuse carefully</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Copy a record into an</a:t>
            </a:r>
          </a:p>
          <a:p>
            <a:pPr algn="l">
              <a:lnSpc>
                <a:spcPts val="2088"/>
              </a:lnSpc>
              <a:spcBef>
                <a:spcPts val="0"/>
              </a:spcBef>
              <a:spcAft>
                <a:spcPts val="0"/>
              </a:spcAft>
              <a:defRPr sz="1800" b="0">
                <a:solidFill>
                  <a:srgbClr val="587080"/>
                </a:solidFill>
                <a:latin typeface="Arial"/>
              </a:defRPr>
            </a:pPr>
            <a:r>
              <a:t>analyzer draft.</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collection-desktop.png"/>
          <p:cNvPicPr>
            <a:picLocks noChangeAspect="1"/>
          </p:cNvPicPr>
          <p:nvPr/>
        </p:nvPicPr>
        <p:blipFill>
          <a:blip r:embed="rId2"/>
          <a:stretch>
            <a:fillRect/>
          </a:stretch>
        </p:blipFill>
        <p:spPr>
          <a:xfrm>
            <a:off x="5253228" y="2322576"/>
            <a:ext cx="5020056"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backend/collection.py</a:t>
            </a:r>
          </a:p>
        </p:txBody>
      </p:sp>
      <p:sp>
        <p:nvSpPr>
          <p:cNvPr id="29"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031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37795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What one Collection record means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Keep content, interpretation and provenance separate.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5"/>
          <p:cNvSpPr txBox="1"/>
          <p:nvPr/>
        </p:nvSpPr>
        <p:spPr>
          <a:xfrm>
            <a:off x="777240"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RAW EXPRESSION</a:t>
            </a:r>
          </a:p>
        </p:txBody>
      </p:sp>
      <p:sp>
        <p:nvSpPr>
          <p:cNvPr id="10" name="body-6"/>
          <p:cNvSpPr txBox="1"/>
          <p:nvPr/>
        </p:nvSpPr>
        <p:spPr>
          <a:xfrm>
            <a:off x="777240"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The saved statement or word.</a:t>
            </a:r>
          </a:p>
        </p:txBody>
      </p:sp>
      <p:sp>
        <p:nvSpPr>
          <p:cNvPr id="11" name="Rounded Rectangle 10"/>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6437375"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SUPPLIED GLOSSES</a:t>
            </a:r>
          </a:p>
        </p:txBody>
      </p:sp>
      <p:sp>
        <p:nvSpPr>
          <p:cNvPr id="14" name="body-8"/>
          <p:cNvSpPr txBox="1"/>
          <p:nvPr/>
        </p:nvSpPr>
        <p:spPr>
          <a:xfrm>
            <a:off x="6437375"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Meanings provided with the record.</a:t>
            </a:r>
          </a:p>
        </p:txBody>
      </p:sp>
      <p:sp>
        <p:nvSpPr>
          <p:cNvPr id="15" name="Rounded Rectangle 14"/>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9"/>
          <p:cNvSpPr txBox="1"/>
          <p:nvPr/>
        </p:nvSpPr>
        <p:spPr>
          <a:xfrm>
            <a:off x="777240"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CONTEXT</a:t>
            </a:r>
          </a:p>
        </p:txBody>
      </p:sp>
      <p:sp>
        <p:nvSpPr>
          <p:cNvPr id="18" name="body-10"/>
          <p:cNvSpPr txBox="1"/>
          <p:nvPr/>
        </p:nvSpPr>
        <p:spPr>
          <a:xfrm>
            <a:off x="777240"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Location, review state and notes where</a:t>
            </a:r>
          </a:p>
          <a:p>
            <a:pPr algn="l">
              <a:lnSpc>
                <a:spcPts val="2320"/>
              </a:lnSpc>
              <a:spcBef>
                <a:spcPts val="0"/>
              </a:spcBef>
              <a:spcAft>
                <a:spcPts val="0"/>
              </a:spcAft>
              <a:defRPr sz="2000" b="0">
                <a:solidFill>
                  <a:srgbClr val="587080"/>
                </a:solidFill>
                <a:latin typeface="Arial"/>
              </a:defRPr>
            </a:pPr>
            <a:r>
              <a:t>present.</a:t>
            </a:r>
          </a:p>
        </p:txBody>
      </p:sp>
      <p:sp>
        <p:nvSpPr>
          <p:cNvPr id="19" name="Rounded Rectangle 18"/>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1"/>
          <p:cNvSpPr txBox="1"/>
          <p:nvPr/>
        </p:nvSpPr>
        <p:spPr>
          <a:xfrm>
            <a:off x="6437375"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EXISTING AUDIO</a:t>
            </a:r>
          </a:p>
        </p:txBody>
      </p:sp>
      <p:sp>
        <p:nvSpPr>
          <p:cNvPr id="22" name="body-12"/>
          <p:cNvSpPr txBox="1"/>
          <p:nvPr/>
        </p:nvSpPr>
        <p:spPr>
          <a:xfrm>
            <a:off x="6437375"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Playback or download when a stored file is</a:t>
            </a:r>
          </a:p>
          <a:p>
            <a:pPr algn="l">
              <a:lnSpc>
                <a:spcPts val="2320"/>
              </a:lnSpc>
              <a:spcBef>
                <a:spcPts val="0"/>
              </a:spcBef>
              <a:spcAft>
                <a:spcPts val="0"/>
              </a:spcAft>
              <a:defRPr sz="2000" b="0">
                <a:solidFill>
                  <a:srgbClr val="587080"/>
                </a:solidFill>
                <a:latin typeface="Arial"/>
              </a:defRPr>
            </a:pPr>
            <a:r>
              <a:t>available.</a:t>
            </a:r>
          </a:p>
        </p:txBody>
      </p:sp>
      <p:cxnSp>
        <p:nvCxnSpPr>
          <p:cNvPr id="23" name="Connector 2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5"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26"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backend/schemas.py</a:t>
            </a:r>
          </a:p>
        </p:txBody>
      </p:sp>
      <p:sp>
        <p:nvSpPr>
          <p:cNvPr id="27"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backend/audio_api.py</a:t>
            </a:r>
          </a:p>
        </p:txBody>
      </p:sp>
      <p:sp>
        <p:nvSpPr>
          <p:cNvPr id="28"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9"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032 / 100</a:t>
            </a:r>
          </a:p>
        </p:txBody>
      </p:sp>
      <p:sp>
        <p:nvSpPr>
          <p:cNvPr id="30" name="Rectangle 2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0" y="6821424"/>
            <a:ext cx="39014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Search and filter without rewriting</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Read-side tools help visitors find relevant records.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Search and filters</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Filter language, review,</a:t>
            </a:r>
          </a:p>
          <a:p>
            <a:pPr algn="l">
              <a:lnSpc>
                <a:spcPts val="2088"/>
              </a:lnSpc>
              <a:spcBef>
                <a:spcPts val="0"/>
              </a:spcBef>
              <a:spcAft>
                <a:spcPts val="0"/>
              </a:spcAft>
              <a:defRPr sz="1800" b="0">
                <a:solidFill>
                  <a:srgbClr val="587080"/>
                </a:solidFill>
                <a:latin typeface="Arial"/>
              </a:defRPr>
            </a:pPr>
            <a:r>
              <a:t>category and type.</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JSON export</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Download the filtered public</a:t>
            </a:r>
          </a:p>
          <a:p>
            <a:pPr algn="l">
              <a:lnSpc>
                <a:spcPts val="2088"/>
              </a:lnSpc>
              <a:spcBef>
                <a:spcPts val="0"/>
              </a:spcBef>
              <a:spcAft>
                <a:spcPts val="0"/>
              </a:spcAft>
              <a:defRPr sz="1800" b="0">
                <a:solidFill>
                  <a:srgbClr val="587080"/>
                </a:solidFill>
                <a:latin typeface="Arial"/>
              </a:defRPr>
            </a:pPr>
            <a:r>
              <a:t>result set.</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No mutation</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Searching or exporting</a:t>
            </a:r>
          </a:p>
          <a:p>
            <a:pPr algn="l">
              <a:lnSpc>
                <a:spcPts val="2088"/>
              </a:lnSpc>
              <a:spcBef>
                <a:spcPts val="0"/>
              </a:spcBef>
              <a:spcAft>
                <a:spcPts val="0"/>
              </a:spcAft>
              <a:defRPr sz="1800" b="0">
                <a:solidFill>
                  <a:srgbClr val="587080"/>
                </a:solidFill>
                <a:latin typeface="Arial"/>
              </a:defRPr>
            </a:pPr>
            <a:r>
              <a:t>does not change a record.</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collection-filters.png"/>
          <p:cNvPicPr>
            <a:picLocks noChangeAspect="1"/>
          </p:cNvPicPr>
          <p:nvPr/>
        </p:nvPicPr>
        <p:blipFill>
          <a:blip r:embed="rId2"/>
          <a:stretch>
            <a:fillRect/>
          </a:stretch>
        </p:blipFill>
        <p:spPr>
          <a:xfrm>
            <a:off x="3941063" y="3040380"/>
            <a:ext cx="7644384" cy="1911096"/>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backend/collection.py</a:t>
            </a:r>
          </a:p>
        </p:txBody>
      </p:sp>
      <p:sp>
        <p:nvSpPr>
          <p:cNvPr id="29"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033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40233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Twelve statements; provenance still qualified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Software can measure the corpus without certifying its origin.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95528"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12</a:t>
            </a:r>
          </a:p>
        </p:txBody>
      </p:sp>
      <p:sp>
        <p:nvSpPr>
          <p:cNvPr id="9" name="body-6"/>
          <p:cNvSpPr txBox="1"/>
          <p:nvPr/>
        </p:nvSpPr>
        <p:spPr>
          <a:xfrm>
            <a:off x="804672"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Exact supplied statements</a:t>
            </a:r>
          </a:p>
        </p:txBody>
      </p:sp>
      <p:sp>
        <p:nvSpPr>
          <p:cNvPr id="10" name="Rounded Rectangle 9"/>
          <p:cNvSpPr/>
          <p:nvPr/>
        </p:nvSpPr>
        <p:spPr>
          <a:xfrm>
            <a:off x="6208776"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6455664"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81</a:t>
            </a:r>
          </a:p>
        </p:txBody>
      </p:sp>
      <p:sp>
        <p:nvSpPr>
          <p:cNvPr id="12" name="body-8"/>
          <p:cNvSpPr txBox="1"/>
          <p:nvPr/>
        </p:nvSpPr>
        <p:spPr>
          <a:xfrm>
            <a:off x="6464808"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Token occurrences</a:t>
            </a:r>
          </a:p>
        </p:txBody>
      </p:sp>
      <p:sp>
        <p:nvSpPr>
          <p:cNvPr id="13" name="Rounded Rectangle 12"/>
          <p:cNvSpPr/>
          <p:nvPr/>
        </p:nvSpPr>
        <p:spPr>
          <a:xfrm>
            <a:off x="548640"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95528"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55</a:t>
            </a:r>
          </a:p>
        </p:txBody>
      </p:sp>
      <p:sp>
        <p:nvSpPr>
          <p:cNvPr id="15" name="body-10"/>
          <p:cNvSpPr txBox="1"/>
          <p:nvPr/>
        </p:nvSpPr>
        <p:spPr>
          <a:xfrm>
            <a:off x="804672"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Case-folded forms</a:t>
            </a:r>
          </a:p>
        </p:txBody>
      </p:sp>
      <p:sp>
        <p:nvSpPr>
          <p:cNvPr id="16" name="Rounded Rectangle 15"/>
          <p:cNvSpPr/>
          <p:nvPr/>
        </p:nvSpPr>
        <p:spPr>
          <a:xfrm>
            <a:off x="6208776"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6455664"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UNCONFIRMED</a:t>
            </a:r>
          </a:p>
        </p:txBody>
      </p:sp>
      <p:sp>
        <p:nvSpPr>
          <p:cNvPr id="18" name="body-12"/>
          <p:cNvSpPr txBox="1"/>
          <p:nvPr/>
        </p:nvSpPr>
        <p:spPr>
          <a:xfrm>
            <a:off x="6464808"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Original fieldwork provenance</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docs/evidence/final-corpus-20260927.json</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034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41452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Dictionary is a reference library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Search vocabulary, supplied labels and source meanings.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938 entries</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Distinct reference entries,</a:t>
            </a:r>
          </a:p>
          <a:p>
            <a:pPr algn="l">
              <a:lnSpc>
                <a:spcPts val="2088"/>
              </a:lnSpc>
              <a:spcBef>
                <a:spcPts val="0"/>
              </a:spcBef>
              <a:spcAft>
                <a:spcPts val="0"/>
              </a:spcAft>
              <a:defRPr sz="1800" b="0">
                <a:solidFill>
                  <a:srgbClr val="587080"/>
                </a:solidFill>
                <a:latin typeface="Arial"/>
              </a:defRPr>
            </a:pPr>
            <a:r>
              <a:t>including retained senses.</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Source-labelled</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See where a meaning or</a:t>
            </a:r>
          </a:p>
          <a:p>
            <a:pPr algn="l">
              <a:lnSpc>
                <a:spcPts val="2088"/>
              </a:lnSpc>
              <a:spcBef>
                <a:spcPts val="0"/>
              </a:spcBef>
              <a:spcAft>
                <a:spcPts val="0"/>
              </a:spcAft>
              <a:defRPr sz="1800" b="0">
                <a:solidFill>
                  <a:srgbClr val="587080"/>
                </a:solidFill>
                <a:latin typeface="Arial"/>
              </a:defRPr>
            </a:pPr>
            <a:r>
              <a:t>category came from.</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Not fieldwork</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 entries never</a:t>
            </a:r>
          </a:p>
          <a:p>
            <a:pPr algn="l">
              <a:lnSpc>
                <a:spcPts val="2088"/>
              </a:lnSpc>
              <a:spcBef>
                <a:spcPts val="0"/>
              </a:spcBef>
              <a:spcAft>
                <a:spcPts val="0"/>
              </a:spcAft>
              <a:defRPr sz="1800" b="0">
                <a:solidFill>
                  <a:srgbClr val="587080"/>
                </a:solidFill>
                <a:latin typeface="Arial"/>
              </a:defRPr>
            </a:pPr>
            <a:r>
              <a:t>increase research counts.</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dictionary-desktop.png"/>
          <p:cNvPicPr>
            <a:picLocks noChangeAspect="1"/>
          </p:cNvPicPr>
          <p:nvPr/>
        </p:nvPicPr>
        <p:blipFill>
          <a:blip r:embed="rId2"/>
          <a:stretch>
            <a:fillRect/>
          </a:stretch>
        </p:blipFill>
        <p:spPr>
          <a:xfrm>
            <a:off x="5253228" y="2322576"/>
            <a:ext cx="5020056"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frontend/src/Dictionary.tsx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backend/dictionary.py</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dictionary/full_lexicon_classified.csv</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035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42671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Search kass and inspect its source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concrete lookup connects the interface to the reference data.</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Meaning</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tired; exhausted; worn out</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Supplied category</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adjective</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Traceable source</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full_lexicon_classified.csv,</a:t>
            </a:r>
          </a:p>
          <a:p>
            <a:pPr algn="l">
              <a:lnSpc>
                <a:spcPts val="2088"/>
              </a:lnSpc>
              <a:spcBef>
                <a:spcPts val="0"/>
              </a:spcBef>
              <a:spcAft>
                <a:spcPts val="0"/>
              </a:spcAft>
              <a:defRPr sz="1800" b="0">
                <a:solidFill>
                  <a:srgbClr val="587080"/>
                </a:solidFill>
                <a:latin typeface="Arial"/>
              </a:defRPr>
            </a:pPr>
            <a:r>
              <a:t>line 134</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dictionary-kass.png"/>
          <p:cNvPicPr>
            <a:picLocks noChangeAspect="1"/>
          </p:cNvPicPr>
          <p:nvPr/>
        </p:nvPicPr>
        <p:blipFill>
          <a:blip r:embed="rId2"/>
          <a:stretch>
            <a:fillRect/>
          </a:stretch>
        </p:blipFill>
        <p:spPr>
          <a:xfrm>
            <a:off x="3941063" y="2562606"/>
            <a:ext cx="7644384" cy="286664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frontend/src/Dictionary.tsx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backend/dictionary.py</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dictionary/full_lexicon_classified.csv</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036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43891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Reference lookup does not overrule everything</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classifier uses a defined priority order.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STRUCTURE</a:t>
            </a:r>
          </a:p>
        </p:txBody>
      </p:sp>
      <p:sp>
        <p:nvSpPr>
          <p:cNvPr id="10" name="body-7"/>
          <p:cNvSpPr txBox="1"/>
          <p:nvPr/>
        </p:nvSpPr>
        <p:spPr>
          <a:xfrm>
            <a:off x="731520"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Numbers and</a:t>
            </a:r>
          </a:p>
          <a:p>
            <a:pPr algn="l">
              <a:lnSpc>
                <a:spcPts val="2088"/>
              </a:lnSpc>
              <a:spcBef>
                <a:spcPts val="0"/>
              </a:spcBef>
              <a:spcAft>
                <a:spcPts val="0"/>
              </a:spcAft>
              <a:defRPr sz="1800" b="0">
                <a:solidFill>
                  <a:srgbClr val="587080"/>
                </a:solidFill>
                <a:latin typeface="Arial"/>
              </a:defRPr>
            </a:pPr>
            <a:r>
              <a:t>punctuation</a:t>
            </a:r>
          </a:p>
        </p:txBody>
      </p:sp>
      <p:sp>
        <p:nvSpPr>
          <p:cNvPr id="11" name="Chevron 10"/>
          <p:cNvSpPr/>
          <p:nvPr/>
        </p:nvSpPr>
        <p:spPr>
          <a:xfrm>
            <a:off x="262158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82732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01020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01020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REVIEWED</a:t>
            </a:r>
          </a:p>
        </p:txBody>
      </p:sp>
      <p:sp>
        <p:nvSpPr>
          <p:cNvPr id="15" name="body-10"/>
          <p:cNvSpPr txBox="1"/>
          <p:nvPr/>
        </p:nvSpPr>
        <p:spPr>
          <a:xfrm>
            <a:off x="3010204"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Compatible</a:t>
            </a:r>
          </a:p>
          <a:p>
            <a:pPr algn="l">
              <a:lnSpc>
                <a:spcPts val="1972"/>
              </a:lnSpc>
              <a:spcBef>
                <a:spcPts val="0"/>
              </a:spcBef>
              <a:spcAft>
                <a:spcPts val="0"/>
              </a:spcAft>
              <a:defRPr sz="1700" b="0">
                <a:solidFill>
                  <a:srgbClr val="587080"/>
                </a:solidFill>
                <a:latin typeface="Arial"/>
              </a:defRPr>
            </a:pPr>
            <a:r>
              <a:t>approved word</a:t>
            </a:r>
          </a:p>
          <a:p>
            <a:pPr algn="l">
              <a:lnSpc>
                <a:spcPts val="1972"/>
              </a:lnSpc>
              <a:spcBef>
                <a:spcPts val="0"/>
              </a:spcBef>
              <a:spcAft>
                <a:spcPts val="0"/>
              </a:spcAft>
              <a:defRPr sz="1700" b="0">
                <a:solidFill>
                  <a:srgbClr val="587080"/>
                </a:solidFill>
                <a:latin typeface="Arial"/>
              </a:defRPr>
            </a:pPr>
            <a:r>
              <a:t>labels</a:t>
            </a:r>
          </a:p>
        </p:txBody>
      </p:sp>
      <p:sp>
        <p:nvSpPr>
          <p:cNvPr id="16" name="Chevron 15"/>
          <p:cNvSpPr/>
          <p:nvPr/>
        </p:nvSpPr>
        <p:spPr>
          <a:xfrm>
            <a:off x="490026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510600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528888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528888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BUNDLED</a:t>
            </a:r>
          </a:p>
        </p:txBody>
      </p:sp>
      <p:sp>
        <p:nvSpPr>
          <p:cNvPr id="20" name="body-13"/>
          <p:cNvSpPr txBox="1"/>
          <p:nvPr/>
        </p:nvSpPr>
        <p:spPr>
          <a:xfrm>
            <a:off x="5288889"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Explicit lexical</a:t>
            </a:r>
          </a:p>
          <a:p>
            <a:pPr algn="l">
              <a:lnSpc>
                <a:spcPts val="2088"/>
              </a:lnSpc>
              <a:spcBef>
                <a:spcPts val="0"/>
              </a:spcBef>
              <a:spcAft>
                <a:spcPts val="0"/>
              </a:spcAft>
              <a:defRPr sz="1800" b="0">
                <a:solidFill>
                  <a:srgbClr val="587080"/>
                </a:solidFill>
                <a:latin typeface="Arial"/>
              </a:defRPr>
            </a:pPr>
            <a:r>
              <a:t>lists</a:t>
            </a:r>
          </a:p>
        </p:txBody>
      </p:sp>
      <p:sp>
        <p:nvSpPr>
          <p:cNvPr id="21" name="Chevron 20"/>
          <p:cNvSpPr/>
          <p:nvPr/>
        </p:nvSpPr>
        <p:spPr>
          <a:xfrm>
            <a:off x="717895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38469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756757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756757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SUPPLIED</a:t>
            </a:r>
          </a:p>
        </p:txBody>
      </p:sp>
      <p:sp>
        <p:nvSpPr>
          <p:cNvPr id="25" name="body-16"/>
          <p:cNvSpPr txBox="1"/>
          <p:nvPr/>
        </p:nvSpPr>
        <p:spPr>
          <a:xfrm>
            <a:off x="7567574"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a:t>
            </a:r>
          </a:p>
          <a:p>
            <a:pPr algn="l">
              <a:lnSpc>
                <a:spcPts val="2088"/>
              </a:lnSpc>
              <a:spcBef>
                <a:spcPts val="0"/>
              </a:spcBef>
              <a:spcAft>
                <a:spcPts val="0"/>
              </a:spcAft>
              <a:defRPr sz="1800" b="0">
                <a:solidFill>
                  <a:srgbClr val="587080"/>
                </a:solidFill>
                <a:latin typeface="Arial"/>
              </a:defRPr>
            </a:pPr>
            <a:r>
              <a:t>categories</a:t>
            </a:r>
          </a:p>
        </p:txBody>
      </p:sp>
      <p:sp>
        <p:nvSpPr>
          <p:cNvPr id="26" name="Chevron 25"/>
          <p:cNvSpPr/>
          <p:nvPr/>
        </p:nvSpPr>
        <p:spPr>
          <a:xfrm>
            <a:off x="945763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966337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17"/>
          <p:cNvSpPr txBox="1"/>
          <p:nvPr/>
        </p:nvSpPr>
        <p:spPr>
          <a:xfrm>
            <a:off x="984625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05</a:t>
            </a:r>
          </a:p>
        </p:txBody>
      </p:sp>
      <p:sp>
        <p:nvSpPr>
          <p:cNvPr id="29" name="body-18"/>
          <p:cNvSpPr txBox="1"/>
          <p:nvPr/>
        </p:nvSpPr>
        <p:spPr>
          <a:xfrm>
            <a:off x="984625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FALLBACK</a:t>
            </a:r>
          </a:p>
        </p:txBody>
      </p:sp>
      <p:sp>
        <p:nvSpPr>
          <p:cNvPr id="30" name="body-19"/>
          <p:cNvSpPr txBox="1"/>
          <p:nvPr/>
        </p:nvSpPr>
        <p:spPr>
          <a:xfrm>
            <a:off x="9846259"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French forms,</a:t>
            </a:r>
          </a:p>
          <a:p>
            <a:pPr algn="l">
              <a:lnSpc>
                <a:spcPts val="1972"/>
              </a:lnSpc>
              <a:spcBef>
                <a:spcPts val="0"/>
              </a:spcBef>
              <a:spcAft>
                <a:spcPts val="0"/>
              </a:spcAft>
              <a:defRPr sz="1700" b="0">
                <a:solidFill>
                  <a:srgbClr val="587080"/>
                </a:solidFill>
                <a:latin typeface="Arial"/>
              </a:defRPr>
            </a:pPr>
            <a:r>
              <a:t>morphology,</a:t>
            </a:r>
          </a:p>
          <a:p>
            <a:pPr algn="l">
              <a:lnSpc>
                <a:spcPts val="1972"/>
              </a:lnSpc>
              <a:spcBef>
                <a:spcPts val="0"/>
              </a:spcBef>
              <a:spcAft>
                <a:spcPts val="0"/>
              </a:spcAft>
              <a:defRPr sz="1700" b="0">
                <a:solidFill>
                  <a:srgbClr val="587080"/>
                </a:solidFill>
                <a:latin typeface="Arial"/>
              </a:defRPr>
            </a:pPr>
            <a:r>
              <a:t>UNKNOWN</a:t>
            </a:r>
          </a:p>
        </p:txBody>
      </p:sp>
      <p:sp>
        <p:nvSpPr>
          <p:cNvPr id="31" name="caption-20"/>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5"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compiler/lexer/reference.py</a:t>
            </a:r>
          </a:p>
        </p:txBody>
      </p:sp>
      <p:sp>
        <p:nvSpPr>
          <p:cNvPr id="36"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compiler/lexer/learned.py</a:t>
            </a:r>
          </a:p>
        </p:txBody>
      </p:sp>
      <p:sp>
        <p:nvSpPr>
          <p:cNvPr id="37"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8"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037 / 100</a:t>
            </a:r>
          </a:p>
        </p:txBody>
      </p:sp>
      <p:sp>
        <p:nvSpPr>
          <p:cNvPr id="39" name="Rectangle 38"/>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0" y="6821424"/>
            <a:ext cx="45110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Synthetic means constructed, not collected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Practice examples are useful precisely because they are labelled honestly.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26 examples</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 separate practice library.</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Search and browse</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Inspect topics, meanings</a:t>
            </a:r>
          </a:p>
          <a:p>
            <a:pPr algn="l">
              <a:lnSpc>
                <a:spcPts val="2088"/>
              </a:lnSpc>
              <a:spcBef>
                <a:spcPts val="0"/>
              </a:spcBef>
              <a:spcAft>
                <a:spcPts val="0"/>
              </a:spcAft>
              <a:defRPr sz="1800" b="0">
                <a:solidFill>
                  <a:srgbClr val="587080"/>
                </a:solidFill>
                <a:latin typeface="Arial"/>
              </a:defRPr>
            </a:pPr>
            <a:r>
              <a:t>and source labels.</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Draft handoff</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Try a chosen example</a:t>
            </a:r>
          </a:p>
          <a:p>
            <a:pPr algn="l">
              <a:lnSpc>
                <a:spcPts val="2088"/>
              </a:lnSpc>
              <a:spcBef>
                <a:spcPts val="0"/>
              </a:spcBef>
              <a:spcAft>
                <a:spcPts val="0"/>
              </a:spcAft>
              <a:defRPr sz="1800" b="0">
                <a:solidFill>
                  <a:srgbClr val="587080"/>
                </a:solidFill>
                <a:latin typeface="Arial"/>
              </a:defRPr>
            </a:pPr>
            <a:r>
              <a:t>without altering Collection.</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examples-desktop.png"/>
          <p:cNvPicPr>
            <a:picLocks noChangeAspect="1"/>
          </p:cNvPicPr>
          <p:nvPr/>
        </p:nvPicPr>
        <p:blipFill>
          <a:blip r:embed="rId2"/>
          <a:stretch>
            <a:fillRect/>
          </a:stretch>
        </p:blipFill>
        <p:spPr>
          <a:xfrm>
            <a:off x="5253228" y="2322576"/>
            <a:ext cx="5020056"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frontend/src/Examples.tsx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backend/examples.py</a:t>
            </a:r>
          </a:p>
        </p:txBody>
      </p:sp>
      <p:sp>
        <p:nvSpPr>
          <p:cNvPr id="29"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038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46329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Read-aloud reuses an existing recording</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There is no generated speech in the public workflow.</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REQUEST</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Choose read-aloud</a:t>
            </a:r>
          </a:p>
          <a:p>
            <a:pPr algn="l">
              <a:lnSpc>
                <a:spcPts val="2088"/>
              </a:lnSpc>
              <a:spcBef>
                <a:spcPts val="0"/>
              </a:spcBef>
              <a:spcAft>
                <a:spcPts val="0"/>
              </a:spcAft>
              <a:defRPr sz="1800" b="0">
                <a:solidFill>
                  <a:srgbClr val="587080"/>
                </a:solidFill>
                <a:latin typeface="Arial"/>
              </a:defRPr>
            </a:pPr>
            <a:r>
              <a:t>for a text</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LOOK UP</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Find a compatible</a:t>
            </a:r>
          </a:p>
          <a:p>
            <a:pPr algn="l">
              <a:lnSpc>
                <a:spcPts val="2088"/>
              </a:lnSpc>
              <a:spcBef>
                <a:spcPts val="0"/>
              </a:spcBef>
              <a:spcAft>
                <a:spcPts val="0"/>
              </a:spcAft>
              <a:defRPr sz="1800" b="0">
                <a:solidFill>
                  <a:srgbClr val="587080"/>
                </a:solidFill>
                <a:latin typeface="Arial"/>
              </a:defRPr>
            </a:pPr>
            <a:r>
              <a:t>recorded reading</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MATCH</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Return its stored</a:t>
            </a:r>
          </a:p>
          <a:p>
            <a:pPr algn="l">
              <a:lnSpc>
                <a:spcPts val="2088"/>
              </a:lnSpc>
              <a:spcBef>
                <a:spcPts val="0"/>
              </a:spcBef>
              <a:spcAft>
                <a:spcPts val="0"/>
              </a:spcAft>
              <a:defRPr sz="1800" b="0">
                <a:solidFill>
                  <a:srgbClr val="587080"/>
                </a:solidFill>
                <a:latin typeface="Arial"/>
              </a:defRPr>
            </a:pPr>
            <a:r>
              <a:t>audio reference</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PLAY</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Stream existing bytes</a:t>
            </a:r>
          </a:p>
          <a:p>
            <a:pPr algn="l">
              <a:lnSpc>
                <a:spcPts val="2088"/>
              </a:lnSpc>
              <a:spcBef>
                <a:spcPts val="0"/>
              </a:spcBef>
              <a:spcAft>
                <a:spcPts val="0"/>
              </a:spcAft>
              <a:defRPr sz="1800" b="0">
                <a:solidFill>
                  <a:srgbClr val="587080"/>
                </a:solidFill>
                <a:latin typeface="Arial"/>
              </a:defRPr>
            </a:pPr>
            <a:r>
              <a:t>in the browser</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frontend/src/RecordedReadings.tsx</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frontend/src/voice.ts</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backend/readings_api.py</a:t>
            </a:r>
          </a:p>
        </p:txBody>
      </p:sp>
      <p:sp>
        <p:nvSpPr>
          <p:cNvPr id="32"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3"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039 / 100</a:t>
            </a:r>
          </a:p>
        </p:txBody>
      </p:sp>
      <p:sp>
        <p:nvSpPr>
          <p:cNvPr id="34" name="Rectangle 3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0" y="6821424"/>
            <a:ext cx="47548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04 / REFERENCE LIBRARIES</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Library features: source ownership</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Three libraries share patterns, not the same evidence role.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Collection.tsx</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Collection browser and record</a:t>
            </a:r>
          </a:p>
          <a:p>
            <a:pPr algn="l">
              <a:lnSpc>
                <a:spcPts val="2088"/>
              </a:lnSpc>
              <a:spcBef>
                <a:spcPts val="0"/>
              </a:spcBef>
              <a:spcAft>
                <a:spcPts val="0"/>
              </a:spcAft>
              <a:defRPr sz="1800" b="0">
                <a:solidFill>
                  <a:srgbClr val="587080"/>
                </a:solidFill>
                <a:latin typeface="Arial"/>
              </a:defRPr>
            </a:pPr>
            <a:r>
              <a:t>viewer.</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Dictionary.tsx</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 vocabulary</a:t>
            </a:r>
          </a:p>
          <a:p>
            <a:pPr algn="l">
              <a:lnSpc>
                <a:spcPts val="2088"/>
              </a:lnSpc>
              <a:spcBef>
                <a:spcPts val="0"/>
              </a:spcBef>
              <a:spcAft>
                <a:spcPts val="0"/>
              </a:spcAft>
              <a:defRPr sz="1800" b="0">
                <a:solidFill>
                  <a:srgbClr val="587080"/>
                </a:solidFill>
                <a:latin typeface="Arial"/>
              </a:defRPr>
            </a:pPr>
            <a:r>
              <a:t>interface.</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Examples.tsx</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Constructed practice interface.</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useReferenceSearch.ts</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Debounced reference search</a:t>
            </a:r>
          </a:p>
          <a:p>
            <a:pPr algn="l">
              <a:lnSpc>
                <a:spcPts val="2088"/>
              </a:lnSpc>
              <a:spcBef>
                <a:spcPts val="0"/>
              </a:spcBef>
              <a:spcAft>
                <a:spcPts val="0"/>
              </a:spcAft>
              <a:defRPr sz="1800" b="0">
                <a:solidFill>
                  <a:srgbClr val="587080"/>
                </a:solidFill>
                <a:latin typeface="Arial"/>
              </a:defRPr>
            </a:pPr>
            <a:r>
              <a:t>and paging.</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dictionary.py</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 assembly and</a:t>
            </a:r>
          </a:p>
          <a:p>
            <a:pPr algn="l">
              <a:lnSpc>
                <a:spcPts val="2088"/>
              </a:lnSpc>
              <a:spcBef>
                <a:spcPts val="0"/>
              </a:spcBef>
              <a:spcAft>
                <a:spcPts val="0"/>
              </a:spcAft>
              <a:defRPr sz="1800" b="0">
                <a:solidFill>
                  <a:srgbClr val="587080"/>
                </a:solidFill>
                <a:latin typeface="Arial"/>
              </a:defRPr>
            </a:pPr>
            <a:r>
              <a:t>lookup.</a:t>
            </a:r>
          </a:p>
        </p:txBody>
      </p:sp>
      <p:sp>
        <p:nvSpPr>
          <p:cNvPr id="32" name="Rounded Rectangle 31"/>
          <p:cNvSpPr/>
          <p:nvPr/>
        </p:nvSpPr>
        <p:spPr>
          <a:xfrm>
            <a:off x="8086344"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8086344"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aption-20"/>
          <p:cNvSpPr txBox="1"/>
          <p:nvPr/>
        </p:nvSpPr>
        <p:spPr>
          <a:xfrm>
            <a:off x="8296656"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5" name="body-21"/>
          <p:cNvSpPr txBox="1"/>
          <p:nvPr/>
        </p:nvSpPr>
        <p:spPr>
          <a:xfrm>
            <a:off x="8296656"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examples.py</a:t>
            </a:r>
          </a:p>
        </p:txBody>
      </p:sp>
      <p:sp>
        <p:nvSpPr>
          <p:cNvPr id="36" name="body-22"/>
          <p:cNvSpPr txBox="1"/>
          <p:nvPr/>
        </p:nvSpPr>
        <p:spPr>
          <a:xfrm>
            <a:off x="8296656"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Constructed example loading</a:t>
            </a:r>
          </a:p>
          <a:p>
            <a:pPr algn="l">
              <a:lnSpc>
                <a:spcPts val="2088"/>
              </a:lnSpc>
              <a:spcBef>
                <a:spcPts val="0"/>
              </a:spcBef>
              <a:spcAft>
                <a:spcPts val="0"/>
              </a:spcAft>
              <a:defRPr sz="1800" b="0">
                <a:solidFill>
                  <a:srgbClr val="587080"/>
                </a:solidFill>
                <a:latin typeface="Arial"/>
              </a:defRPr>
            </a:pPr>
            <a:r>
              <a:t>and lookup.</a:t>
            </a:r>
          </a:p>
        </p:txBody>
      </p:sp>
      <p:cxnSp>
        <p:nvCxnSpPr>
          <p:cNvPr id="37" name="Connector 3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footer-2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9" name="source-2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40" name="source-2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frontend/src/useReferenceSearch.ts</a:t>
            </a:r>
          </a:p>
        </p:txBody>
      </p:sp>
      <p:sp>
        <p:nvSpPr>
          <p:cNvPr id="41" name="source-2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backend/dictionary.py</a:t>
            </a:r>
          </a:p>
        </p:txBody>
      </p:sp>
      <p:sp>
        <p:nvSpPr>
          <p:cNvPr id="42" name="source-2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backend/examples.py</a:t>
            </a:r>
          </a:p>
        </p:txBody>
      </p:sp>
      <p:sp>
        <p:nvSpPr>
          <p:cNvPr id="43" name="footer-2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4" name="footer-2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040 / 100</a:t>
            </a:r>
          </a:p>
        </p:txBody>
      </p:sp>
      <p:sp>
        <p:nvSpPr>
          <p:cNvPr id="45" name="Rectangle 4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0" y="6821424"/>
            <a:ext cx="48767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Three working layers, one product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browser presents. The server coordinates. The compiler decides.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074920" y="1984248"/>
            <a:ext cx="6547104" cy="380390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illustration-architecture.png"/>
          <p:cNvPicPr>
            <a:picLocks noChangeAspect="1"/>
          </p:cNvPicPr>
          <p:nvPr/>
        </p:nvPicPr>
        <p:blipFill>
          <a:blip r:embed="rId2"/>
          <a:stretch>
            <a:fillRect/>
          </a:stretch>
        </p:blipFill>
        <p:spPr>
          <a:xfrm>
            <a:off x="5722837" y="2048256"/>
            <a:ext cx="5251268" cy="3675887"/>
          </a:xfrm>
          <a:prstGeom prst="rect">
            <a:avLst/>
          </a:prstGeom>
        </p:spPr>
      </p:pic>
      <p:sp>
        <p:nvSpPr>
          <p:cNvPr id="9" name="Rectangle 8"/>
          <p:cNvSpPr/>
          <p:nvPr/>
        </p:nvSpPr>
        <p:spPr>
          <a:xfrm>
            <a:off x="594360" y="209397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77240" y="207568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REACT</a:t>
            </a:r>
          </a:p>
        </p:txBody>
      </p:sp>
      <p:sp>
        <p:nvSpPr>
          <p:cNvPr id="11" name="body-6"/>
          <p:cNvSpPr txBox="1"/>
          <p:nvPr/>
        </p:nvSpPr>
        <p:spPr>
          <a:xfrm>
            <a:off x="777240" y="251460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Pages, inputs, feedback and</a:t>
            </a:r>
          </a:p>
          <a:p>
            <a:pPr algn="l">
              <a:lnSpc>
                <a:spcPts val="2088"/>
              </a:lnSpc>
              <a:spcBef>
                <a:spcPts val="0"/>
              </a:spcBef>
              <a:spcAft>
                <a:spcPts val="0"/>
              </a:spcAft>
              <a:defRPr sz="1800" b="0">
                <a:solidFill>
                  <a:srgbClr val="587080"/>
                </a:solidFill>
                <a:latin typeface="Arial"/>
              </a:defRPr>
            </a:pPr>
            <a:r>
              <a:t>evidence panels.</a:t>
            </a:r>
          </a:p>
        </p:txBody>
      </p:sp>
      <p:sp>
        <p:nvSpPr>
          <p:cNvPr id="12" name="Rectangle 11"/>
          <p:cNvSpPr/>
          <p:nvPr/>
        </p:nvSpPr>
        <p:spPr>
          <a:xfrm>
            <a:off x="594360" y="329793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777240" y="327964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FASTAPI</a:t>
            </a:r>
          </a:p>
        </p:txBody>
      </p:sp>
      <p:sp>
        <p:nvSpPr>
          <p:cNvPr id="14" name="body-8"/>
          <p:cNvSpPr txBox="1"/>
          <p:nvPr/>
        </p:nvSpPr>
        <p:spPr>
          <a:xfrm>
            <a:off x="777240" y="371856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Validation, public policy, endpoints</a:t>
            </a:r>
          </a:p>
          <a:p>
            <a:pPr algn="l">
              <a:lnSpc>
                <a:spcPts val="2088"/>
              </a:lnSpc>
              <a:spcBef>
                <a:spcPts val="0"/>
              </a:spcBef>
              <a:spcAft>
                <a:spcPts val="0"/>
              </a:spcAft>
              <a:defRPr sz="1800" b="0">
                <a:solidFill>
                  <a:srgbClr val="587080"/>
                </a:solidFill>
                <a:latin typeface="Arial"/>
              </a:defRPr>
            </a:pPr>
            <a:r>
              <a:t>and storage.</a:t>
            </a:r>
          </a:p>
        </p:txBody>
      </p:sp>
      <p:sp>
        <p:nvSpPr>
          <p:cNvPr id="15" name="Rectangle 14"/>
          <p:cNvSpPr/>
          <p:nvPr/>
        </p:nvSpPr>
        <p:spPr>
          <a:xfrm>
            <a:off x="594360"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9"/>
          <p:cNvSpPr txBox="1"/>
          <p:nvPr/>
        </p:nvSpPr>
        <p:spPr>
          <a:xfrm>
            <a:off x="777240" y="448360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PYTHON COMPILER</a:t>
            </a:r>
          </a:p>
        </p:txBody>
      </p:sp>
      <p:sp>
        <p:nvSpPr>
          <p:cNvPr id="17" name="body-10"/>
          <p:cNvSpPr txBox="1"/>
          <p:nvPr/>
        </p:nvSpPr>
        <p:spPr>
          <a:xfrm>
            <a:off x="777240" y="492252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Regex lexing, grammar analysis and</a:t>
            </a:r>
          </a:p>
          <a:p>
            <a:pPr algn="l">
              <a:lnSpc>
                <a:spcPts val="2088"/>
              </a:lnSpc>
              <a:spcBef>
                <a:spcPts val="0"/>
              </a:spcBef>
              <a:spcAft>
                <a:spcPts val="0"/>
              </a:spcAft>
              <a:defRPr sz="1800" b="0">
                <a:solidFill>
                  <a:srgbClr val="587080"/>
                </a:solidFill>
                <a:latin typeface="Arial"/>
              </a:defRPr>
            </a:pPr>
            <a:r>
              <a:t>predictive parsing.</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backend/main.py</a:t>
            </a:r>
          </a:p>
        </p:txBody>
      </p:sp>
      <p:sp>
        <p:nvSpPr>
          <p:cNvPr id="22" name="source-14">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compiler/parser/service.py</a:t>
            </a:r>
          </a:p>
        </p:txBody>
      </p:sp>
      <p:sp>
        <p:nvSpPr>
          <p:cNvPr id="23"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041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49987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Boot without a login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Public-session preparation replaces account authentication.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MOUNT</a:t>
            </a:r>
          </a:p>
        </p:txBody>
      </p:sp>
      <p:sp>
        <p:nvSpPr>
          <p:cNvPr id="10" name="body-7"/>
          <p:cNvSpPr txBox="1"/>
          <p:nvPr/>
        </p:nvSpPr>
        <p:spPr>
          <a:xfrm>
            <a:off x="731520"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main.tsx loads</a:t>
            </a:r>
          </a:p>
          <a:p>
            <a:pPr algn="l">
              <a:lnSpc>
                <a:spcPts val="2088"/>
              </a:lnSpc>
              <a:spcBef>
                <a:spcPts val="0"/>
              </a:spcBef>
              <a:spcAft>
                <a:spcPts val="0"/>
              </a:spcAft>
              <a:defRPr sz="1800" b="0">
                <a:solidFill>
                  <a:srgbClr val="587080"/>
                </a:solidFill>
                <a:latin typeface="Arial"/>
              </a:defRPr>
            </a:pPr>
            <a:r>
              <a:t>PublicSession</a:t>
            </a:r>
          </a:p>
        </p:txBody>
      </p:sp>
      <p:sp>
        <p:nvSpPr>
          <p:cNvPr id="11" name="Chevron 10"/>
          <p:cNvSpPr/>
          <p:nvPr/>
        </p:nvSpPr>
        <p:spPr>
          <a:xfrm>
            <a:off x="262158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82732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01020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01020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BOOTSTRAP</a:t>
            </a:r>
          </a:p>
        </p:txBody>
      </p:sp>
      <p:sp>
        <p:nvSpPr>
          <p:cNvPr id="15" name="body-10"/>
          <p:cNvSpPr txBox="1"/>
          <p:nvPr/>
        </p:nvSpPr>
        <p:spPr>
          <a:xfrm>
            <a:off x="3010204"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Load the public</a:t>
            </a:r>
          </a:p>
          <a:p>
            <a:pPr algn="l">
              <a:lnSpc>
                <a:spcPts val="2088"/>
              </a:lnSpc>
              <a:spcBef>
                <a:spcPts val="0"/>
              </a:spcBef>
              <a:spcAft>
                <a:spcPts val="0"/>
              </a:spcAft>
              <a:defRPr sz="1800" b="0">
                <a:solidFill>
                  <a:srgbClr val="587080"/>
                </a:solidFill>
                <a:latin typeface="Arial"/>
              </a:defRPr>
            </a:pPr>
            <a:r>
              <a:t>session</a:t>
            </a:r>
          </a:p>
        </p:txBody>
      </p:sp>
      <p:sp>
        <p:nvSpPr>
          <p:cNvPr id="16" name="Chevron 15"/>
          <p:cNvSpPr/>
          <p:nvPr/>
        </p:nvSpPr>
        <p:spPr>
          <a:xfrm>
            <a:off x="490026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510600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528888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528888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CHECK</a:t>
            </a:r>
          </a:p>
        </p:txBody>
      </p:sp>
      <p:sp>
        <p:nvSpPr>
          <p:cNvPr id="20" name="body-13"/>
          <p:cNvSpPr txBox="1"/>
          <p:nvPr/>
        </p:nvSpPr>
        <p:spPr>
          <a:xfrm>
            <a:off x="5288889"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Validate</a:t>
            </a:r>
          </a:p>
          <a:p>
            <a:pPr algn="l">
              <a:lnSpc>
                <a:spcPts val="1972"/>
              </a:lnSpc>
              <a:spcBef>
                <a:spcPts val="0"/>
              </a:spcBef>
              <a:spcAft>
                <a:spcPts val="0"/>
              </a:spcAft>
              <a:defRPr sz="1700" b="0">
                <a:solidFill>
                  <a:srgbClr val="587080"/>
                </a:solidFill>
                <a:latin typeface="Arial"/>
              </a:defRPr>
            </a:pPr>
            <a:r>
              <a:t>public-read-only</a:t>
            </a:r>
          </a:p>
          <a:p>
            <a:pPr algn="l">
              <a:lnSpc>
                <a:spcPts val="1972"/>
              </a:lnSpc>
              <a:spcBef>
                <a:spcPts val="0"/>
              </a:spcBef>
              <a:spcAft>
                <a:spcPts val="0"/>
              </a:spcAft>
              <a:defRPr sz="1700" b="0">
                <a:solidFill>
                  <a:srgbClr val="587080"/>
                </a:solidFill>
                <a:latin typeface="Arial"/>
              </a:defRPr>
            </a:pPr>
            <a:r>
              <a:t>capabilities</a:t>
            </a:r>
          </a:p>
        </p:txBody>
      </p:sp>
      <p:sp>
        <p:nvSpPr>
          <p:cNvPr id="21" name="Chevron 20"/>
          <p:cNvSpPr/>
          <p:nvPr/>
        </p:nvSpPr>
        <p:spPr>
          <a:xfrm>
            <a:off x="717895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38469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756757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756757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CONFIGURE</a:t>
            </a:r>
          </a:p>
        </p:txBody>
      </p:sp>
      <p:sp>
        <p:nvSpPr>
          <p:cNvPr id="25" name="body-16"/>
          <p:cNvSpPr txBox="1"/>
          <p:nvPr/>
        </p:nvSpPr>
        <p:spPr>
          <a:xfrm>
            <a:off x="7567574"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Keep the</a:t>
            </a:r>
          </a:p>
          <a:p>
            <a:pPr algn="l">
              <a:lnSpc>
                <a:spcPts val="1972"/>
              </a:lnSpc>
              <a:spcBef>
                <a:spcPts val="0"/>
              </a:spcBef>
              <a:spcAft>
                <a:spcPts val="0"/>
              </a:spcAft>
              <a:defRPr sz="1700" b="0">
                <a:solidFill>
                  <a:srgbClr val="587080"/>
                </a:solidFill>
                <a:latin typeface="Arial"/>
              </a:defRPr>
            </a:pPr>
            <a:r>
              <a:t>anonymous</a:t>
            </a:r>
          </a:p>
          <a:p>
            <a:pPr algn="l">
              <a:lnSpc>
                <a:spcPts val="1972"/>
              </a:lnSpc>
              <a:spcBef>
                <a:spcPts val="0"/>
              </a:spcBef>
              <a:spcAft>
                <a:spcPts val="0"/>
              </a:spcAft>
              <a:defRPr sz="1700" b="0">
                <a:solidFill>
                  <a:srgbClr val="587080"/>
                </a:solidFill>
                <a:latin typeface="Arial"/>
              </a:defRPr>
            </a:pPr>
            <a:r>
              <a:t>CSRF token</a:t>
            </a:r>
          </a:p>
        </p:txBody>
      </p:sp>
      <p:sp>
        <p:nvSpPr>
          <p:cNvPr id="26" name="Chevron 25"/>
          <p:cNvSpPr/>
          <p:nvPr/>
        </p:nvSpPr>
        <p:spPr>
          <a:xfrm>
            <a:off x="945763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966337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17"/>
          <p:cNvSpPr txBox="1"/>
          <p:nvPr/>
        </p:nvSpPr>
        <p:spPr>
          <a:xfrm>
            <a:off x="984625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05</a:t>
            </a:r>
          </a:p>
        </p:txBody>
      </p:sp>
      <p:sp>
        <p:nvSpPr>
          <p:cNvPr id="29" name="body-18"/>
          <p:cNvSpPr txBox="1"/>
          <p:nvPr/>
        </p:nvSpPr>
        <p:spPr>
          <a:xfrm>
            <a:off x="984625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OPEN</a:t>
            </a:r>
          </a:p>
        </p:txBody>
      </p:sp>
      <p:sp>
        <p:nvSpPr>
          <p:cNvPr id="30" name="body-19"/>
          <p:cNvSpPr txBox="1"/>
          <p:nvPr/>
        </p:nvSpPr>
        <p:spPr>
          <a:xfrm>
            <a:off x="9846259" y="4041648"/>
            <a:ext cx="1629460" cy="76809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587080"/>
                </a:solidFill>
                <a:latin typeface="Arial"/>
              </a:defRPr>
            </a:pPr>
            <a:r>
              <a:t>Render App and</a:t>
            </a:r>
          </a:p>
          <a:p>
            <a:pPr algn="l">
              <a:lnSpc>
                <a:spcPts val="2029"/>
              </a:lnSpc>
              <a:spcBef>
                <a:spcPts val="0"/>
              </a:spcBef>
              <a:spcAft>
                <a:spcPts val="0"/>
              </a:spcAft>
              <a:defRPr sz="1750" b="0">
                <a:solidFill>
                  <a:srgbClr val="587080"/>
                </a:solidFill>
                <a:latin typeface="Arial"/>
              </a:defRPr>
            </a:pPr>
            <a:r>
              <a:t>its five pages</a:t>
            </a:r>
          </a:p>
        </p:txBody>
      </p:sp>
      <p:sp>
        <p:nvSpPr>
          <p:cNvPr id="31" name="caption-20"/>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frontend/src/main.tsx</a:t>
            </a:r>
          </a:p>
        </p:txBody>
      </p:sp>
      <p:sp>
        <p:nvSpPr>
          <p:cNvPr id="35"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frontend/src/PublicSession.tsx</a:t>
            </a:r>
          </a:p>
        </p:txBody>
      </p:sp>
      <p:sp>
        <p:nvSpPr>
          <p:cNvPr id="36"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37" name="source-25">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38" name="footer-2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042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51206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Hash routes select the five pages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Navigation stays inside the same application shell.</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4985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URL fragment</a:t>
            </a:r>
          </a:p>
        </p:txBody>
      </p:sp>
      <p:sp>
        <p:nvSpPr>
          <p:cNvPr id="9" name="body-6"/>
          <p:cNvSpPr txBox="1"/>
          <p:nvPr/>
        </p:nvSpPr>
        <p:spPr>
          <a:xfrm>
            <a:off x="3467862"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Visible page</a:t>
            </a:r>
          </a:p>
        </p:txBody>
      </p:sp>
      <p:sp>
        <p:nvSpPr>
          <p:cNvPr id="10" name="body-7"/>
          <p:cNvSpPr txBox="1"/>
          <p:nvPr/>
        </p:nvSpPr>
        <p:spPr>
          <a:xfrm>
            <a:off x="8237280" y="2093976"/>
            <a:ext cx="3275015"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Principal file</a:t>
            </a:r>
          </a:p>
        </p:txBody>
      </p:sp>
      <p:sp>
        <p:nvSpPr>
          <p:cNvPr id="11" name="Rectangle 10"/>
          <p:cNvSpPr/>
          <p:nvPr/>
        </p:nvSpPr>
        <p:spPr>
          <a:xfrm>
            <a:off x="548640" y="2441448"/>
            <a:ext cx="11091672" cy="66385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310530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4985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#compiler</a:t>
            </a:r>
          </a:p>
        </p:txBody>
      </p:sp>
      <p:sp>
        <p:nvSpPr>
          <p:cNvPr id="14" name="body-9"/>
          <p:cNvSpPr txBox="1"/>
          <p:nvPr/>
        </p:nvSpPr>
        <p:spPr>
          <a:xfrm>
            <a:off x="3467862" y="2523744"/>
            <a:ext cx="44950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Franc Analyzer</a:t>
            </a:r>
          </a:p>
        </p:txBody>
      </p:sp>
      <p:sp>
        <p:nvSpPr>
          <p:cNvPr id="15" name="body-10"/>
          <p:cNvSpPr txBox="1"/>
          <p:nvPr/>
        </p:nvSpPr>
        <p:spPr>
          <a:xfrm>
            <a:off x="8237280" y="2523744"/>
            <a:ext cx="3275015"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FrancAnalyzer.tsx</a:t>
            </a:r>
          </a:p>
        </p:txBody>
      </p:sp>
      <p:sp>
        <p:nvSpPr>
          <p:cNvPr id="16" name="Rectangle 15"/>
          <p:cNvSpPr/>
          <p:nvPr/>
        </p:nvSpPr>
        <p:spPr>
          <a:xfrm>
            <a:off x="548640" y="3105302"/>
            <a:ext cx="11091672" cy="663854"/>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376915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187598"/>
            <a:ext cx="24985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#analysis</a:t>
            </a:r>
          </a:p>
        </p:txBody>
      </p:sp>
      <p:sp>
        <p:nvSpPr>
          <p:cNvPr id="19" name="body-12"/>
          <p:cNvSpPr txBox="1"/>
          <p:nvPr/>
        </p:nvSpPr>
        <p:spPr>
          <a:xfrm>
            <a:off x="3467862" y="3187598"/>
            <a:ext cx="44950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Analysis</a:t>
            </a:r>
          </a:p>
        </p:txBody>
      </p:sp>
      <p:sp>
        <p:nvSpPr>
          <p:cNvPr id="20" name="body-13"/>
          <p:cNvSpPr txBox="1"/>
          <p:nvPr/>
        </p:nvSpPr>
        <p:spPr>
          <a:xfrm>
            <a:off x="8237280" y="3187598"/>
            <a:ext cx="3275015"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Analysis.tsx</a:t>
            </a:r>
          </a:p>
        </p:txBody>
      </p:sp>
      <p:sp>
        <p:nvSpPr>
          <p:cNvPr id="21" name="Rectangle 20"/>
          <p:cNvSpPr/>
          <p:nvPr/>
        </p:nvSpPr>
        <p:spPr>
          <a:xfrm>
            <a:off x="548640" y="3769156"/>
            <a:ext cx="11091672" cy="66385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433011"/>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3851452"/>
            <a:ext cx="24985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#collection</a:t>
            </a:r>
          </a:p>
        </p:txBody>
      </p:sp>
      <p:sp>
        <p:nvSpPr>
          <p:cNvPr id="24" name="body-15"/>
          <p:cNvSpPr txBox="1"/>
          <p:nvPr/>
        </p:nvSpPr>
        <p:spPr>
          <a:xfrm>
            <a:off x="3467862" y="3851452"/>
            <a:ext cx="44950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Collection</a:t>
            </a:r>
          </a:p>
        </p:txBody>
      </p:sp>
      <p:sp>
        <p:nvSpPr>
          <p:cNvPr id="25" name="body-16"/>
          <p:cNvSpPr txBox="1"/>
          <p:nvPr/>
        </p:nvSpPr>
        <p:spPr>
          <a:xfrm>
            <a:off x="8237280" y="3851452"/>
            <a:ext cx="3275015"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Collection.tsx</a:t>
            </a:r>
          </a:p>
        </p:txBody>
      </p:sp>
      <p:sp>
        <p:nvSpPr>
          <p:cNvPr id="26" name="Rectangle 25"/>
          <p:cNvSpPr/>
          <p:nvPr/>
        </p:nvSpPr>
        <p:spPr>
          <a:xfrm>
            <a:off x="548640" y="4433011"/>
            <a:ext cx="11091672" cy="663854"/>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096865"/>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4515307"/>
            <a:ext cx="24985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#dictionary</a:t>
            </a:r>
          </a:p>
        </p:txBody>
      </p:sp>
      <p:sp>
        <p:nvSpPr>
          <p:cNvPr id="29" name="body-18"/>
          <p:cNvSpPr txBox="1"/>
          <p:nvPr/>
        </p:nvSpPr>
        <p:spPr>
          <a:xfrm>
            <a:off x="3467862" y="4515307"/>
            <a:ext cx="44950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Dictionary</a:t>
            </a:r>
          </a:p>
        </p:txBody>
      </p:sp>
      <p:sp>
        <p:nvSpPr>
          <p:cNvPr id="30" name="body-19"/>
          <p:cNvSpPr txBox="1"/>
          <p:nvPr/>
        </p:nvSpPr>
        <p:spPr>
          <a:xfrm>
            <a:off x="8237280" y="4515307"/>
            <a:ext cx="3275015"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Dictionary.tsx</a:t>
            </a:r>
          </a:p>
        </p:txBody>
      </p:sp>
      <p:sp>
        <p:nvSpPr>
          <p:cNvPr id="31" name="Rectangle 30"/>
          <p:cNvSpPr/>
          <p:nvPr/>
        </p:nvSpPr>
        <p:spPr>
          <a:xfrm>
            <a:off x="548640" y="5096865"/>
            <a:ext cx="11091672" cy="66385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body-20"/>
          <p:cNvSpPr txBox="1"/>
          <p:nvPr/>
        </p:nvSpPr>
        <p:spPr>
          <a:xfrm>
            <a:off x="694944" y="5179161"/>
            <a:ext cx="24985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#examples</a:t>
            </a:r>
          </a:p>
        </p:txBody>
      </p:sp>
      <p:sp>
        <p:nvSpPr>
          <p:cNvPr id="34" name="body-21"/>
          <p:cNvSpPr txBox="1"/>
          <p:nvPr/>
        </p:nvSpPr>
        <p:spPr>
          <a:xfrm>
            <a:off x="3467862" y="5179161"/>
            <a:ext cx="4495098"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Synthetic examples</a:t>
            </a:r>
          </a:p>
        </p:txBody>
      </p:sp>
      <p:sp>
        <p:nvSpPr>
          <p:cNvPr id="35" name="body-22"/>
          <p:cNvSpPr txBox="1"/>
          <p:nvPr/>
        </p:nvSpPr>
        <p:spPr>
          <a:xfrm>
            <a:off x="8237280" y="5179161"/>
            <a:ext cx="3275015" cy="54498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Examples.tsx</a:t>
            </a:r>
          </a:p>
        </p:txBody>
      </p:sp>
      <p:cxnSp>
        <p:nvCxnSpPr>
          <p:cNvPr id="36" name="Connector 35"/>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7" name="footer-2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8" name="source-2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39"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0"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043 / 100</a:t>
            </a:r>
          </a:p>
        </p:txBody>
      </p:sp>
      <p:sp>
        <p:nvSpPr>
          <p:cNvPr id="41" name="Rectangle 4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0" y="6821424"/>
            <a:ext cx="52425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Waiting state and transport are separate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Two shared helpers keep page code focused.</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useRequest.ts</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Owns pending and error state.</a:t>
            </a:r>
          </a:p>
          <a:p>
            <a:pPr algn="l">
              <a:lnSpc>
                <a:spcPts val="2552"/>
              </a:lnSpc>
              <a:spcBef>
                <a:spcPts val="0"/>
              </a:spcBef>
              <a:spcAft>
                <a:spcPts val="0"/>
              </a:spcAft>
              <a:defRPr sz="2200" b="0">
                <a:solidFill>
                  <a:srgbClr val="D1E2E1"/>
                </a:solidFill>
                <a:latin typeface="Arial"/>
              </a:defRPr>
            </a:pPr>
            <a:r>
              <a:t>Prevents overlapping runs.</a:t>
            </a:r>
          </a:p>
          <a:p>
            <a:pPr algn="l">
              <a:lnSpc>
                <a:spcPts val="2552"/>
              </a:lnSpc>
              <a:spcBef>
                <a:spcPts val="0"/>
              </a:spcBef>
              <a:spcAft>
                <a:spcPts val="0"/>
              </a:spcAft>
              <a:defRPr sz="2200" b="0">
                <a:solidFill>
                  <a:srgbClr val="D1E2E1"/>
                </a:solidFill>
                <a:latin typeface="Arial"/>
              </a:defRPr>
            </a:pPr>
            <a:r>
              <a:t>Supports cancel and clearError.</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api.ts</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Sends JSON and CSRF headers.</a:t>
            </a:r>
          </a:p>
          <a:p>
            <a:pPr algn="l">
              <a:lnSpc>
                <a:spcPts val="2552"/>
              </a:lnSpc>
              <a:spcBef>
                <a:spcPts val="0"/>
              </a:spcBef>
              <a:spcAft>
                <a:spcPts val="0"/>
              </a:spcAft>
              <a:defRPr sz="2200" b="0">
                <a:solidFill>
                  <a:srgbClr val="587080"/>
                </a:solidFill>
                <a:latin typeface="Arial"/>
              </a:defRPr>
            </a:pPr>
            <a:r>
              <a:t>Normalizes errors and timeouts.</a:t>
            </a:r>
          </a:p>
          <a:p>
            <a:pPr algn="l">
              <a:lnSpc>
                <a:spcPts val="2552"/>
              </a:lnSpc>
              <a:spcBef>
                <a:spcPts val="0"/>
              </a:spcBef>
              <a:spcAft>
                <a:spcPts val="0"/>
              </a:spcAft>
              <a:defRPr sz="2200" b="0">
                <a:solidFill>
                  <a:srgbClr val="587080"/>
                </a:solidFill>
                <a:latin typeface="Arial"/>
              </a:defRPr>
            </a:pPr>
            <a:r>
              <a:t>Guards against stale sessions.</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frontend/src/useRequest.ts</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19"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0"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044 / 100</a:t>
            </a:r>
          </a:p>
        </p:txBody>
      </p:sp>
      <p:sp>
        <p:nvSpPr>
          <p:cNvPr id="21" name="Rectangle 2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0" y="6821424"/>
            <a:ext cx="53644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One origin connects the UI and API</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Production serves the compiled frontend and API together.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BROWSER</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React requests</a:t>
            </a:r>
          </a:p>
          <a:p>
            <a:pPr algn="l">
              <a:lnSpc>
                <a:spcPts val="2088"/>
              </a:lnSpc>
              <a:spcBef>
                <a:spcPts val="0"/>
              </a:spcBef>
              <a:spcAft>
                <a:spcPts val="0"/>
              </a:spcAft>
              <a:defRPr sz="1800" b="0">
                <a:solidFill>
                  <a:srgbClr val="587080"/>
                </a:solidFill>
                <a:latin typeface="Arial"/>
              </a:defRPr>
            </a:pPr>
            <a:r>
              <a:t>/api/...</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HTTPS</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same public</a:t>
            </a:r>
          </a:p>
          <a:p>
            <a:pPr algn="l">
              <a:lnSpc>
                <a:spcPts val="2088"/>
              </a:lnSpc>
              <a:spcBef>
                <a:spcPts val="0"/>
              </a:spcBef>
              <a:spcAft>
                <a:spcPts val="0"/>
              </a:spcAft>
              <a:defRPr sz="1800" b="0">
                <a:solidFill>
                  <a:srgbClr val="587080"/>
                </a:solidFill>
                <a:latin typeface="Arial"/>
              </a:defRPr>
            </a:pPr>
            <a:r>
              <a:t>origin</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PROXY</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Nginx forwards the</a:t>
            </a:r>
          </a:p>
          <a:p>
            <a:pPr algn="l">
              <a:lnSpc>
                <a:spcPts val="2088"/>
              </a:lnSpc>
              <a:spcBef>
                <a:spcPts val="0"/>
              </a:spcBef>
              <a:spcAft>
                <a:spcPts val="0"/>
              </a:spcAft>
              <a:defRPr sz="1800" b="0">
                <a:solidFill>
                  <a:srgbClr val="587080"/>
                </a:solidFill>
                <a:latin typeface="Arial"/>
              </a:defRPr>
            </a:pPr>
            <a:r>
              <a:t>request</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APP</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587080"/>
                </a:solidFill>
                <a:latin typeface="Arial"/>
              </a:defRPr>
            </a:pPr>
            <a:r>
              <a:t>FastAPI serves JSON</a:t>
            </a:r>
          </a:p>
          <a:p>
            <a:pPr algn="l">
              <a:lnSpc>
                <a:spcPts val="2029"/>
              </a:lnSpc>
              <a:spcBef>
                <a:spcPts val="0"/>
              </a:spcBef>
              <a:spcAft>
                <a:spcPts val="0"/>
              </a:spcAft>
              <a:defRPr sz="1750" b="0">
                <a:solidFill>
                  <a:srgbClr val="587080"/>
                </a:solidFill>
                <a:latin typeface="Arial"/>
              </a:defRPr>
            </a:pPr>
            <a:r>
              <a:t>and static assets</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backend/web.py</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backend/main.py</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tools/run_app.py</a:t>
            </a:r>
          </a:p>
        </p:txBody>
      </p:sp>
      <p:sp>
        <p:nvSpPr>
          <p:cNvPr id="32" name="source-22">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README.md</a:t>
            </a:r>
          </a:p>
        </p:txBody>
      </p:sp>
      <p:sp>
        <p:nvSpPr>
          <p:cNvPr id="33"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4"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045 / 100</a:t>
            </a:r>
          </a:p>
        </p:txBody>
      </p:sp>
      <p:sp>
        <p:nvSpPr>
          <p:cNvPr id="35" name="Rectangle 3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0" y="6821424"/>
            <a:ext cx="54863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Public API, grouped by task</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route reveals which part of the app is involved.</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4985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Task</a:t>
            </a:r>
          </a:p>
        </p:txBody>
      </p:sp>
      <p:sp>
        <p:nvSpPr>
          <p:cNvPr id="9" name="body-6"/>
          <p:cNvSpPr txBox="1"/>
          <p:nvPr/>
        </p:nvSpPr>
        <p:spPr>
          <a:xfrm>
            <a:off x="3467862"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Endpoint</a:t>
            </a:r>
          </a:p>
        </p:txBody>
      </p:sp>
      <p:sp>
        <p:nvSpPr>
          <p:cNvPr id="10" name="body-7"/>
          <p:cNvSpPr txBox="1"/>
          <p:nvPr/>
        </p:nvSpPr>
        <p:spPr>
          <a:xfrm>
            <a:off x="8237280" y="2093976"/>
            <a:ext cx="3275015"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Owner</a:t>
            </a:r>
          </a:p>
        </p:txBody>
      </p:sp>
      <p:sp>
        <p:nvSpPr>
          <p:cNvPr id="11" name="Rectangle 10"/>
          <p:cNvSpPr/>
          <p:nvPr/>
        </p:nvSpPr>
        <p:spPr>
          <a:xfrm>
            <a:off x="548640" y="2441448"/>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299466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Session</a:t>
            </a:r>
          </a:p>
        </p:txBody>
      </p:sp>
      <p:sp>
        <p:nvSpPr>
          <p:cNvPr id="14" name="body-9"/>
          <p:cNvSpPr txBox="1"/>
          <p:nvPr/>
        </p:nvSpPr>
        <p:spPr>
          <a:xfrm>
            <a:off x="3467862" y="252374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GET /api/public/session</a:t>
            </a:r>
          </a:p>
        </p:txBody>
      </p:sp>
      <p:sp>
        <p:nvSpPr>
          <p:cNvPr id="15" name="body-10"/>
          <p:cNvSpPr txBox="1"/>
          <p:nvPr/>
        </p:nvSpPr>
        <p:spPr>
          <a:xfrm>
            <a:off x="8237280" y="2523744"/>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public_access.py</a:t>
            </a:r>
          </a:p>
        </p:txBody>
      </p:sp>
      <p:sp>
        <p:nvSpPr>
          <p:cNvPr id="16" name="Rectangle 15"/>
          <p:cNvSpPr/>
          <p:nvPr/>
        </p:nvSpPr>
        <p:spPr>
          <a:xfrm>
            <a:off x="548640" y="2994660"/>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354787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076956"/>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Record a test</a:t>
            </a:r>
          </a:p>
        </p:txBody>
      </p:sp>
      <p:sp>
        <p:nvSpPr>
          <p:cNvPr id="19" name="body-12"/>
          <p:cNvSpPr txBox="1"/>
          <p:nvPr/>
        </p:nvSpPr>
        <p:spPr>
          <a:xfrm>
            <a:off x="3467862" y="3076956"/>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POST /api/analyzer/tests</a:t>
            </a:r>
          </a:p>
        </p:txBody>
      </p:sp>
      <p:sp>
        <p:nvSpPr>
          <p:cNvPr id="20" name="body-13"/>
          <p:cNvSpPr txBox="1"/>
          <p:nvPr/>
        </p:nvSpPr>
        <p:spPr>
          <a:xfrm>
            <a:off x="8237280" y="3076956"/>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analyzer_api.py</a:t>
            </a:r>
          </a:p>
        </p:txBody>
      </p:sp>
      <p:sp>
        <p:nvSpPr>
          <p:cNvPr id="21" name="Rectangle 20"/>
          <p:cNvSpPr/>
          <p:nvPr/>
        </p:nvSpPr>
        <p:spPr>
          <a:xfrm>
            <a:off x="548640" y="3547872"/>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10108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3630168"/>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Test summaries</a:t>
            </a:r>
          </a:p>
        </p:txBody>
      </p:sp>
      <p:sp>
        <p:nvSpPr>
          <p:cNvPr id="24" name="body-15"/>
          <p:cNvSpPr txBox="1"/>
          <p:nvPr/>
        </p:nvSpPr>
        <p:spPr>
          <a:xfrm>
            <a:off x="3467862" y="3630168"/>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GET /api/analyzer/tests</a:t>
            </a:r>
          </a:p>
        </p:txBody>
      </p:sp>
      <p:sp>
        <p:nvSpPr>
          <p:cNvPr id="25" name="body-16"/>
          <p:cNvSpPr txBox="1"/>
          <p:nvPr/>
        </p:nvSpPr>
        <p:spPr>
          <a:xfrm>
            <a:off x="8237280" y="3630168"/>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analyzer_api.py</a:t>
            </a:r>
          </a:p>
        </p:txBody>
      </p:sp>
      <p:sp>
        <p:nvSpPr>
          <p:cNvPr id="26" name="Rectangle 25"/>
          <p:cNvSpPr/>
          <p:nvPr/>
        </p:nvSpPr>
        <p:spPr>
          <a:xfrm>
            <a:off x="548640" y="4101083"/>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465429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4183379"/>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Collection</a:t>
            </a:r>
          </a:p>
        </p:txBody>
      </p:sp>
      <p:sp>
        <p:nvSpPr>
          <p:cNvPr id="29" name="body-18"/>
          <p:cNvSpPr txBox="1"/>
          <p:nvPr/>
        </p:nvSpPr>
        <p:spPr>
          <a:xfrm>
            <a:off x="3467862" y="4183379"/>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GET /api/dataset</a:t>
            </a:r>
          </a:p>
        </p:txBody>
      </p:sp>
      <p:sp>
        <p:nvSpPr>
          <p:cNvPr id="30" name="body-19"/>
          <p:cNvSpPr txBox="1"/>
          <p:nvPr/>
        </p:nvSpPr>
        <p:spPr>
          <a:xfrm>
            <a:off x="8237280" y="4183379"/>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main.py + collection.py</a:t>
            </a:r>
          </a:p>
        </p:txBody>
      </p:sp>
      <p:sp>
        <p:nvSpPr>
          <p:cNvPr id="31" name="Rectangle 30"/>
          <p:cNvSpPr/>
          <p:nvPr/>
        </p:nvSpPr>
        <p:spPr>
          <a:xfrm>
            <a:off x="548640" y="4654296"/>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548640" y="5207508"/>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body-20"/>
          <p:cNvSpPr txBox="1"/>
          <p:nvPr/>
        </p:nvSpPr>
        <p:spPr>
          <a:xfrm>
            <a:off x="694944" y="4736592"/>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Dictionary</a:t>
            </a:r>
          </a:p>
        </p:txBody>
      </p:sp>
      <p:sp>
        <p:nvSpPr>
          <p:cNvPr id="34" name="body-21"/>
          <p:cNvSpPr txBox="1"/>
          <p:nvPr/>
        </p:nvSpPr>
        <p:spPr>
          <a:xfrm>
            <a:off x="3467862" y="4736592"/>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GET /api/dictionary</a:t>
            </a:r>
          </a:p>
        </p:txBody>
      </p:sp>
      <p:sp>
        <p:nvSpPr>
          <p:cNvPr id="35" name="body-22"/>
          <p:cNvSpPr txBox="1"/>
          <p:nvPr/>
        </p:nvSpPr>
        <p:spPr>
          <a:xfrm>
            <a:off x="8237280" y="4736592"/>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main.py + dictionary.py</a:t>
            </a:r>
          </a:p>
        </p:txBody>
      </p:sp>
      <p:sp>
        <p:nvSpPr>
          <p:cNvPr id="36" name="Rectangle 35"/>
          <p:cNvSpPr/>
          <p:nvPr/>
        </p:nvSpPr>
        <p:spPr>
          <a:xfrm>
            <a:off x="548640" y="5207508"/>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7" name="Connector 36"/>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body-23"/>
          <p:cNvSpPr txBox="1"/>
          <p:nvPr/>
        </p:nvSpPr>
        <p:spPr>
          <a:xfrm>
            <a:off x="694944" y="5289804"/>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Recorded lookup</a:t>
            </a:r>
          </a:p>
        </p:txBody>
      </p:sp>
      <p:sp>
        <p:nvSpPr>
          <p:cNvPr id="39" name="body-24"/>
          <p:cNvSpPr txBox="1"/>
          <p:nvPr/>
        </p:nvSpPr>
        <p:spPr>
          <a:xfrm>
            <a:off x="3467862" y="528980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POST /api/readings/lookup</a:t>
            </a:r>
          </a:p>
        </p:txBody>
      </p:sp>
      <p:sp>
        <p:nvSpPr>
          <p:cNvPr id="40" name="body-25"/>
          <p:cNvSpPr txBox="1"/>
          <p:nvPr/>
        </p:nvSpPr>
        <p:spPr>
          <a:xfrm>
            <a:off x="8237280" y="5289804"/>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readings_api.py</a:t>
            </a:r>
          </a:p>
        </p:txBody>
      </p:sp>
      <p:cxnSp>
        <p:nvCxnSpPr>
          <p:cNvPr id="41" name="Connector 40"/>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42" name="footer-26"/>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43" name="source-27">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backend/main.py</a:t>
            </a:r>
          </a:p>
        </p:txBody>
      </p:sp>
      <p:sp>
        <p:nvSpPr>
          <p:cNvPr id="44" name="source-28">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45" name="source-29">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46" name="source-30">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backend/readings_api.py</a:t>
            </a:r>
          </a:p>
        </p:txBody>
      </p:sp>
      <p:sp>
        <p:nvSpPr>
          <p:cNvPr id="47" name="footer-31"/>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8" name="footer-32"/>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046 / 100</a:t>
            </a:r>
          </a:p>
        </p:txBody>
      </p:sp>
      <p:sp>
        <p:nvSpPr>
          <p:cNvPr id="49" name="Rectangle 48"/>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ectangle 49"/>
          <p:cNvSpPr/>
          <p:nvPr/>
        </p:nvSpPr>
        <p:spPr>
          <a:xfrm>
            <a:off x="0" y="6821424"/>
            <a:ext cx="56083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Bootstrap advertises the public contract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frontend verifies capabilities before opening the workspace.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1993392"/>
            <a:ext cx="7315200" cy="3794760"/>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aption-5"/>
          <p:cNvSpPr txBox="1"/>
          <p:nvPr/>
        </p:nvSpPr>
        <p:spPr>
          <a:xfrm>
            <a:off x="786384" y="2185416"/>
            <a:ext cx="6821424" cy="219456"/>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CBA261"/>
                </a:solidFill>
                <a:latin typeface="Arial"/>
              </a:defRPr>
            </a:pPr>
            <a:r>
              <a:t>SOURCE WALKTHROUGH / ABBREVIATED WHERE MARKED</a:t>
            </a:r>
          </a:p>
        </p:txBody>
      </p:sp>
      <p:sp>
        <p:nvSpPr>
          <p:cNvPr id="9" name="body-6"/>
          <p:cNvSpPr txBox="1"/>
          <p:nvPr/>
        </p:nvSpPr>
        <p:spPr>
          <a:xfrm>
            <a:off x="795528" y="2688336"/>
            <a:ext cx="6784848" cy="2779776"/>
          </a:xfrm>
          <a:prstGeom prst="rect">
            <a:avLst/>
          </a:prstGeom>
          <a:noFill/>
        </p:spPr>
        <p:txBody>
          <a:bodyPr wrap="none" lIns="0" rIns="0" tIns="0" bIns="0" anchor="t">
            <a:noAutofit/>
          </a:bodyPr>
          <a:lstStyle/>
          <a:p>
            <a:pPr algn="l">
              <a:lnSpc>
                <a:spcPts val="2145"/>
              </a:lnSpc>
              <a:spcBef>
                <a:spcPts val="0"/>
              </a:spcBef>
              <a:spcAft>
                <a:spcPts val="0"/>
              </a:spcAft>
              <a:defRPr sz="1850" b="0">
                <a:solidFill>
                  <a:srgbClr val="E0EFEB"/>
                </a:solidFill>
                <a:latin typeface="Consolas"/>
              </a:defRPr>
            </a:pPr>
            <a:r>
              <a:t>{</a:t>
            </a:r>
          </a:p>
          <a:p>
            <a:pPr algn="l">
              <a:lnSpc>
                <a:spcPts val="2145"/>
              </a:lnSpc>
              <a:spcBef>
                <a:spcPts val="0"/>
              </a:spcBef>
              <a:spcAft>
                <a:spcPts val="0"/>
              </a:spcAft>
              <a:defRPr sz="1850" b="0">
                <a:solidFill>
                  <a:srgbClr val="E0EFEB"/>
                </a:solidFill>
                <a:latin typeface="Consolas"/>
              </a:defRPr>
            </a:pPr>
            <a:r>
              <a:t>  "access_mode": "public_read_only",</a:t>
            </a:r>
          </a:p>
          <a:p>
            <a:pPr algn="l">
              <a:lnSpc>
                <a:spcPts val="2145"/>
              </a:lnSpc>
              <a:spcBef>
                <a:spcPts val="0"/>
              </a:spcBef>
              <a:spcAft>
                <a:spcPts val="0"/>
              </a:spcAft>
              <a:defRPr sz="1850" b="0">
                <a:solidFill>
                  <a:srgbClr val="E0EFEB"/>
                </a:solidFill>
                <a:latin typeface="Consolas"/>
              </a:defRPr>
            </a:pPr>
            <a:r>
              <a:t>  "capabilities": {</a:t>
            </a:r>
          </a:p>
          <a:p>
            <a:pPr algn="l">
              <a:lnSpc>
                <a:spcPts val="2145"/>
              </a:lnSpc>
              <a:spcBef>
                <a:spcPts val="0"/>
              </a:spcBef>
              <a:spcAft>
                <a:spcPts val="0"/>
              </a:spcAft>
              <a:defRPr sz="1850" b="0">
                <a:solidFill>
                  <a:srgbClr val="E0EFEB"/>
                </a:solidFill>
                <a:latin typeface="Consolas"/>
              </a:defRPr>
            </a:pPr>
            <a:r>
              <a:t>    "analyze": true,</a:t>
            </a:r>
          </a:p>
          <a:p>
            <a:pPr algn="l">
              <a:lnSpc>
                <a:spcPts val="2145"/>
              </a:lnSpc>
              <a:spcBef>
                <a:spcPts val="0"/>
              </a:spcBef>
              <a:spcAft>
                <a:spcPts val="0"/>
              </a:spcAft>
              <a:defRPr sz="1850" b="0">
                <a:solidFill>
                  <a:srgbClr val="E0EFEB"/>
                </a:solidFill>
                <a:latin typeface="Consolas"/>
              </a:defRPr>
            </a:pPr>
            <a:r>
              <a:t>    "save_tests": true,</a:t>
            </a:r>
          </a:p>
          <a:p>
            <a:pPr algn="l">
              <a:lnSpc>
                <a:spcPts val="2145"/>
              </a:lnSpc>
              <a:spcBef>
                <a:spcPts val="0"/>
              </a:spcBef>
              <a:spcAft>
                <a:spcPts val="0"/>
              </a:spcAft>
              <a:defRPr sz="1850" b="0">
                <a:solidFill>
                  <a:srgbClr val="E0EFEB"/>
                </a:solidFill>
                <a:latin typeface="Consolas"/>
              </a:defRPr>
            </a:pPr>
            <a:r>
              <a:t>    "edit_collection": false,</a:t>
            </a:r>
          </a:p>
          <a:p>
            <a:pPr algn="l">
              <a:lnSpc>
                <a:spcPts val="2145"/>
              </a:lnSpc>
              <a:spcBef>
                <a:spcPts val="0"/>
              </a:spcBef>
              <a:spcAft>
                <a:spcPts val="0"/>
              </a:spcAft>
              <a:defRPr sz="1850" b="0">
                <a:solidFill>
                  <a:srgbClr val="E0EFEB"/>
                </a:solidFill>
                <a:latin typeface="Consolas"/>
              </a:defRPr>
            </a:pPr>
            <a:r>
              <a:t>    "edit_grammar": false,</a:t>
            </a:r>
          </a:p>
          <a:p>
            <a:pPr algn="l">
              <a:lnSpc>
                <a:spcPts val="2145"/>
              </a:lnSpc>
              <a:spcBef>
                <a:spcPts val="0"/>
              </a:spcBef>
              <a:spcAft>
                <a:spcPts val="0"/>
              </a:spcAft>
              <a:defRPr sz="1850" b="0">
                <a:solidFill>
                  <a:srgbClr val="E0EFEB"/>
                </a:solidFill>
                <a:latin typeface="Consolas"/>
              </a:defRPr>
            </a:pPr>
            <a:r>
              <a:t>    "edit_recordings": false</a:t>
            </a:r>
          </a:p>
          <a:p>
            <a:pPr algn="l">
              <a:lnSpc>
                <a:spcPts val="2145"/>
              </a:lnSpc>
              <a:spcBef>
                <a:spcPts val="0"/>
              </a:spcBef>
              <a:spcAft>
                <a:spcPts val="0"/>
              </a:spcAft>
              <a:defRPr sz="1850" b="0">
                <a:solidFill>
                  <a:srgbClr val="E0EFEB"/>
                </a:solidFill>
                <a:latin typeface="Consolas"/>
              </a:defRPr>
            </a:pPr>
            <a:r>
              <a:t>  }</a:t>
            </a:r>
          </a:p>
          <a:p>
            <a:pPr algn="l">
              <a:lnSpc>
                <a:spcPts val="2145"/>
              </a:lnSpc>
              <a:spcBef>
                <a:spcPts val="0"/>
              </a:spcBef>
              <a:spcAft>
                <a:spcPts val="0"/>
              </a:spcAft>
              <a:defRPr sz="1850" b="0">
                <a:solidFill>
                  <a:srgbClr val="E0EFEB"/>
                </a:solidFill>
                <a:latin typeface="Consolas"/>
              </a:defRPr>
            </a:pPr>
            <a:r>
              <a:t>}</a:t>
            </a:r>
          </a:p>
        </p:txBody>
      </p:sp>
      <p:sp>
        <p:nvSpPr>
          <p:cNvPr id="10" name="Rectangle 9"/>
          <p:cNvSpPr/>
          <p:nvPr/>
        </p:nvSpPr>
        <p:spPr>
          <a:xfrm>
            <a:off x="8202168"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8385048" y="2093976"/>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Allowed</a:t>
            </a:r>
          </a:p>
        </p:txBody>
      </p:sp>
      <p:sp>
        <p:nvSpPr>
          <p:cNvPr id="12" name="body-8"/>
          <p:cNvSpPr txBox="1"/>
          <p:nvPr/>
        </p:nvSpPr>
        <p:spPr>
          <a:xfrm>
            <a:off x="8385048" y="2532888"/>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Analyze and retain tests.</a:t>
            </a:r>
          </a:p>
        </p:txBody>
      </p:sp>
      <p:sp>
        <p:nvSpPr>
          <p:cNvPr id="13" name="Rectangle 12"/>
          <p:cNvSpPr/>
          <p:nvPr/>
        </p:nvSpPr>
        <p:spPr>
          <a:xfrm>
            <a:off x="8202168" y="330708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8385048" y="3288792"/>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Protected</a:t>
            </a:r>
          </a:p>
        </p:txBody>
      </p:sp>
      <p:sp>
        <p:nvSpPr>
          <p:cNvPr id="15" name="body-10"/>
          <p:cNvSpPr txBox="1"/>
          <p:nvPr/>
        </p:nvSpPr>
        <p:spPr>
          <a:xfrm>
            <a:off x="8385048" y="3727703"/>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 data, grammar</a:t>
            </a:r>
          </a:p>
          <a:p>
            <a:pPr algn="l">
              <a:lnSpc>
                <a:spcPts val="2088"/>
              </a:lnSpc>
              <a:spcBef>
                <a:spcPts val="0"/>
              </a:spcBef>
              <a:spcAft>
                <a:spcPts val="0"/>
              </a:spcAft>
              <a:defRPr sz="1800" b="0">
                <a:solidFill>
                  <a:srgbClr val="587080"/>
                </a:solidFill>
                <a:latin typeface="Arial"/>
              </a:defRPr>
            </a:pPr>
            <a:r>
              <a:t>and recordings.</a:t>
            </a:r>
          </a:p>
        </p:txBody>
      </p:sp>
      <p:sp>
        <p:nvSpPr>
          <p:cNvPr id="16" name="Rectangle 15"/>
          <p:cNvSpPr/>
          <p:nvPr/>
        </p:nvSpPr>
        <p:spPr>
          <a:xfrm>
            <a:off x="8202168"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8385048" y="4483608"/>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Anonymous</a:t>
            </a:r>
          </a:p>
        </p:txBody>
      </p:sp>
      <p:sp>
        <p:nvSpPr>
          <p:cNvPr id="18" name="body-12"/>
          <p:cNvSpPr txBox="1"/>
          <p:nvPr/>
        </p:nvSpPr>
        <p:spPr>
          <a:xfrm>
            <a:off x="8385048" y="4922520"/>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No account or login is</a:t>
            </a:r>
          </a:p>
          <a:p>
            <a:pPr algn="l">
              <a:lnSpc>
                <a:spcPts val="2088"/>
              </a:lnSpc>
              <a:spcBef>
                <a:spcPts val="0"/>
              </a:spcBef>
              <a:spcAft>
                <a:spcPts val="0"/>
              </a:spcAft>
              <a:defRPr sz="1800" b="0">
                <a:solidFill>
                  <a:srgbClr val="587080"/>
                </a:solidFill>
                <a:latin typeface="Arial"/>
              </a:defRPr>
            </a:pPr>
            <a:r>
              <a:t>required.</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frontend/src/PublicSession.tsx</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047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57302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Errors tell the user what happened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failed request is not a success-shaped empty result.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4985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Status</a:t>
            </a:r>
          </a:p>
        </p:txBody>
      </p:sp>
      <p:sp>
        <p:nvSpPr>
          <p:cNvPr id="9" name="body-6"/>
          <p:cNvSpPr txBox="1"/>
          <p:nvPr/>
        </p:nvSpPr>
        <p:spPr>
          <a:xfrm>
            <a:off x="3467862"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Meaning in this workflow</a:t>
            </a:r>
          </a:p>
        </p:txBody>
      </p:sp>
      <p:sp>
        <p:nvSpPr>
          <p:cNvPr id="10" name="body-7"/>
          <p:cNvSpPr txBox="1"/>
          <p:nvPr/>
        </p:nvSpPr>
        <p:spPr>
          <a:xfrm>
            <a:off x="8237280" y="2093976"/>
            <a:ext cx="3275015"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Next step</a:t>
            </a:r>
          </a:p>
        </p:txBody>
      </p:sp>
      <p:sp>
        <p:nvSpPr>
          <p:cNvPr id="11" name="Rectangle 10"/>
          <p:cNvSpPr/>
          <p:nvPr/>
        </p:nvSpPr>
        <p:spPr>
          <a:xfrm>
            <a:off x="548640" y="2441448"/>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299466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403</a:t>
            </a:r>
          </a:p>
        </p:txBody>
      </p:sp>
      <p:sp>
        <p:nvSpPr>
          <p:cNvPr id="14" name="body-9"/>
          <p:cNvSpPr txBox="1"/>
          <p:nvPr/>
        </p:nvSpPr>
        <p:spPr>
          <a:xfrm>
            <a:off x="3467862" y="252374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Forbidden write or invalid Origin/CSRF</a:t>
            </a:r>
          </a:p>
        </p:txBody>
      </p:sp>
      <p:sp>
        <p:nvSpPr>
          <p:cNvPr id="15" name="body-10"/>
          <p:cNvSpPr txBox="1"/>
          <p:nvPr/>
        </p:nvSpPr>
        <p:spPr>
          <a:xfrm>
            <a:off x="8237280" y="2523744"/>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Respect the public boundary</a:t>
            </a:r>
          </a:p>
        </p:txBody>
      </p:sp>
      <p:sp>
        <p:nvSpPr>
          <p:cNvPr id="16" name="Rectangle 15"/>
          <p:cNvSpPr/>
          <p:nvPr/>
        </p:nvSpPr>
        <p:spPr>
          <a:xfrm>
            <a:off x="548640" y="2994660"/>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354787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076956"/>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404</a:t>
            </a:r>
          </a:p>
        </p:txBody>
      </p:sp>
      <p:sp>
        <p:nvSpPr>
          <p:cNvPr id="19" name="body-12"/>
          <p:cNvSpPr txBox="1"/>
          <p:nvPr/>
        </p:nvSpPr>
        <p:spPr>
          <a:xfrm>
            <a:off x="3467862" y="3076956"/>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Missing record or unavailable private API</a:t>
            </a:r>
          </a:p>
        </p:txBody>
      </p:sp>
      <p:sp>
        <p:nvSpPr>
          <p:cNvPr id="20" name="body-13"/>
          <p:cNvSpPr txBox="1"/>
          <p:nvPr/>
        </p:nvSpPr>
        <p:spPr>
          <a:xfrm>
            <a:off x="8237280" y="3076956"/>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Check the requested resource</a:t>
            </a:r>
          </a:p>
        </p:txBody>
      </p:sp>
      <p:sp>
        <p:nvSpPr>
          <p:cNvPr id="21" name="Rectangle 20"/>
          <p:cNvSpPr/>
          <p:nvPr/>
        </p:nvSpPr>
        <p:spPr>
          <a:xfrm>
            <a:off x="548640" y="3547872"/>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10108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3630168"/>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409</a:t>
            </a:r>
          </a:p>
        </p:txBody>
      </p:sp>
      <p:sp>
        <p:nvSpPr>
          <p:cNvPr id="24" name="body-15"/>
          <p:cNvSpPr txBox="1"/>
          <p:nvPr/>
        </p:nvSpPr>
        <p:spPr>
          <a:xfrm>
            <a:off x="3467862" y="3630168"/>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Stale grammar or conflicting retry payload</a:t>
            </a:r>
          </a:p>
        </p:txBody>
      </p:sp>
      <p:sp>
        <p:nvSpPr>
          <p:cNvPr id="25" name="body-16"/>
          <p:cNvSpPr txBox="1"/>
          <p:nvPr/>
        </p:nvSpPr>
        <p:spPr>
          <a:xfrm>
            <a:off x="8237280" y="3630168"/>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Refresh or reconcile the request</a:t>
            </a:r>
          </a:p>
        </p:txBody>
      </p:sp>
      <p:sp>
        <p:nvSpPr>
          <p:cNvPr id="26" name="Rectangle 25"/>
          <p:cNvSpPr/>
          <p:nvPr/>
        </p:nvSpPr>
        <p:spPr>
          <a:xfrm>
            <a:off x="548640" y="4101083"/>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465429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4183379"/>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422</a:t>
            </a:r>
          </a:p>
        </p:txBody>
      </p:sp>
      <p:sp>
        <p:nvSpPr>
          <p:cNvPr id="29" name="body-18"/>
          <p:cNvSpPr txBox="1"/>
          <p:nvPr/>
        </p:nvSpPr>
        <p:spPr>
          <a:xfrm>
            <a:off x="3467862" y="4183379"/>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Invalid request fields or bounds</a:t>
            </a:r>
          </a:p>
        </p:txBody>
      </p:sp>
      <p:sp>
        <p:nvSpPr>
          <p:cNvPr id="30" name="body-19"/>
          <p:cNvSpPr txBox="1"/>
          <p:nvPr/>
        </p:nvSpPr>
        <p:spPr>
          <a:xfrm>
            <a:off x="8237280" y="4183379"/>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Fix the submitted input</a:t>
            </a:r>
          </a:p>
        </p:txBody>
      </p:sp>
      <p:sp>
        <p:nvSpPr>
          <p:cNvPr id="31" name="Rectangle 30"/>
          <p:cNvSpPr/>
          <p:nvPr/>
        </p:nvSpPr>
        <p:spPr>
          <a:xfrm>
            <a:off x="548640" y="4654296"/>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548640" y="5207508"/>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body-20"/>
          <p:cNvSpPr txBox="1"/>
          <p:nvPr/>
        </p:nvSpPr>
        <p:spPr>
          <a:xfrm>
            <a:off x="694944" y="4736592"/>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429</a:t>
            </a:r>
          </a:p>
        </p:txBody>
      </p:sp>
      <p:sp>
        <p:nvSpPr>
          <p:cNvPr id="34" name="body-21"/>
          <p:cNvSpPr txBox="1"/>
          <p:nvPr/>
        </p:nvSpPr>
        <p:spPr>
          <a:xfrm>
            <a:off x="3467862" y="4736592"/>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Rate limit exceeded</a:t>
            </a:r>
          </a:p>
        </p:txBody>
      </p:sp>
      <p:sp>
        <p:nvSpPr>
          <p:cNvPr id="35" name="body-22"/>
          <p:cNvSpPr txBox="1"/>
          <p:nvPr/>
        </p:nvSpPr>
        <p:spPr>
          <a:xfrm>
            <a:off x="8237280" y="4736592"/>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Wait for Retry-After</a:t>
            </a:r>
          </a:p>
        </p:txBody>
      </p:sp>
      <p:sp>
        <p:nvSpPr>
          <p:cNvPr id="36" name="Rectangle 35"/>
          <p:cNvSpPr/>
          <p:nvPr/>
        </p:nvSpPr>
        <p:spPr>
          <a:xfrm>
            <a:off x="548640" y="5207508"/>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7" name="Connector 36"/>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body-23"/>
          <p:cNvSpPr txBox="1"/>
          <p:nvPr/>
        </p:nvSpPr>
        <p:spPr>
          <a:xfrm>
            <a:off x="694944" y="5289804"/>
            <a:ext cx="24985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503</a:t>
            </a:r>
          </a:p>
        </p:txBody>
      </p:sp>
      <p:sp>
        <p:nvSpPr>
          <p:cNvPr id="39" name="body-24"/>
          <p:cNvSpPr txBox="1"/>
          <p:nvPr/>
        </p:nvSpPr>
        <p:spPr>
          <a:xfrm>
            <a:off x="3467862" y="528980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Storage temporarily busy</a:t>
            </a:r>
          </a:p>
        </p:txBody>
      </p:sp>
      <p:sp>
        <p:nvSpPr>
          <p:cNvPr id="40" name="body-25"/>
          <p:cNvSpPr txBox="1"/>
          <p:nvPr/>
        </p:nvSpPr>
        <p:spPr>
          <a:xfrm>
            <a:off x="8237280" y="5289804"/>
            <a:ext cx="3275015"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Retry after the service recovers</a:t>
            </a:r>
          </a:p>
        </p:txBody>
      </p:sp>
      <p:cxnSp>
        <p:nvCxnSpPr>
          <p:cNvPr id="41" name="Connector 40"/>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42" name="footer-26"/>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43" name="source-27">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44" name="source-28">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45" name="source-29">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46" name="footer-30"/>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7" name="footer-31"/>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048 / 100</a:t>
            </a:r>
          </a:p>
        </p:txBody>
      </p:sp>
      <p:sp>
        <p:nvSpPr>
          <p:cNvPr id="48" name="Rectangle 47"/>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ectangle 48"/>
          <p:cNvSpPr/>
          <p:nvPr/>
        </p:nvSpPr>
        <p:spPr>
          <a:xfrm>
            <a:off x="0" y="6821424"/>
            <a:ext cx="58521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same workflow on a narrow screen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Responsive presentation without changing the permission model.</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94360"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77240" y="2093976"/>
            <a:ext cx="3511296"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Navigate</a:t>
            </a:r>
          </a:p>
        </p:txBody>
      </p:sp>
      <p:sp>
        <p:nvSpPr>
          <p:cNvPr id="9" name="body-6"/>
          <p:cNvSpPr txBox="1"/>
          <p:nvPr/>
        </p:nvSpPr>
        <p:spPr>
          <a:xfrm>
            <a:off x="777240" y="2532888"/>
            <a:ext cx="3493008" cy="68580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Page controls remain available.</a:t>
            </a:r>
          </a:p>
        </p:txBody>
      </p:sp>
      <p:sp>
        <p:nvSpPr>
          <p:cNvPr id="10" name="Rectangle 9"/>
          <p:cNvSpPr/>
          <p:nvPr/>
        </p:nvSpPr>
        <p:spPr>
          <a:xfrm>
            <a:off x="594360" y="330098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77240" y="3282696"/>
            <a:ext cx="3511296"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Read</a:t>
            </a:r>
          </a:p>
        </p:txBody>
      </p:sp>
      <p:sp>
        <p:nvSpPr>
          <p:cNvPr id="12" name="body-8"/>
          <p:cNvSpPr txBox="1"/>
          <p:nvPr/>
        </p:nvSpPr>
        <p:spPr>
          <a:xfrm>
            <a:off x="777240" y="3721608"/>
            <a:ext cx="3493008" cy="68580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Inputs and cards adapt to width.</a:t>
            </a:r>
          </a:p>
        </p:txBody>
      </p:sp>
      <p:sp>
        <p:nvSpPr>
          <p:cNvPr id="13" name="Rectangle 12"/>
          <p:cNvSpPr/>
          <p:nvPr/>
        </p:nvSpPr>
        <p:spPr>
          <a:xfrm>
            <a:off x="594360" y="448970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77240" y="4471416"/>
            <a:ext cx="3511296"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Same policy</a:t>
            </a:r>
          </a:p>
        </p:txBody>
      </p:sp>
      <p:sp>
        <p:nvSpPr>
          <p:cNvPr id="15" name="body-10"/>
          <p:cNvSpPr txBox="1"/>
          <p:nvPr/>
        </p:nvSpPr>
        <p:spPr>
          <a:xfrm>
            <a:off x="777240" y="4910328"/>
            <a:ext cx="3493008" cy="68580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 data remains</a:t>
            </a:r>
          </a:p>
          <a:p>
            <a:pPr algn="l">
              <a:lnSpc>
                <a:spcPts val="2088"/>
              </a:lnSpc>
              <a:spcBef>
                <a:spcPts val="0"/>
              </a:spcBef>
              <a:spcAft>
                <a:spcPts val="0"/>
              </a:spcAft>
              <a:defRPr sz="1800" b="0">
                <a:solidFill>
                  <a:srgbClr val="587080"/>
                </a:solidFill>
                <a:latin typeface="Arial"/>
              </a:defRPr>
            </a:pPr>
            <a:r>
              <a:t>read-only.</a:t>
            </a:r>
          </a:p>
        </p:txBody>
      </p:sp>
      <p:sp>
        <p:nvSpPr>
          <p:cNvPr id="16" name="Rounded Rectangle 15"/>
          <p:cNvSpPr/>
          <p:nvPr/>
        </p:nvSpPr>
        <p:spPr>
          <a:xfrm>
            <a:off x="5001768" y="1965960"/>
            <a:ext cx="2084831" cy="39136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analyzer-mobile.png"/>
          <p:cNvPicPr>
            <a:picLocks noChangeAspect="1"/>
          </p:cNvPicPr>
          <p:nvPr/>
        </p:nvPicPr>
        <p:blipFill>
          <a:blip r:embed="rId2"/>
          <a:stretch>
            <a:fillRect/>
          </a:stretch>
        </p:blipFill>
        <p:spPr>
          <a:xfrm>
            <a:off x="5192877" y="2075688"/>
            <a:ext cx="1702612" cy="3648456"/>
          </a:xfrm>
          <a:prstGeom prst="rect">
            <a:avLst/>
          </a:prstGeom>
        </p:spPr>
      </p:pic>
      <p:sp>
        <p:nvSpPr>
          <p:cNvPr id="18" name="Rounded Rectangle 17"/>
          <p:cNvSpPr/>
          <p:nvPr/>
        </p:nvSpPr>
        <p:spPr>
          <a:xfrm>
            <a:off x="8220456" y="1965960"/>
            <a:ext cx="2084831" cy="39136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collection-mobile.png"/>
          <p:cNvPicPr>
            <a:picLocks noChangeAspect="1"/>
          </p:cNvPicPr>
          <p:nvPr/>
        </p:nvPicPr>
        <p:blipFill>
          <a:blip r:embed="rId3"/>
          <a:stretch>
            <a:fillRect/>
          </a:stretch>
        </p:blipFill>
        <p:spPr>
          <a:xfrm>
            <a:off x="8411565" y="2075688"/>
            <a:ext cx="1702612" cy="3648456"/>
          </a:xfrm>
          <a:prstGeom prst="rect">
            <a:avLst/>
          </a:prstGeom>
        </p:spPr>
      </p:pic>
      <p:cxnSp>
        <p:nvCxnSpPr>
          <p:cNvPr id="20" name="Connector 19"/>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1"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2" name="source-12">
            <a:hlinkClick r:id="rId4"/>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23" name="source-13">
            <a:hlinkClick r:id="rId5"/>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4" name="source-14">
            <a:hlinkClick r:id="rId6"/>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25"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6"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049 / 100</a:t>
            </a:r>
          </a:p>
        </p:txBody>
      </p:sp>
      <p:sp>
        <p:nvSpPr>
          <p:cNvPr id="27" name="Rectangle 26"/>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0" y="6821424"/>
            <a:ext cx="59740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05 / BROWSER TO API</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Frontend file map: find the right layer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Open the smallest responsible surface first.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main.tsx</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Mount the public application.</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PublicSession.tsx</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Validate anonymous</a:t>
            </a:r>
          </a:p>
          <a:p>
            <a:pPr algn="l">
              <a:lnSpc>
                <a:spcPts val="2088"/>
              </a:lnSpc>
              <a:spcBef>
                <a:spcPts val="0"/>
              </a:spcBef>
              <a:spcAft>
                <a:spcPts val="0"/>
              </a:spcAft>
              <a:defRPr sz="1800" b="0">
                <a:solidFill>
                  <a:srgbClr val="587080"/>
                </a:solidFill>
                <a:latin typeface="Arial"/>
              </a:defRPr>
            </a:pPr>
            <a:r>
              <a:t>capabilities.</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App.tsx</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Navigation, handoff and</a:t>
            </a:r>
          </a:p>
          <a:p>
            <a:pPr algn="l">
              <a:lnSpc>
                <a:spcPts val="2088"/>
              </a:lnSpc>
              <a:spcBef>
                <a:spcPts val="0"/>
              </a:spcBef>
              <a:spcAft>
                <a:spcPts val="0"/>
              </a:spcAft>
              <a:defRPr sz="1800" b="0">
                <a:solidFill>
                  <a:srgbClr val="587080"/>
                </a:solidFill>
                <a:latin typeface="Arial"/>
              </a:defRPr>
            </a:pPr>
            <a:r>
              <a:t>shared shell.</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api.ts</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HTTP transport and CSRF.</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useRequest.ts</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Request lifecycle in React.</a:t>
            </a:r>
          </a:p>
        </p:txBody>
      </p:sp>
      <p:sp>
        <p:nvSpPr>
          <p:cNvPr id="32" name="Rounded Rectangle 31"/>
          <p:cNvSpPr/>
          <p:nvPr/>
        </p:nvSpPr>
        <p:spPr>
          <a:xfrm>
            <a:off x="8086344"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8086344"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aption-20"/>
          <p:cNvSpPr txBox="1"/>
          <p:nvPr/>
        </p:nvSpPr>
        <p:spPr>
          <a:xfrm>
            <a:off x="8296656"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35" name="body-21"/>
          <p:cNvSpPr txBox="1"/>
          <p:nvPr/>
        </p:nvSpPr>
        <p:spPr>
          <a:xfrm>
            <a:off x="8296656"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CourseworkResults.tsx</a:t>
            </a:r>
          </a:p>
        </p:txBody>
      </p:sp>
      <p:sp>
        <p:nvSpPr>
          <p:cNvPr id="36" name="body-22"/>
          <p:cNvSpPr txBox="1"/>
          <p:nvPr/>
        </p:nvSpPr>
        <p:spPr>
          <a:xfrm>
            <a:off x="8296656"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Render compiler evidence.</a:t>
            </a:r>
          </a:p>
        </p:txBody>
      </p:sp>
      <p:cxnSp>
        <p:nvCxnSpPr>
          <p:cNvPr id="37" name="Connector 3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footer-2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9" name="source-2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frontend/src/main.tsx</a:t>
            </a:r>
          </a:p>
        </p:txBody>
      </p:sp>
      <p:sp>
        <p:nvSpPr>
          <p:cNvPr id="40" name="source-2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frontend/src/PublicSession.tsx</a:t>
            </a:r>
          </a:p>
        </p:txBody>
      </p:sp>
      <p:sp>
        <p:nvSpPr>
          <p:cNvPr id="41" name="source-2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42" name="source-2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43" name="footer-2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4" name="footer-2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050 / 100</a:t>
            </a:r>
          </a:p>
        </p:txBody>
      </p:sp>
      <p:sp>
        <p:nvSpPr>
          <p:cNvPr id="45" name="Rectangle 4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0" y="6821424"/>
            <a:ext cx="6095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Words become a typed token stream</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lexer is the first algorithmic stage.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074920" y="1984248"/>
            <a:ext cx="6547104" cy="380390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illustration-tokens.png"/>
          <p:cNvPicPr>
            <a:picLocks noChangeAspect="1"/>
          </p:cNvPicPr>
          <p:nvPr/>
        </p:nvPicPr>
        <p:blipFill>
          <a:blip r:embed="rId2"/>
          <a:stretch>
            <a:fillRect/>
          </a:stretch>
        </p:blipFill>
        <p:spPr>
          <a:xfrm>
            <a:off x="5722837" y="2048256"/>
            <a:ext cx="5251268" cy="3675887"/>
          </a:xfrm>
          <a:prstGeom prst="rect">
            <a:avLst/>
          </a:prstGeom>
        </p:spPr>
      </p:pic>
      <p:sp>
        <p:nvSpPr>
          <p:cNvPr id="9" name="Rectangle 8"/>
          <p:cNvSpPr/>
          <p:nvPr/>
        </p:nvSpPr>
        <p:spPr>
          <a:xfrm>
            <a:off x="594360" y="209397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77240" y="207568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SEGMENT</a:t>
            </a:r>
          </a:p>
        </p:txBody>
      </p:sp>
      <p:sp>
        <p:nvSpPr>
          <p:cNvPr id="11" name="body-6"/>
          <p:cNvSpPr txBox="1"/>
          <p:nvPr/>
        </p:nvSpPr>
        <p:spPr>
          <a:xfrm>
            <a:off x="777240" y="251460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Recognize word forms, numbers and</a:t>
            </a:r>
          </a:p>
          <a:p>
            <a:pPr algn="l">
              <a:lnSpc>
                <a:spcPts val="2088"/>
              </a:lnSpc>
              <a:spcBef>
                <a:spcPts val="0"/>
              </a:spcBef>
              <a:spcAft>
                <a:spcPts val="0"/>
              </a:spcAft>
              <a:defRPr sz="1800" b="0">
                <a:solidFill>
                  <a:srgbClr val="587080"/>
                </a:solidFill>
                <a:latin typeface="Arial"/>
              </a:defRPr>
            </a:pPr>
            <a:r>
              <a:t>punctuation.</a:t>
            </a:r>
          </a:p>
        </p:txBody>
      </p:sp>
      <p:sp>
        <p:nvSpPr>
          <p:cNvPr id="12" name="Rectangle 11"/>
          <p:cNvSpPr/>
          <p:nvPr/>
        </p:nvSpPr>
        <p:spPr>
          <a:xfrm>
            <a:off x="594360" y="329793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777240" y="327964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CLASSIFY</a:t>
            </a:r>
          </a:p>
        </p:txBody>
      </p:sp>
      <p:sp>
        <p:nvSpPr>
          <p:cNvPr id="14" name="body-8"/>
          <p:cNvSpPr txBox="1"/>
          <p:nvPr/>
        </p:nvSpPr>
        <p:spPr>
          <a:xfrm>
            <a:off x="777240" y="371856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Assign a category using an ordered</a:t>
            </a:r>
          </a:p>
          <a:p>
            <a:pPr algn="l">
              <a:lnSpc>
                <a:spcPts val="2088"/>
              </a:lnSpc>
              <a:spcBef>
                <a:spcPts val="0"/>
              </a:spcBef>
              <a:spcAft>
                <a:spcPts val="0"/>
              </a:spcAft>
              <a:defRPr sz="1800" b="0">
                <a:solidFill>
                  <a:srgbClr val="587080"/>
                </a:solidFill>
                <a:latin typeface="Arial"/>
              </a:defRPr>
            </a:pPr>
            <a:r>
              <a:t>rule set.</a:t>
            </a:r>
          </a:p>
        </p:txBody>
      </p:sp>
      <p:sp>
        <p:nvSpPr>
          <p:cNvPr id="15" name="Rectangle 14"/>
          <p:cNvSpPr/>
          <p:nvPr/>
        </p:nvSpPr>
        <p:spPr>
          <a:xfrm>
            <a:off x="594360"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9"/>
          <p:cNvSpPr txBox="1"/>
          <p:nvPr/>
        </p:nvSpPr>
        <p:spPr>
          <a:xfrm>
            <a:off x="777240" y="448360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ANNOTATE</a:t>
            </a:r>
          </a:p>
        </p:txBody>
      </p:sp>
      <p:sp>
        <p:nvSpPr>
          <p:cNvPr id="17" name="body-10"/>
          <p:cNvSpPr txBox="1"/>
          <p:nvPr/>
        </p:nvSpPr>
        <p:spPr>
          <a:xfrm>
            <a:off x="777240" y="492252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Add language and phrase clues</a:t>
            </a:r>
          </a:p>
          <a:p>
            <a:pPr algn="l">
              <a:lnSpc>
                <a:spcPts val="2088"/>
              </a:lnSpc>
              <a:spcBef>
                <a:spcPts val="0"/>
              </a:spcBef>
              <a:spcAft>
                <a:spcPts val="0"/>
              </a:spcAft>
              <a:defRPr sz="1800" b="0">
                <a:solidFill>
                  <a:srgbClr val="587080"/>
                </a:solidFill>
                <a:latin typeface="Arial"/>
              </a:defRPr>
            </a:pPr>
            <a:r>
              <a:t>without deleting tokens.</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compiler/lexer/lexicon.py</a:t>
            </a:r>
          </a:p>
        </p:txBody>
      </p:sp>
      <p:sp>
        <p:nvSpPr>
          <p:cNvPr id="22"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051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62179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Read the real segmentation branches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TOKEN_SPLIT_RE preserves unsupported non-whitespace input.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1993392"/>
            <a:ext cx="7315200" cy="3794760"/>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aption-5"/>
          <p:cNvSpPr txBox="1"/>
          <p:nvPr/>
        </p:nvSpPr>
        <p:spPr>
          <a:xfrm>
            <a:off x="786384" y="2185416"/>
            <a:ext cx="6821424" cy="219456"/>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CBA261"/>
                </a:solidFill>
                <a:latin typeface="Arial"/>
              </a:defRPr>
            </a:pPr>
            <a:r>
              <a:t>SOURCE WALKTHROUGH / ABBREVIATED WHERE MARKED</a:t>
            </a:r>
          </a:p>
        </p:txBody>
      </p:sp>
      <p:sp>
        <p:nvSpPr>
          <p:cNvPr id="9" name="body-6"/>
          <p:cNvSpPr txBox="1"/>
          <p:nvPr/>
        </p:nvSpPr>
        <p:spPr>
          <a:xfrm>
            <a:off x="795528" y="2688336"/>
            <a:ext cx="6784848" cy="2779776"/>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E0EFEB"/>
                </a:solidFill>
                <a:latin typeface="Consolas"/>
              </a:defRPr>
            </a:pPr>
            <a:r>
              <a:t>WORD:   letters + internal joiners</a:t>
            </a:r>
          </a:p>
          <a:p>
            <a:pPr algn="l">
              <a:lnSpc>
                <a:spcPts val="2204"/>
              </a:lnSpc>
              <a:spcBef>
                <a:spcPts val="0"/>
              </a:spcBef>
              <a:spcAft>
                <a:spcPts val="0"/>
              </a:spcAft>
              <a:defRPr sz="1900" b="0">
                <a:solidFill>
                  <a:srgbClr val="E0EFEB"/>
                </a:solidFill>
                <a:latin typeface="Consolas"/>
              </a:defRPr>
            </a:pPr>
            <a:r>
              <a:t>NUMBER: \d+(?:[.,]\d+)?</a:t>
            </a:r>
          </a:p>
          <a:p>
            <a:pPr algn="l">
              <a:lnSpc>
                <a:spcPts val="2204"/>
              </a:lnSpc>
              <a:spcBef>
                <a:spcPts val="0"/>
              </a:spcBef>
              <a:spcAft>
                <a:spcPts val="0"/>
              </a:spcAft>
              <a:defRPr sz="1900" b="0">
                <a:solidFill>
                  <a:srgbClr val="E0EFEB"/>
                </a:solidFill>
                <a:latin typeface="Consolas"/>
              </a:defRPr>
            </a:pPr>
            <a:r>
              <a:t>PUNCT:  [.,!?;:\"()]</a:t>
            </a:r>
          </a:p>
          <a:p>
            <a:pPr algn="l">
              <a:lnSpc>
                <a:spcPts val="2204"/>
              </a:lnSpc>
              <a:spcBef>
                <a:spcPts val="0"/>
              </a:spcBef>
              <a:spcAft>
                <a:spcPts val="0"/>
              </a:spcAft>
              <a:defRPr sz="1900" b="0">
                <a:solidFill>
                  <a:srgbClr val="E0EFEB"/>
                </a:solidFill>
                <a:latin typeface="Consolas"/>
              </a:defRPr>
            </a:pPr>
            <a:r>
              <a:t>OTHER:  \S</a:t>
            </a:r>
          </a:p>
          <a:p>
            <a:pPr algn="l">
              <a:lnSpc>
                <a:spcPts val="2204"/>
              </a:lnSpc>
              <a:spcBef>
                <a:spcPts val="0"/>
              </a:spcBef>
              <a:spcAft>
                <a:spcPts val="0"/>
              </a:spcAft>
              <a:defRPr sz="1900" b="0">
                <a:solidFill>
                  <a:srgbClr val="E0EFEB"/>
                </a:solidFill>
                <a:latin typeface="Consolas"/>
              </a:defRPr>
            </a:pPr>
          </a:p>
          <a:p>
            <a:pPr algn="l">
              <a:lnSpc>
                <a:spcPts val="2204"/>
              </a:lnSpc>
              <a:spcBef>
                <a:spcPts val="0"/>
              </a:spcBef>
              <a:spcAft>
                <a:spcPts val="0"/>
              </a:spcAft>
              <a:defRPr sz="1900" b="0">
                <a:solidFill>
                  <a:srgbClr val="E0EFEB"/>
                </a:solidFill>
                <a:latin typeface="Consolas"/>
              </a:defRPr>
            </a:pPr>
            <a:r>
              <a:t>TOKEN_SPLIT_RE.findall(text)</a:t>
            </a:r>
          </a:p>
        </p:txBody>
      </p:sp>
      <p:sp>
        <p:nvSpPr>
          <p:cNvPr id="10" name="Rectangle 9"/>
          <p:cNvSpPr/>
          <p:nvPr/>
        </p:nvSpPr>
        <p:spPr>
          <a:xfrm>
            <a:off x="8202168"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8385048" y="2093976"/>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Ordered alternatives</a:t>
            </a:r>
          </a:p>
        </p:txBody>
      </p:sp>
      <p:sp>
        <p:nvSpPr>
          <p:cNvPr id="12" name="body-8"/>
          <p:cNvSpPr txBox="1"/>
          <p:nvPr/>
        </p:nvSpPr>
        <p:spPr>
          <a:xfrm>
            <a:off x="8385048" y="2532888"/>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Words, then numbers,</a:t>
            </a:r>
          </a:p>
          <a:p>
            <a:pPr algn="l">
              <a:lnSpc>
                <a:spcPts val="2088"/>
              </a:lnSpc>
              <a:spcBef>
                <a:spcPts val="0"/>
              </a:spcBef>
              <a:spcAft>
                <a:spcPts val="0"/>
              </a:spcAft>
              <a:defRPr sz="1800" b="0">
                <a:solidFill>
                  <a:srgbClr val="587080"/>
                </a:solidFill>
                <a:latin typeface="Arial"/>
              </a:defRPr>
            </a:pPr>
            <a:r>
              <a:t>punctuation and fallback.</a:t>
            </a:r>
          </a:p>
        </p:txBody>
      </p:sp>
      <p:sp>
        <p:nvSpPr>
          <p:cNvPr id="13" name="Rectangle 12"/>
          <p:cNvSpPr/>
          <p:nvPr/>
        </p:nvSpPr>
        <p:spPr>
          <a:xfrm>
            <a:off x="8202168" y="330708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8385048" y="3288792"/>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Whitespace</a:t>
            </a:r>
          </a:p>
        </p:txBody>
      </p:sp>
      <p:sp>
        <p:nvSpPr>
          <p:cNvPr id="15" name="body-10"/>
          <p:cNvSpPr txBox="1"/>
          <p:nvPr/>
        </p:nvSpPr>
        <p:spPr>
          <a:xfrm>
            <a:off x="8385048" y="3727703"/>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Skipped between matches.</a:t>
            </a:r>
          </a:p>
        </p:txBody>
      </p:sp>
      <p:sp>
        <p:nvSpPr>
          <p:cNvPr id="16" name="Rectangle 15"/>
          <p:cNvSpPr/>
          <p:nvPr/>
        </p:nvSpPr>
        <p:spPr>
          <a:xfrm>
            <a:off x="8202168"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8385048" y="4483608"/>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Fallback</a:t>
            </a:r>
          </a:p>
        </p:txBody>
      </p:sp>
      <p:sp>
        <p:nvSpPr>
          <p:cNvPr id="18" name="body-12"/>
          <p:cNvSpPr txBox="1"/>
          <p:nvPr/>
        </p:nvSpPr>
        <p:spPr>
          <a:xfrm>
            <a:off x="8385048" y="4922520"/>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An unsupported character</a:t>
            </a:r>
          </a:p>
          <a:p>
            <a:pPr algn="l">
              <a:lnSpc>
                <a:spcPts val="2088"/>
              </a:lnSpc>
              <a:spcBef>
                <a:spcPts val="0"/>
              </a:spcBef>
              <a:spcAft>
                <a:spcPts val="0"/>
              </a:spcAft>
              <a:defRPr sz="1800" b="0">
                <a:solidFill>
                  <a:srgbClr val="587080"/>
                </a:solidFill>
                <a:latin typeface="Arial"/>
              </a:defRPr>
            </a:pPr>
            <a:r>
              <a:t>survives for classification.</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2"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052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63398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Internal joiners belong to the word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Small boundary cases make the scanner behavior concrete.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4985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Raw input</a:t>
            </a:r>
          </a:p>
        </p:txBody>
      </p:sp>
      <p:sp>
        <p:nvSpPr>
          <p:cNvPr id="9" name="body-6"/>
          <p:cNvSpPr txBox="1"/>
          <p:nvPr/>
        </p:nvSpPr>
        <p:spPr>
          <a:xfrm>
            <a:off x="3467862"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Actual tokenization</a:t>
            </a:r>
          </a:p>
        </p:txBody>
      </p:sp>
      <p:sp>
        <p:nvSpPr>
          <p:cNvPr id="10" name="body-7"/>
          <p:cNvSpPr txBox="1"/>
          <p:nvPr/>
        </p:nvSpPr>
        <p:spPr>
          <a:xfrm>
            <a:off x="8237280" y="2093976"/>
            <a:ext cx="3275015"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Reason</a:t>
            </a:r>
          </a:p>
        </p:txBody>
      </p:sp>
      <p:sp>
        <p:nvSpPr>
          <p:cNvPr id="11" name="Rectangle 10"/>
          <p:cNvSpPr/>
          <p:nvPr/>
        </p:nvSpPr>
        <p:spPr>
          <a:xfrm>
            <a:off x="548640" y="2441448"/>
            <a:ext cx="11091672" cy="82981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3271265"/>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j'ai</a:t>
            </a:r>
          </a:p>
        </p:txBody>
      </p:sp>
      <p:sp>
        <p:nvSpPr>
          <p:cNvPr id="14" name="body-9"/>
          <p:cNvSpPr txBox="1"/>
          <p:nvPr/>
        </p:nvSpPr>
        <p:spPr>
          <a:xfrm>
            <a:off x="3467862" y="2523744"/>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[j'ai]</a:t>
            </a:r>
          </a:p>
        </p:txBody>
      </p:sp>
      <p:sp>
        <p:nvSpPr>
          <p:cNvPr id="15" name="body-10"/>
          <p:cNvSpPr txBox="1"/>
          <p:nvPr/>
        </p:nvSpPr>
        <p:spPr>
          <a:xfrm>
            <a:off x="8237280" y="2523744"/>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Internal apostrophe with</a:t>
            </a:r>
          </a:p>
          <a:p>
            <a:pPr algn="l">
              <a:lnSpc>
                <a:spcPts val="2029"/>
              </a:lnSpc>
              <a:spcBef>
                <a:spcPts val="0"/>
              </a:spcBef>
              <a:spcAft>
                <a:spcPts val="0"/>
              </a:spcAft>
              <a:defRPr sz="1750" b="0">
                <a:solidFill>
                  <a:srgbClr val="183747"/>
                </a:solidFill>
                <a:latin typeface="Arial"/>
              </a:defRPr>
            </a:pPr>
            <a:r>
              <a:t>continuation</a:t>
            </a:r>
          </a:p>
        </p:txBody>
      </p:sp>
      <p:sp>
        <p:nvSpPr>
          <p:cNvPr id="16" name="Rectangle 15"/>
          <p:cNvSpPr/>
          <p:nvPr/>
        </p:nvSpPr>
        <p:spPr>
          <a:xfrm>
            <a:off x="548640" y="3271265"/>
            <a:ext cx="11091672" cy="82981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410108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353561"/>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go-slow</a:t>
            </a:r>
          </a:p>
        </p:txBody>
      </p:sp>
      <p:sp>
        <p:nvSpPr>
          <p:cNvPr id="19" name="body-12"/>
          <p:cNvSpPr txBox="1"/>
          <p:nvPr/>
        </p:nvSpPr>
        <p:spPr>
          <a:xfrm>
            <a:off x="3467862" y="3353561"/>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[go-slow]</a:t>
            </a:r>
          </a:p>
        </p:txBody>
      </p:sp>
      <p:sp>
        <p:nvSpPr>
          <p:cNvPr id="20" name="body-13"/>
          <p:cNvSpPr txBox="1"/>
          <p:nvPr/>
        </p:nvSpPr>
        <p:spPr>
          <a:xfrm>
            <a:off x="8237280" y="3353561"/>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Internal hyphen with continuation</a:t>
            </a:r>
          </a:p>
        </p:txBody>
      </p:sp>
      <p:sp>
        <p:nvSpPr>
          <p:cNvPr id="21" name="Rectangle 20"/>
          <p:cNvSpPr/>
          <p:nvPr/>
        </p:nvSpPr>
        <p:spPr>
          <a:xfrm>
            <a:off x="548640" y="4101083"/>
            <a:ext cx="11091672" cy="82981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930901"/>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4183379"/>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a:t>
            </a:r>
          </a:p>
        </p:txBody>
      </p:sp>
      <p:sp>
        <p:nvSpPr>
          <p:cNvPr id="24" name="body-15"/>
          <p:cNvSpPr txBox="1"/>
          <p:nvPr/>
        </p:nvSpPr>
        <p:spPr>
          <a:xfrm>
            <a:off x="3467862" y="4183379"/>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 -]</a:t>
            </a:r>
          </a:p>
        </p:txBody>
      </p:sp>
      <p:sp>
        <p:nvSpPr>
          <p:cNvPr id="25" name="body-16"/>
          <p:cNvSpPr txBox="1"/>
          <p:nvPr/>
        </p:nvSpPr>
        <p:spPr>
          <a:xfrm>
            <a:off x="8237280" y="4183379"/>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Dangling hyphen cannot finish a</a:t>
            </a:r>
          </a:p>
          <a:p>
            <a:pPr algn="l">
              <a:lnSpc>
                <a:spcPts val="2029"/>
              </a:lnSpc>
              <a:spcBef>
                <a:spcPts val="0"/>
              </a:spcBef>
              <a:spcAft>
                <a:spcPts val="0"/>
              </a:spcAft>
              <a:defRPr sz="1750" b="0">
                <a:solidFill>
                  <a:srgbClr val="183747"/>
                </a:solidFill>
                <a:latin typeface="Arial"/>
              </a:defRPr>
            </a:pPr>
            <a:r>
              <a:t>word</a:t>
            </a:r>
          </a:p>
        </p:txBody>
      </p:sp>
      <p:sp>
        <p:nvSpPr>
          <p:cNvPr id="26" name="Rectangle 25"/>
          <p:cNvSpPr/>
          <p:nvPr/>
        </p:nvSpPr>
        <p:spPr>
          <a:xfrm>
            <a:off x="548640" y="4930902"/>
            <a:ext cx="11091672" cy="82981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5013198"/>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a--b</a:t>
            </a:r>
          </a:p>
        </p:txBody>
      </p:sp>
      <p:sp>
        <p:nvSpPr>
          <p:cNvPr id="29" name="body-18"/>
          <p:cNvSpPr txBox="1"/>
          <p:nvPr/>
        </p:nvSpPr>
        <p:spPr>
          <a:xfrm>
            <a:off x="3467862" y="5013198"/>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 -, -, b]</a:t>
            </a:r>
          </a:p>
        </p:txBody>
      </p:sp>
      <p:sp>
        <p:nvSpPr>
          <p:cNvPr id="30" name="body-19"/>
          <p:cNvSpPr txBox="1"/>
          <p:nvPr/>
        </p:nvSpPr>
        <p:spPr>
          <a:xfrm>
            <a:off x="8237280" y="5013198"/>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Repeated joiners break the word</a:t>
            </a:r>
          </a:p>
          <a:p>
            <a:pPr algn="l">
              <a:lnSpc>
                <a:spcPts val="2029"/>
              </a:lnSpc>
              <a:spcBef>
                <a:spcPts val="0"/>
              </a:spcBef>
              <a:spcAft>
                <a:spcPts val="0"/>
              </a:spcAft>
              <a:defRPr sz="1750" b="0">
                <a:solidFill>
                  <a:srgbClr val="183747"/>
                </a:solidFill>
                <a:latin typeface="Arial"/>
              </a:defRPr>
            </a:pPr>
            <a:r>
              <a:t>path</a:t>
            </a:r>
          </a:p>
        </p:txBody>
      </p:sp>
      <p:cxnSp>
        <p:nvCxnSpPr>
          <p:cNvPr id="31" name="Connector 30"/>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2" name="footer-20"/>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3" name="source-21">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4" name="source-22">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tools/tests/test_report_evidence.py</a:t>
            </a:r>
          </a:p>
        </p:txBody>
      </p:sp>
      <p:sp>
        <p:nvSpPr>
          <p:cNvPr id="35"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6"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053 / 100</a:t>
            </a:r>
          </a:p>
        </p:txBody>
      </p:sp>
      <p:sp>
        <p:nvSpPr>
          <p:cNvPr id="37" name="Rectangle 36"/>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0" y="6821424"/>
            <a:ext cx="64617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Numbers are not signed literals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decimal branch requires digits on both sides of a separator.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4985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Raw input</a:t>
            </a:r>
          </a:p>
        </p:txBody>
      </p:sp>
      <p:sp>
        <p:nvSpPr>
          <p:cNvPr id="9" name="body-6"/>
          <p:cNvSpPr txBox="1"/>
          <p:nvPr/>
        </p:nvSpPr>
        <p:spPr>
          <a:xfrm>
            <a:off x="3467862"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Actual tokens</a:t>
            </a:r>
          </a:p>
        </p:txBody>
      </p:sp>
      <p:sp>
        <p:nvSpPr>
          <p:cNvPr id="10" name="body-7"/>
          <p:cNvSpPr txBox="1"/>
          <p:nvPr/>
        </p:nvSpPr>
        <p:spPr>
          <a:xfrm>
            <a:off x="8237280" y="2093976"/>
            <a:ext cx="3275015"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Interpretation</a:t>
            </a:r>
          </a:p>
        </p:txBody>
      </p:sp>
      <p:sp>
        <p:nvSpPr>
          <p:cNvPr id="11" name="Rectangle 10"/>
          <p:cNvSpPr/>
          <p:nvPr/>
        </p:nvSpPr>
        <p:spPr>
          <a:xfrm>
            <a:off x="548640" y="2441448"/>
            <a:ext cx="11091672" cy="82981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3271265"/>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3.14</a:t>
            </a:r>
          </a:p>
        </p:txBody>
      </p:sp>
      <p:sp>
        <p:nvSpPr>
          <p:cNvPr id="14" name="body-9"/>
          <p:cNvSpPr txBox="1"/>
          <p:nvPr/>
        </p:nvSpPr>
        <p:spPr>
          <a:xfrm>
            <a:off x="3467862" y="2523744"/>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[3.14]</a:t>
            </a:r>
          </a:p>
        </p:txBody>
      </p:sp>
      <p:sp>
        <p:nvSpPr>
          <p:cNvPr id="15" name="body-10"/>
          <p:cNvSpPr txBox="1"/>
          <p:nvPr/>
        </p:nvSpPr>
        <p:spPr>
          <a:xfrm>
            <a:off x="8237280" y="2523744"/>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One decimal-number token</a:t>
            </a:r>
          </a:p>
        </p:txBody>
      </p:sp>
      <p:sp>
        <p:nvSpPr>
          <p:cNvPr id="16" name="Rectangle 15"/>
          <p:cNvSpPr/>
          <p:nvPr/>
        </p:nvSpPr>
        <p:spPr>
          <a:xfrm>
            <a:off x="548640" y="3271265"/>
            <a:ext cx="11091672" cy="82981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410108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353561"/>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3.</a:t>
            </a:r>
          </a:p>
        </p:txBody>
      </p:sp>
      <p:sp>
        <p:nvSpPr>
          <p:cNvPr id="19" name="body-12"/>
          <p:cNvSpPr txBox="1"/>
          <p:nvPr/>
        </p:nvSpPr>
        <p:spPr>
          <a:xfrm>
            <a:off x="3467862" y="3353561"/>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[3, .]</a:t>
            </a:r>
          </a:p>
        </p:txBody>
      </p:sp>
      <p:sp>
        <p:nvSpPr>
          <p:cNvPr id="20" name="body-13"/>
          <p:cNvSpPr txBox="1"/>
          <p:nvPr/>
        </p:nvSpPr>
        <p:spPr>
          <a:xfrm>
            <a:off x="8237280" y="3353561"/>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Integer followed by punctuation</a:t>
            </a:r>
          </a:p>
        </p:txBody>
      </p:sp>
      <p:sp>
        <p:nvSpPr>
          <p:cNvPr id="21" name="Rectangle 20"/>
          <p:cNvSpPr/>
          <p:nvPr/>
        </p:nvSpPr>
        <p:spPr>
          <a:xfrm>
            <a:off x="548640" y="4101083"/>
            <a:ext cx="11091672" cy="82981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930901"/>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4183379"/>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.5</a:t>
            </a:r>
          </a:p>
        </p:txBody>
      </p:sp>
      <p:sp>
        <p:nvSpPr>
          <p:cNvPr id="24" name="body-15"/>
          <p:cNvSpPr txBox="1"/>
          <p:nvPr/>
        </p:nvSpPr>
        <p:spPr>
          <a:xfrm>
            <a:off x="3467862" y="4183379"/>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 5]</a:t>
            </a:r>
          </a:p>
        </p:txBody>
      </p:sp>
      <p:sp>
        <p:nvSpPr>
          <p:cNvPr id="25" name="body-16"/>
          <p:cNvSpPr txBox="1"/>
          <p:nvPr/>
        </p:nvSpPr>
        <p:spPr>
          <a:xfrm>
            <a:off x="8237280" y="4183379"/>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Leading punctuation and integer</a:t>
            </a:r>
          </a:p>
        </p:txBody>
      </p:sp>
      <p:sp>
        <p:nvSpPr>
          <p:cNvPr id="26" name="Rectangle 25"/>
          <p:cNvSpPr/>
          <p:nvPr/>
        </p:nvSpPr>
        <p:spPr>
          <a:xfrm>
            <a:off x="548640" y="4930902"/>
            <a:ext cx="11091672" cy="82981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5013198"/>
            <a:ext cx="24985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-5</a:t>
            </a:r>
          </a:p>
        </p:txBody>
      </p:sp>
      <p:sp>
        <p:nvSpPr>
          <p:cNvPr id="29" name="body-18"/>
          <p:cNvSpPr txBox="1"/>
          <p:nvPr/>
        </p:nvSpPr>
        <p:spPr>
          <a:xfrm>
            <a:off x="3467862" y="5013198"/>
            <a:ext cx="4495098"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 5]</a:t>
            </a:r>
          </a:p>
        </p:txBody>
      </p:sp>
      <p:sp>
        <p:nvSpPr>
          <p:cNvPr id="30" name="body-19"/>
          <p:cNvSpPr txBox="1"/>
          <p:nvPr/>
        </p:nvSpPr>
        <p:spPr>
          <a:xfrm>
            <a:off x="8237280" y="5013198"/>
            <a:ext cx="3275015" cy="71094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Other character followed by</a:t>
            </a:r>
          </a:p>
          <a:p>
            <a:pPr algn="l">
              <a:lnSpc>
                <a:spcPts val="2029"/>
              </a:lnSpc>
              <a:spcBef>
                <a:spcPts val="0"/>
              </a:spcBef>
              <a:spcAft>
                <a:spcPts val="0"/>
              </a:spcAft>
              <a:defRPr sz="1750" b="0">
                <a:solidFill>
                  <a:srgbClr val="183747"/>
                </a:solidFill>
                <a:latin typeface="Arial"/>
              </a:defRPr>
            </a:pPr>
            <a:r>
              <a:t>integer</a:t>
            </a:r>
          </a:p>
        </p:txBody>
      </p:sp>
      <p:cxnSp>
        <p:nvCxnSpPr>
          <p:cNvPr id="31" name="Connector 30"/>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2" name="footer-20"/>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3" name="source-21">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4" name="source-22">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docs/report-data/lexer-controls.tex</a:t>
            </a:r>
          </a:p>
        </p:txBody>
      </p:sp>
      <p:sp>
        <p:nvSpPr>
          <p:cNvPr id="35"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6"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054 / 100</a:t>
            </a:r>
          </a:p>
        </p:txBody>
      </p:sp>
      <p:sp>
        <p:nvSpPr>
          <p:cNvPr id="37" name="Rectangle 36"/>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0" y="6821424"/>
            <a:ext cx="65836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Unicode details change the boundary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Not every apostrophe-like character takes the same transition.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U+0027 / U+2018 / U+2019</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Pending joiners outside the word</a:t>
            </a:r>
          </a:p>
          <a:p>
            <a:pPr algn="l">
              <a:lnSpc>
                <a:spcPts val="2552"/>
              </a:lnSpc>
              <a:spcBef>
                <a:spcPts val="0"/>
              </a:spcBef>
              <a:spcAft>
                <a:spcPts val="0"/>
              </a:spcAft>
              <a:defRPr sz="2200" b="0">
                <a:solidFill>
                  <a:srgbClr val="D1E2E1"/>
                </a:solidFill>
                <a:latin typeface="Arial"/>
              </a:defRPr>
            </a:pPr>
            <a:r>
              <a:t>class.</a:t>
            </a:r>
          </a:p>
          <a:p>
            <a:pPr algn="l">
              <a:lnSpc>
                <a:spcPts val="2552"/>
              </a:lnSpc>
              <a:spcBef>
                <a:spcPts val="0"/>
              </a:spcBef>
              <a:spcAft>
                <a:spcPts val="0"/>
              </a:spcAft>
              <a:defRPr sz="2200" b="0">
                <a:solidFill>
                  <a:srgbClr val="D1E2E1"/>
                </a:solidFill>
                <a:latin typeface="Arial"/>
              </a:defRPr>
            </a:pPr>
            <a:r>
              <a:t>Need a following word character.</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U+02BC</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Already belongs to Python's</a:t>
            </a:r>
          </a:p>
          <a:p>
            <a:pPr algn="l">
              <a:lnSpc>
                <a:spcPts val="2552"/>
              </a:lnSpc>
              <a:spcBef>
                <a:spcPts val="0"/>
              </a:spcBef>
              <a:spcAft>
                <a:spcPts val="0"/>
              </a:spcAft>
              <a:defRPr sz="2200" b="0">
                <a:solidFill>
                  <a:srgbClr val="587080"/>
                </a:solidFill>
                <a:latin typeface="Arial"/>
              </a:defRPr>
            </a:pPr>
            <a:r>
              <a:t>word-character class.</a:t>
            </a:r>
          </a:p>
          <a:p>
            <a:pPr algn="l">
              <a:lnSpc>
                <a:spcPts val="2552"/>
              </a:lnSpc>
              <a:spcBef>
                <a:spcPts val="0"/>
              </a:spcBef>
              <a:spcAft>
                <a:spcPts val="0"/>
              </a:spcAft>
              <a:defRPr sz="2200" b="0">
                <a:solidFill>
                  <a:srgbClr val="587080"/>
                </a:solidFill>
                <a:latin typeface="Arial"/>
              </a:defRPr>
            </a:pPr>
            <a:r>
              <a:t>Follows the C edges, even at a</a:t>
            </a:r>
          </a:p>
          <a:p>
            <a:pPr algn="l">
              <a:lnSpc>
                <a:spcPts val="2552"/>
              </a:lnSpc>
              <a:spcBef>
                <a:spcPts val="0"/>
              </a:spcBef>
              <a:spcAft>
                <a:spcPts val="0"/>
              </a:spcAft>
              <a:defRPr sz="2200" b="0">
                <a:solidFill>
                  <a:srgbClr val="587080"/>
                </a:solidFill>
                <a:latin typeface="Arial"/>
              </a:defRPr>
            </a:pPr>
            <a:r>
              <a:t>boundary.</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compiler/lexer/lexicon.py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tools/tests/test_report_evidence.py</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055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67055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Classification is ordered, not voted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first applicable rule determines the token category.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1993392"/>
            <a:ext cx="11082528" cy="576071"/>
          </a:xfrm>
          <a:prstGeom prst="roundRect">
            <a:avLst>
              <a:gd name="adj" fmla="val 11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58952" y="2148840"/>
            <a:ext cx="3794760" cy="420623"/>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01 / Structural</a:t>
            </a:r>
          </a:p>
        </p:txBody>
      </p:sp>
      <p:sp>
        <p:nvSpPr>
          <p:cNvPr id="9" name="body-6"/>
          <p:cNvSpPr txBox="1"/>
          <p:nvPr/>
        </p:nvSpPr>
        <p:spPr>
          <a:xfrm>
            <a:off x="4700016" y="2148840"/>
            <a:ext cx="6647688" cy="42976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NUMBER and PUNCTUATION regex matches.</a:t>
            </a:r>
          </a:p>
        </p:txBody>
      </p:sp>
      <p:sp>
        <p:nvSpPr>
          <p:cNvPr id="10" name="Rounded Rectangle 9"/>
          <p:cNvSpPr/>
          <p:nvPr/>
        </p:nvSpPr>
        <p:spPr>
          <a:xfrm>
            <a:off x="548640" y="2624328"/>
            <a:ext cx="11082528" cy="576071"/>
          </a:xfrm>
          <a:prstGeom prst="roundRect">
            <a:avLst>
              <a:gd name="adj" fmla="val 11000"/>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58952" y="2779776"/>
            <a:ext cx="3794760" cy="420623"/>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02 / Reviewed</a:t>
            </a:r>
          </a:p>
        </p:txBody>
      </p:sp>
      <p:sp>
        <p:nvSpPr>
          <p:cNvPr id="12" name="body-8"/>
          <p:cNvSpPr txBox="1"/>
          <p:nvPr/>
        </p:nvSpPr>
        <p:spPr>
          <a:xfrm>
            <a:off x="4700016" y="2779776"/>
            <a:ext cx="6647688" cy="42976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Compatible approved Word annotations.</a:t>
            </a:r>
          </a:p>
        </p:txBody>
      </p:sp>
      <p:sp>
        <p:nvSpPr>
          <p:cNvPr id="13" name="Rounded Rectangle 12"/>
          <p:cNvSpPr/>
          <p:nvPr/>
        </p:nvSpPr>
        <p:spPr>
          <a:xfrm>
            <a:off x="548640" y="3255264"/>
            <a:ext cx="11082528" cy="576071"/>
          </a:xfrm>
          <a:prstGeom prst="roundRect">
            <a:avLst>
              <a:gd name="adj" fmla="val 11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58952" y="3410712"/>
            <a:ext cx="3794760" cy="420623"/>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03 / Explicit lists</a:t>
            </a:r>
          </a:p>
        </p:txBody>
      </p:sp>
      <p:sp>
        <p:nvSpPr>
          <p:cNvPr id="15" name="body-10"/>
          <p:cNvSpPr txBox="1"/>
          <p:nvPr/>
        </p:nvSpPr>
        <p:spPr>
          <a:xfrm>
            <a:off x="4700016" y="3410712"/>
            <a:ext cx="6647688" cy="42976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Slang, Pidgin, nouns, verbs and function words.</a:t>
            </a:r>
          </a:p>
        </p:txBody>
      </p:sp>
      <p:sp>
        <p:nvSpPr>
          <p:cNvPr id="16" name="Rounded Rectangle 15"/>
          <p:cNvSpPr/>
          <p:nvPr/>
        </p:nvSpPr>
        <p:spPr>
          <a:xfrm>
            <a:off x="548640" y="3886200"/>
            <a:ext cx="11082528" cy="576071"/>
          </a:xfrm>
          <a:prstGeom prst="roundRect">
            <a:avLst>
              <a:gd name="adj" fmla="val 11000"/>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758952" y="4041648"/>
            <a:ext cx="3794760" cy="420623"/>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04 / Supplied reference</a:t>
            </a:r>
          </a:p>
        </p:txBody>
      </p:sp>
      <p:sp>
        <p:nvSpPr>
          <p:cNvPr id="18" name="body-12"/>
          <p:cNvSpPr txBox="1"/>
          <p:nvPr/>
        </p:nvSpPr>
        <p:spPr>
          <a:xfrm>
            <a:off x="4700016" y="4041648"/>
            <a:ext cx="6647688" cy="42976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One category, or AMBIGUOUS for conflicting labels.</a:t>
            </a:r>
          </a:p>
        </p:txBody>
      </p:sp>
      <p:sp>
        <p:nvSpPr>
          <p:cNvPr id="19" name="Rounded Rectangle 18"/>
          <p:cNvSpPr/>
          <p:nvPr/>
        </p:nvSpPr>
        <p:spPr>
          <a:xfrm>
            <a:off x="548640" y="4517136"/>
            <a:ext cx="11082528" cy="576071"/>
          </a:xfrm>
          <a:prstGeom prst="roundRect">
            <a:avLst>
              <a:gd name="adj" fmla="val 11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body-13"/>
          <p:cNvSpPr txBox="1"/>
          <p:nvPr/>
        </p:nvSpPr>
        <p:spPr>
          <a:xfrm>
            <a:off x="758952" y="4672583"/>
            <a:ext cx="3794760" cy="420623"/>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05 / Later fallbacks</a:t>
            </a:r>
          </a:p>
        </p:txBody>
      </p:sp>
      <p:sp>
        <p:nvSpPr>
          <p:cNvPr id="21" name="body-14"/>
          <p:cNvSpPr txBox="1"/>
          <p:nvPr/>
        </p:nvSpPr>
        <p:spPr>
          <a:xfrm>
            <a:off x="4700016" y="4672583"/>
            <a:ext cx="6647688" cy="42976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Observed French forms, then suffix heuristics.</a:t>
            </a:r>
          </a:p>
        </p:txBody>
      </p:sp>
      <p:sp>
        <p:nvSpPr>
          <p:cNvPr id="22" name="Rounded Rectangle 21"/>
          <p:cNvSpPr/>
          <p:nvPr/>
        </p:nvSpPr>
        <p:spPr>
          <a:xfrm>
            <a:off x="548640" y="5148072"/>
            <a:ext cx="11082528" cy="576071"/>
          </a:xfrm>
          <a:prstGeom prst="roundRect">
            <a:avLst>
              <a:gd name="adj" fmla="val 11000"/>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5"/>
          <p:cNvSpPr txBox="1"/>
          <p:nvPr/>
        </p:nvSpPr>
        <p:spPr>
          <a:xfrm>
            <a:off x="758952" y="5303520"/>
            <a:ext cx="3794760" cy="420623"/>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06 / Unresolved</a:t>
            </a:r>
          </a:p>
        </p:txBody>
      </p:sp>
      <p:sp>
        <p:nvSpPr>
          <p:cNvPr id="24" name="body-16"/>
          <p:cNvSpPr txBox="1"/>
          <p:nvPr/>
        </p:nvSpPr>
        <p:spPr>
          <a:xfrm>
            <a:off x="4700016" y="5303520"/>
            <a:ext cx="6647688" cy="42976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UNKNOWN if no rule applies.</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8">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8" name="source-19">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compiler/lexer/learned.py</a:t>
            </a:r>
          </a:p>
        </p:txBody>
      </p:sp>
      <p:sp>
        <p:nvSpPr>
          <p:cNvPr id="29" name="source-20">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compiler/lexer/reference.py</a:t>
            </a:r>
          </a:p>
        </p:txBody>
      </p:sp>
      <p:sp>
        <p:nvSpPr>
          <p:cNvPr id="30" name="footer-21"/>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22"/>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056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68275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AMBIGUOUS is not UNKNOWN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Preserve uncertainty instead of pretending all labels mean the same thing.</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AMBIGUOUS</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The supplied reference has conflicting</a:t>
            </a:r>
          </a:p>
          <a:p>
            <a:pPr algn="l">
              <a:lnSpc>
                <a:spcPts val="2552"/>
              </a:lnSpc>
              <a:spcBef>
                <a:spcPts val="0"/>
              </a:spcBef>
              <a:spcAft>
                <a:spcPts val="0"/>
              </a:spcAft>
              <a:defRPr sz="2200" b="0">
                <a:solidFill>
                  <a:srgbClr val="D1E2E1"/>
                </a:solidFill>
                <a:latin typeface="Arial"/>
              </a:defRPr>
            </a:pPr>
            <a:r>
              <a:t>categories.</a:t>
            </a:r>
          </a:p>
          <a:p>
            <a:pPr algn="l">
              <a:lnSpc>
                <a:spcPts val="2552"/>
              </a:lnSpc>
              <a:spcBef>
                <a:spcPts val="0"/>
              </a:spcBef>
              <a:spcAft>
                <a:spcPts val="0"/>
              </a:spcAft>
              <a:defRPr sz="2200" b="0">
                <a:solidFill>
                  <a:srgbClr val="D1E2E1"/>
                </a:solidFill>
                <a:latin typeface="Arial"/>
              </a:defRPr>
            </a:pPr>
            <a:r>
              <a:t>It is a known label, not a wildcard.</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UNKNOWN</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No supported classification matched.</a:t>
            </a:r>
          </a:p>
          <a:p>
            <a:pPr algn="l">
              <a:lnSpc>
                <a:spcPts val="2552"/>
              </a:lnSpc>
              <a:spcBef>
                <a:spcPts val="0"/>
              </a:spcBef>
              <a:spcAft>
                <a:spcPts val="0"/>
              </a:spcAft>
              <a:defRPr sz="2200" b="0">
                <a:solidFill>
                  <a:srgbClr val="587080"/>
                </a:solidFill>
                <a:latin typeface="Arial"/>
              </a:defRPr>
            </a:pPr>
            <a:r>
              <a:t>It fails vocabulary approval.</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057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69494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Normalize for matching. Preserve for evidence.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comparison key and the raw text serve different purposes.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RAW</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J'ai</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MATCHING KEY</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j'ai</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LOOKUP</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Apply category rules</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SAVED TEXT</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J'ai remains</a:t>
            </a:r>
          </a:p>
          <a:p>
            <a:pPr algn="l">
              <a:lnSpc>
                <a:spcPts val="2088"/>
              </a:lnSpc>
              <a:spcBef>
                <a:spcPts val="0"/>
              </a:spcBef>
              <a:spcAft>
                <a:spcPts val="0"/>
              </a:spcAft>
              <a:defRPr sz="1800" b="0">
                <a:solidFill>
                  <a:srgbClr val="587080"/>
                </a:solidFill>
                <a:latin typeface="Arial"/>
              </a:defRPr>
            </a:pPr>
            <a:r>
              <a:t>unchanged</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compiler/lexer/vocabulary.py</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32"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3"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058 / 100</a:t>
            </a:r>
          </a:p>
        </p:txBody>
      </p:sp>
      <p:sp>
        <p:nvSpPr>
          <p:cNvPr id="34" name="Rectangle 3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0" y="6821424"/>
            <a:ext cx="70713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Language clues and phrases are annotations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Additional evidence must not collapse the token stream.</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68096"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68096"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01</a:t>
            </a:r>
          </a:p>
        </p:txBody>
      </p:sp>
      <p:sp>
        <p:nvSpPr>
          <p:cNvPr id="11" name="body-6"/>
          <p:cNvSpPr txBox="1"/>
          <p:nvPr/>
        </p:nvSpPr>
        <p:spPr>
          <a:xfrm>
            <a:off x="795528"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LANGUAGE CLUES</a:t>
            </a:r>
          </a:p>
        </p:txBody>
      </p:sp>
      <p:sp>
        <p:nvSpPr>
          <p:cNvPr id="12" name="body-7"/>
          <p:cNvSpPr txBox="1"/>
          <p:nvPr/>
        </p:nvSpPr>
        <p:spPr>
          <a:xfrm>
            <a:off x="795528"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Compare</a:t>
            </a:r>
          </a:p>
          <a:p>
            <a:pPr algn="l">
              <a:lnSpc>
                <a:spcPts val="2320"/>
              </a:lnSpc>
              <a:spcBef>
                <a:spcPts val="0"/>
              </a:spcBef>
              <a:spcAft>
                <a:spcPts val="0"/>
              </a:spcAft>
              <a:defRPr sz="2000" b="0">
                <a:solidFill>
                  <a:srgbClr val="587080"/>
                </a:solidFill>
                <a:latin typeface="Arial"/>
              </a:defRPr>
            </a:pPr>
            <a:r>
              <a:t>candidate-language sets;</a:t>
            </a:r>
          </a:p>
          <a:p>
            <a:pPr algn="l">
              <a:lnSpc>
                <a:spcPts val="2320"/>
              </a:lnSpc>
              <a:spcBef>
                <a:spcPts val="0"/>
              </a:spcBef>
              <a:spcAft>
                <a:spcPts val="0"/>
              </a:spcAft>
              <a:defRPr sz="2000" b="0">
                <a:solidFill>
                  <a:srgbClr val="587080"/>
                </a:solidFill>
                <a:latin typeface="Arial"/>
              </a:defRPr>
            </a:pPr>
            <a:r>
              <a:t>retain uncertainty.</a:t>
            </a:r>
          </a:p>
        </p:txBody>
      </p:sp>
      <p:sp>
        <p:nvSpPr>
          <p:cNvPr id="13" name="Rounded Rectangle 12"/>
          <p:cNvSpPr/>
          <p:nvPr/>
        </p:nvSpPr>
        <p:spPr>
          <a:xfrm>
            <a:off x="4312920"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12920" y="2029968"/>
            <a:ext cx="50292" cy="36850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541520"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8"/>
          <p:cNvSpPr txBox="1"/>
          <p:nvPr/>
        </p:nvSpPr>
        <p:spPr>
          <a:xfrm>
            <a:off x="4541520"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02</a:t>
            </a:r>
          </a:p>
        </p:txBody>
      </p:sp>
      <p:sp>
        <p:nvSpPr>
          <p:cNvPr id="17" name="body-9"/>
          <p:cNvSpPr txBox="1"/>
          <p:nvPr/>
        </p:nvSpPr>
        <p:spPr>
          <a:xfrm>
            <a:off x="4568952"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SENTENCE</a:t>
            </a:r>
          </a:p>
          <a:p>
            <a:pPr algn="l">
              <a:lnSpc>
                <a:spcPts val="2552"/>
              </a:lnSpc>
              <a:spcBef>
                <a:spcPts val="0"/>
              </a:spcBef>
              <a:spcAft>
                <a:spcPts val="0"/>
              </a:spcAft>
              <a:defRPr sz="2200" b="1">
                <a:solidFill>
                  <a:srgbClr val="183747"/>
                </a:solidFill>
                <a:latin typeface="Arial"/>
              </a:defRPr>
            </a:pPr>
            <a:r>
              <a:t>BOUNDARIES</a:t>
            </a:r>
          </a:p>
        </p:txBody>
      </p:sp>
      <p:sp>
        <p:nvSpPr>
          <p:cNvPr id="18" name="body-10"/>
          <p:cNvSpPr txBox="1"/>
          <p:nvPr/>
        </p:nvSpPr>
        <p:spPr>
          <a:xfrm>
            <a:off x="4568952"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Sentence-ending</a:t>
            </a:r>
          </a:p>
          <a:p>
            <a:pPr algn="l">
              <a:lnSpc>
                <a:spcPts val="2320"/>
              </a:lnSpc>
              <a:spcBef>
                <a:spcPts val="0"/>
              </a:spcBef>
              <a:spcAft>
                <a:spcPts val="0"/>
              </a:spcAft>
              <a:defRPr sz="2000" b="0">
                <a:solidFill>
                  <a:srgbClr val="587080"/>
                </a:solidFill>
                <a:latin typeface="Arial"/>
              </a:defRPr>
            </a:pPr>
            <a:r>
              <a:t>punctuation resets the</a:t>
            </a:r>
          </a:p>
          <a:p>
            <a:pPr algn="l">
              <a:lnSpc>
                <a:spcPts val="2320"/>
              </a:lnSpc>
              <a:spcBef>
                <a:spcPts val="0"/>
              </a:spcBef>
              <a:spcAft>
                <a:spcPts val="0"/>
              </a:spcAft>
              <a:defRPr sz="2000" b="0">
                <a:solidFill>
                  <a:srgbClr val="587080"/>
                </a:solidFill>
                <a:latin typeface="Arial"/>
              </a:defRPr>
            </a:pPr>
            <a:r>
              <a:t>language run.</a:t>
            </a:r>
          </a:p>
        </p:txBody>
      </p:sp>
      <p:sp>
        <p:nvSpPr>
          <p:cNvPr id="19" name="Rounded Rectangle 18"/>
          <p:cNvSpPr/>
          <p:nvPr/>
        </p:nvSpPr>
        <p:spPr>
          <a:xfrm>
            <a:off x="8086344"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086344"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314944"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1"/>
          <p:cNvSpPr txBox="1"/>
          <p:nvPr/>
        </p:nvSpPr>
        <p:spPr>
          <a:xfrm>
            <a:off x="8314944"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03</a:t>
            </a:r>
          </a:p>
        </p:txBody>
      </p:sp>
      <p:sp>
        <p:nvSpPr>
          <p:cNvPr id="23" name="body-12"/>
          <p:cNvSpPr txBox="1"/>
          <p:nvPr/>
        </p:nvSpPr>
        <p:spPr>
          <a:xfrm>
            <a:off x="8342376"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PHRASE MATCHES</a:t>
            </a:r>
          </a:p>
        </p:txBody>
      </p:sp>
      <p:sp>
        <p:nvSpPr>
          <p:cNvPr id="24" name="body-13"/>
          <p:cNvSpPr txBox="1"/>
          <p:nvPr/>
        </p:nvSpPr>
        <p:spPr>
          <a:xfrm>
            <a:off x="8342376"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Preserve source-ordered</a:t>
            </a:r>
          </a:p>
          <a:p>
            <a:pPr algn="l">
              <a:lnSpc>
                <a:spcPts val="2320"/>
              </a:lnSpc>
              <a:spcBef>
                <a:spcPts val="0"/>
              </a:spcBef>
              <a:spcAft>
                <a:spcPts val="0"/>
              </a:spcAft>
              <a:defRPr sz="2000" b="0">
                <a:solidFill>
                  <a:srgbClr val="587080"/>
                </a:solidFill>
                <a:latin typeface="Arial"/>
              </a:defRPr>
            </a:pPr>
            <a:r>
              <a:t>raw spans as extra</a:t>
            </a:r>
          </a:p>
          <a:p>
            <a:pPr algn="l">
              <a:lnSpc>
                <a:spcPts val="2320"/>
              </a:lnSpc>
              <a:spcBef>
                <a:spcPts val="0"/>
              </a:spcBef>
              <a:spcAft>
                <a:spcPts val="0"/>
              </a:spcAft>
              <a:defRPr sz="2000" b="0">
                <a:solidFill>
                  <a:srgbClr val="587080"/>
                </a:solidFill>
                <a:latin typeface="Arial"/>
              </a:defRPr>
            </a:pPr>
            <a:r>
              <a:t>annotations.</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8" name="source-1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compiler/lexer/languages.py</a:t>
            </a:r>
          </a:p>
        </p:txBody>
      </p:sp>
      <p:sp>
        <p:nvSpPr>
          <p:cNvPr id="29" name="source-17">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compiler/lexer/reference.py</a:t>
            </a:r>
          </a:p>
        </p:txBody>
      </p:sp>
      <p:sp>
        <p:nvSpPr>
          <p:cNvPr id="30"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059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71932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06 / INSIDE THE LEXER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Lexer files and responsibilities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small set of modules explains the complete lexical path.</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tokenizer.py</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Segment, classify and</a:t>
            </a:r>
          </a:p>
          <a:p>
            <a:pPr algn="l">
              <a:lnSpc>
                <a:spcPts val="2088"/>
              </a:lnSpc>
              <a:spcBef>
                <a:spcPts val="0"/>
              </a:spcBef>
              <a:spcAft>
                <a:spcPts val="0"/>
              </a:spcAft>
              <a:defRPr sz="1800" b="0">
                <a:solidFill>
                  <a:srgbClr val="587080"/>
                </a:solidFill>
                <a:latin typeface="Arial"/>
              </a:defRPr>
            </a:pPr>
            <a:r>
              <a:t>annotate.</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lexicon.py</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Terminal categories and</a:t>
            </a:r>
          </a:p>
          <a:p>
            <a:pPr algn="l">
              <a:lnSpc>
                <a:spcPts val="2088"/>
              </a:lnSpc>
              <a:spcBef>
                <a:spcPts val="0"/>
              </a:spcBef>
              <a:spcAft>
                <a:spcPts val="0"/>
              </a:spcAft>
              <a:defRPr sz="1800" b="0">
                <a:solidFill>
                  <a:srgbClr val="587080"/>
                </a:solidFill>
                <a:latin typeface="Arial"/>
              </a:defRPr>
            </a:pPr>
            <a:r>
              <a:t>explicit rules.</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reference.py</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Read supplied reference</a:t>
            </a:r>
          </a:p>
          <a:p>
            <a:pPr algn="l">
              <a:lnSpc>
                <a:spcPts val="2088"/>
              </a:lnSpc>
              <a:spcBef>
                <a:spcPts val="0"/>
              </a:spcBef>
              <a:spcAft>
                <a:spcPts val="0"/>
              </a:spcAft>
              <a:defRPr sz="1800" b="0">
                <a:solidFill>
                  <a:srgbClr val="587080"/>
                </a:solidFill>
                <a:latin typeface="Arial"/>
              </a:defRPr>
            </a:pPr>
            <a:r>
              <a:t>categories.</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learned.py</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Build compatible</a:t>
            </a:r>
          </a:p>
          <a:p>
            <a:pPr algn="l">
              <a:lnSpc>
                <a:spcPts val="2088"/>
              </a:lnSpc>
              <a:spcBef>
                <a:spcPts val="0"/>
              </a:spcBef>
              <a:spcAft>
                <a:spcPts val="0"/>
              </a:spcAft>
              <a:defRPr sz="1800" b="0">
                <a:solidFill>
                  <a:srgbClr val="587080"/>
                </a:solidFill>
                <a:latin typeface="Arial"/>
              </a:defRPr>
            </a:pPr>
            <a:r>
              <a:t>reviewed-word overrides.</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vocabulary.py</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Normalize matching keys and</a:t>
            </a:r>
          </a:p>
          <a:p>
            <a:pPr algn="l">
              <a:lnSpc>
                <a:spcPts val="2088"/>
              </a:lnSpc>
              <a:spcBef>
                <a:spcPts val="0"/>
              </a:spcBef>
              <a:spcAft>
                <a:spcPts val="0"/>
              </a:spcAft>
              <a:defRPr sz="1800" b="0">
                <a:solidFill>
                  <a:srgbClr val="587080"/>
                </a:solidFill>
                <a:latin typeface="Arial"/>
              </a:defRPr>
            </a:pPr>
            <a:r>
              <a:t>aliases.</a:t>
            </a:r>
          </a:p>
        </p:txBody>
      </p:sp>
      <p:sp>
        <p:nvSpPr>
          <p:cNvPr id="32" name="Rounded Rectangle 31"/>
          <p:cNvSpPr/>
          <p:nvPr/>
        </p:nvSpPr>
        <p:spPr>
          <a:xfrm>
            <a:off x="8086344"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8086344"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aption-20"/>
          <p:cNvSpPr txBox="1"/>
          <p:nvPr/>
        </p:nvSpPr>
        <p:spPr>
          <a:xfrm>
            <a:off x="8296656"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35" name="body-21"/>
          <p:cNvSpPr txBox="1"/>
          <p:nvPr/>
        </p:nvSpPr>
        <p:spPr>
          <a:xfrm>
            <a:off x="8296656"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languages.py</a:t>
            </a:r>
          </a:p>
        </p:txBody>
      </p:sp>
      <p:sp>
        <p:nvSpPr>
          <p:cNvPr id="36" name="body-22"/>
          <p:cNvSpPr txBox="1"/>
          <p:nvPr/>
        </p:nvSpPr>
        <p:spPr>
          <a:xfrm>
            <a:off x="8296656"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Return candidate-language</a:t>
            </a:r>
          </a:p>
          <a:p>
            <a:pPr algn="l">
              <a:lnSpc>
                <a:spcPts val="2088"/>
              </a:lnSpc>
              <a:spcBef>
                <a:spcPts val="0"/>
              </a:spcBef>
              <a:spcAft>
                <a:spcPts val="0"/>
              </a:spcAft>
              <a:defRPr sz="1800" b="0">
                <a:solidFill>
                  <a:srgbClr val="587080"/>
                </a:solidFill>
                <a:latin typeface="Arial"/>
              </a:defRPr>
            </a:pPr>
            <a:r>
              <a:t>evidence.</a:t>
            </a:r>
          </a:p>
        </p:txBody>
      </p:sp>
      <p:cxnSp>
        <p:nvCxnSpPr>
          <p:cNvPr id="37" name="Connector 3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footer-2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9" name="source-2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40" name="source-2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compiler/lexer/reference.py</a:t>
            </a:r>
          </a:p>
        </p:txBody>
      </p:sp>
      <p:sp>
        <p:nvSpPr>
          <p:cNvPr id="41" name="source-2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compiler/lexer/learned.py</a:t>
            </a:r>
          </a:p>
        </p:txBody>
      </p:sp>
      <p:sp>
        <p:nvSpPr>
          <p:cNvPr id="42" name="source-2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compiler/lexer/vocabulary.py</a:t>
            </a:r>
          </a:p>
        </p:txBody>
      </p:sp>
      <p:sp>
        <p:nvSpPr>
          <p:cNvPr id="43" name="footer-2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4" name="footer-2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060 / 100</a:t>
            </a:r>
          </a:p>
        </p:txBody>
      </p:sp>
      <p:sp>
        <p:nvSpPr>
          <p:cNvPr id="45" name="Rectangle 4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0" y="6821424"/>
            <a:ext cx="73151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Grammar recognizes category sequences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parser reads labels, not the meaning of words.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074920" y="1984248"/>
            <a:ext cx="6547104" cy="380390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illustration-grammar.png"/>
          <p:cNvPicPr>
            <a:picLocks noChangeAspect="1"/>
          </p:cNvPicPr>
          <p:nvPr/>
        </p:nvPicPr>
        <p:blipFill>
          <a:blip r:embed="rId2"/>
          <a:stretch>
            <a:fillRect/>
          </a:stretch>
        </p:blipFill>
        <p:spPr>
          <a:xfrm>
            <a:off x="5722837" y="2048256"/>
            <a:ext cx="5251268" cy="3675887"/>
          </a:xfrm>
          <a:prstGeom prst="rect">
            <a:avLst/>
          </a:prstGeom>
        </p:spPr>
      </p:pic>
      <p:sp>
        <p:nvSpPr>
          <p:cNvPr id="9" name="Rectangle 8"/>
          <p:cNvSpPr/>
          <p:nvPr/>
        </p:nvSpPr>
        <p:spPr>
          <a:xfrm>
            <a:off x="594360" y="209397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77240" y="207568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INPUT</a:t>
            </a:r>
          </a:p>
        </p:txBody>
      </p:sp>
      <p:sp>
        <p:nvSpPr>
          <p:cNvPr id="11" name="body-6"/>
          <p:cNvSpPr txBox="1"/>
          <p:nvPr/>
        </p:nvSpPr>
        <p:spPr>
          <a:xfrm>
            <a:off x="777240" y="251460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 finite stream of lexer categories.</a:t>
            </a:r>
          </a:p>
        </p:txBody>
      </p:sp>
      <p:sp>
        <p:nvSpPr>
          <p:cNvPr id="12" name="Rectangle 11"/>
          <p:cNvSpPr/>
          <p:nvPr/>
        </p:nvSpPr>
        <p:spPr>
          <a:xfrm>
            <a:off x="594360" y="329793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777240" y="327964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RULES</a:t>
            </a:r>
          </a:p>
        </p:txBody>
      </p:sp>
      <p:sp>
        <p:nvSpPr>
          <p:cNvPr id="14" name="body-8"/>
          <p:cNvSpPr txBox="1"/>
          <p:nvPr/>
        </p:nvSpPr>
        <p:spPr>
          <a:xfrm>
            <a:off x="777240" y="371856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 context-free grammar of those</a:t>
            </a:r>
          </a:p>
          <a:p>
            <a:pPr algn="l">
              <a:lnSpc>
                <a:spcPts val="2088"/>
              </a:lnSpc>
              <a:spcBef>
                <a:spcPts val="0"/>
              </a:spcBef>
              <a:spcAft>
                <a:spcPts val="0"/>
              </a:spcAft>
              <a:defRPr sz="1800" b="0">
                <a:solidFill>
                  <a:srgbClr val="587080"/>
                </a:solidFill>
                <a:latin typeface="Arial"/>
              </a:defRPr>
            </a:pPr>
            <a:r>
              <a:t>categories.</a:t>
            </a:r>
          </a:p>
        </p:txBody>
      </p:sp>
      <p:sp>
        <p:nvSpPr>
          <p:cNvPr id="15" name="Rectangle 14"/>
          <p:cNvSpPr/>
          <p:nvPr/>
        </p:nvSpPr>
        <p:spPr>
          <a:xfrm>
            <a:off x="594360"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9"/>
          <p:cNvSpPr txBox="1"/>
          <p:nvPr/>
        </p:nvSpPr>
        <p:spPr>
          <a:xfrm>
            <a:off x="777240" y="448360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RESULT</a:t>
            </a:r>
          </a:p>
        </p:txBody>
      </p:sp>
      <p:sp>
        <p:nvSpPr>
          <p:cNvPr id="17" name="body-10"/>
          <p:cNvSpPr txBox="1"/>
          <p:nvPr/>
        </p:nvSpPr>
        <p:spPr>
          <a:xfrm>
            <a:off x="777240" y="492252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Acceptance or an explicit failed</a:t>
            </a:r>
          </a:p>
          <a:p>
            <a:pPr algn="l">
              <a:lnSpc>
                <a:spcPts val="2088"/>
              </a:lnSpc>
              <a:spcBef>
                <a:spcPts val="0"/>
              </a:spcBef>
              <a:spcAft>
                <a:spcPts val="0"/>
              </a:spcAft>
              <a:defRPr sz="1800" b="0">
                <a:solidFill>
                  <a:srgbClr val="587080"/>
                </a:solidFill>
                <a:latin typeface="Arial"/>
              </a:defRPr>
            </a:pPr>
            <a:r>
              <a:t>transition.</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compiler/parser/grammar.py</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compiler/parser/service.py</a:t>
            </a:r>
          </a:p>
        </p:txBody>
      </p:sp>
      <p:sp>
        <p:nvSpPr>
          <p:cNvPr id="22" name="source-14">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3"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061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74371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saved grammar is corpus-derived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Reusable category structures, not a list of accepted sentences.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1993392"/>
            <a:ext cx="7315200" cy="3794760"/>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aption-5"/>
          <p:cNvSpPr txBox="1"/>
          <p:nvPr/>
        </p:nvSpPr>
        <p:spPr>
          <a:xfrm>
            <a:off x="786384" y="2185416"/>
            <a:ext cx="6821424" cy="219456"/>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CBA261"/>
                </a:solidFill>
                <a:latin typeface="Arial"/>
              </a:defRPr>
            </a:pPr>
            <a:r>
              <a:t>SOURCE WALKTHROUGH / ABBREVIATED WHERE MARKED</a:t>
            </a:r>
          </a:p>
        </p:txBody>
      </p:sp>
      <p:sp>
        <p:nvSpPr>
          <p:cNvPr id="9" name="body-6"/>
          <p:cNvSpPr txBox="1"/>
          <p:nvPr/>
        </p:nvSpPr>
        <p:spPr>
          <a:xfrm>
            <a:off x="795528" y="2688336"/>
            <a:ext cx="6784848" cy="2779776"/>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E0EFEB"/>
                </a:solidFill>
                <a:latin typeface="Consolas"/>
              </a:defRPr>
            </a:pPr>
            <a:r>
              <a:t>Utterance -&gt; Clause</a:t>
            </a:r>
          </a:p>
          <a:p>
            <a:pPr algn="l">
              <a:lnSpc>
                <a:spcPts val="2204"/>
              </a:lnSpc>
              <a:spcBef>
                <a:spcPts val="0"/>
              </a:spcBef>
              <a:spcAft>
                <a:spcPts val="0"/>
              </a:spcAft>
              <a:defRPr sz="1900" b="0">
                <a:solidFill>
                  <a:srgbClr val="E0EFEB"/>
                </a:solidFill>
                <a:latin typeface="Consolas"/>
              </a:defRPr>
            </a:pPr>
            <a:r>
              <a:t>           | Clause PUNCTUATION</a:t>
            </a:r>
          </a:p>
          <a:p>
            <a:pPr algn="l">
              <a:lnSpc>
                <a:spcPts val="2204"/>
              </a:lnSpc>
              <a:spcBef>
                <a:spcPts val="0"/>
              </a:spcBef>
              <a:spcAft>
                <a:spcPts val="0"/>
              </a:spcAft>
              <a:defRPr sz="1900" b="0">
                <a:solidFill>
                  <a:srgbClr val="E0EFEB"/>
                </a:solidFill>
                <a:latin typeface="Consolas"/>
              </a:defRPr>
            </a:pPr>
          </a:p>
          <a:p>
            <a:pPr algn="l">
              <a:lnSpc>
                <a:spcPts val="2204"/>
              </a:lnSpc>
              <a:spcBef>
                <a:spcPts val="0"/>
              </a:spcBef>
              <a:spcAft>
                <a:spcPts val="0"/>
              </a:spcAft>
              <a:defRPr sz="1900" b="0">
                <a:solidFill>
                  <a:srgbClr val="E0EFEB"/>
                </a:solidFill>
                <a:latin typeface="Consolas"/>
              </a:defRPr>
            </a:pPr>
            <a:r>
              <a:t>Clause -&gt; FRENCH_FUNCTION_WORD SubjectTail</a:t>
            </a:r>
          </a:p>
          <a:p>
            <a:pPr algn="l">
              <a:lnSpc>
                <a:spcPts val="2204"/>
              </a:lnSpc>
              <a:spcBef>
                <a:spcPts val="0"/>
              </a:spcBef>
              <a:spcAft>
                <a:spcPts val="0"/>
              </a:spcAft>
              <a:defRPr sz="1900" b="0">
                <a:solidFill>
                  <a:srgbClr val="E0EFEB"/>
                </a:solidFill>
                <a:latin typeface="Consolas"/>
              </a:defRPr>
            </a:pPr>
            <a:r>
              <a:t>        | Nominal BareSubjectTail</a:t>
            </a:r>
          </a:p>
          <a:p>
            <a:pPr algn="l">
              <a:lnSpc>
                <a:spcPts val="2204"/>
              </a:lnSpc>
              <a:spcBef>
                <a:spcPts val="0"/>
              </a:spcBef>
              <a:spcAft>
                <a:spcPts val="0"/>
              </a:spcAft>
              <a:defRPr sz="1900" b="0">
                <a:solidFill>
                  <a:srgbClr val="E0EFEB"/>
                </a:solidFill>
                <a:latin typeface="Consolas"/>
              </a:defRPr>
            </a:pPr>
            <a:r>
              <a:t>        | VERB PredicateTail</a:t>
            </a:r>
          </a:p>
        </p:txBody>
      </p:sp>
      <p:sp>
        <p:nvSpPr>
          <p:cNvPr id="10" name="Rectangle 9"/>
          <p:cNvSpPr/>
          <p:nvPr/>
        </p:nvSpPr>
        <p:spPr>
          <a:xfrm>
            <a:off x="8202168"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8385048" y="2093976"/>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Observed structures</a:t>
            </a:r>
          </a:p>
        </p:txBody>
      </p:sp>
      <p:sp>
        <p:nvSpPr>
          <p:cNvPr id="12" name="body-8"/>
          <p:cNvSpPr txBox="1"/>
          <p:nvPr/>
        </p:nvSpPr>
        <p:spPr>
          <a:xfrm>
            <a:off x="8385048" y="2532888"/>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Subject-led, nominal-led and</a:t>
            </a:r>
          </a:p>
          <a:p>
            <a:pPr algn="l">
              <a:lnSpc>
                <a:spcPts val="2088"/>
              </a:lnSpc>
              <a:spcBef>
                <a:spcPts val="0"/>
              </a:spcBef>
              <a:spcAft>
                <a:spcPts val="0"/>
              </a:spcAft>
              <a:defRPr sz="1800" b="0">
                <a:solidFill>
                  <a:srgbClr val="587080"/>
                </a:solidFill>
                <a:latin typeface="Arial"/>
              </a:defRPr>
            </a:pPr>
            <a:r>
              <a:t>verb-initial clauses.</a:t>
            </a:r>
          </a:p>
        </p:txBody>
      </p:sp>
      <p:sp>
        <p:nvSpPr>
          <p:cNvPr id="13" name="Rectangle 12"/>
          <p:cNvSpPr/>
          <p:nvPr/>
        </p:nvSpPr>
        <p:spPr>
          <a:xfrm>
            <a:off x="8202168" y="330708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8385048" y="3288792"/>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Limited ending</a:t>
            </a:r>
          </a:p>
        </p:txBody>
      </p:sp>
      <p:sp>
        <p:nvSpPr>
          <p:cNvPr id="15" name="body-10"/>
          <p:cNvSpPr txBox="1"/>
          <p:nvPr/>
        </p:nvSpPr>
        <p:spPr>
          <a:xfrm>
            <a:off x="8385048" y="3727703"/>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At most one optional</a:t>
            </a:r>
          </a:p>
          <a:p>
            <a:pPr algn="l">
              <a:lnSpc>
                <a:spcPts val="2088"/>
              </a:lnSpc>
              <a:spcBef>
                <a:spcPts val="0"/>
              </a:spcBef>
              <a:spcAft>
                <a:spcPts val="0"/>
              </a:spcAft>
              <a:defRPr sz="1800" b="0">
                <a:solidFill>
                  <a:srgbClr val="587080"/>
                </a:solidFill>
                <a:latin typeface="Arial"/>
              </a:defRPr>
            </a:pPr>
            <a:r>
              <a:t>punctuation token.</a:t>
            </a:r>
          </a:p>
        </p:txBody>
      </p:sp>
      <p:sp>
        <p:nvSpPr>
          <p:cNvPr id="16" name="Rectangle 15"/>
          <p:cNvSpPr/>
          <p:nvPr/>
        </p:nvSpPr>
        <p:spPr>
          <a:xfrm>
            <a:off x="8202168"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8385048" y="4483608"/>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No forced repair</a:t>
            </a:r>
          </a:p>
        </p:txBody>
      </p:sp>
      <p:sp>
        <p:nvSpPr>
          <p:cNvPr id="18" name="body-12"/>
          <p:cNvSpPr txBox="1"/>
          <p:nvPr/>
        </p:nvSpPr>
        <p:spPr>
          <a:xfrm>
            <a:off x="8385048" y="4922520"/>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two unresolved forms</a:t>
            </a:r>
          </a:p>
          <a:p>
            <a:pPr algn="l">
              <a:lnSpc>
                <a:spcPts val="2088"/>
              </a:lnSpc>
              <a:spcBef>
                <a:spcPts val="0"/>
              </a:spcBef>
              <a:spcAft>
                <a:spcPts val="0"/>
              </a:spcAft>
              <a:defRPr sz="1800" b="0">
                <a:solidFill>
                  <a:srgbClr val="587080"/>
                </a:solidFill>
                <a:latin typeface="Arial"/>
              </a:defRPr>
            </a:pPr>
            <a:r>
              <a:t>stay rejected.</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docs/evidence/final-corpus-20260927.json</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062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75590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Starter grammar and saved grammar differ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Do not confuse a fresh installation with the documented corpus state.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TEACHING STARTER</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DEFAULT_GRAMMAR in service.py.</a:t>
            </a:r>
          </a:p>
          <a:p>
            <a:pPr algn="l">
              <a:lnSpc>
                <a:spcPts val="2552"/>
              </a:lnSpc>
              <a:spcBef>
                <a:spcPts val="0"/>
              </a:spcBef>
              <a:spcAft>
                <a:spcPts val="0"/>
              </a:spcAft>
              <a:defRPr sz="2200" b="0">
                <a:solidFill>
                  <a:srgbClr val="D1E2E1"/>
                </a:solidFill>
                <a:latin typeface="Arial"/>
              </a:defRPr>
            </a:pPr>
            <a:r>
              <a:t>Illustrative rules for an empty setup.</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DOCUMENTED CORPUS</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GRAMMAR in yaounde.py.</a:t>
            </a:r>
          </a:p>
          <a:p>
            <a:pPr algn="l">
              <a:lnSpc>
                <a:spcPts val="2552"/>
              </a:lnSpc>
              <a:spcBef>
                <a:spcPts val="0"/>
              </a:spcBef>
              <a:spcAft>
                <a:spcPts val="0"/>
              </a:spcAft>
              <a:defRPr sz="2200" b="0">
                <a:solidFill>
                  <a:srgbClr val="587080"/>
                </a:solidFill>
                <a:latin typeface="Arial"/>
              </a:defRPr>
            </a:pPr>
            <a:r>
              <a:t>The group's saved category-level</a:t>
            </a:r>
          </a:p>
          <a:p>
            <a:pPr algn="l">
              <a:lnSpc>
                <a:spcPts val="2552"/>
              </a:lnSpc>
              <a:spcBef>
                <a:spcPts val="0"/>
              </a:spcBef>
              <a:spcAft>
                <a:spcPts val="0"/>
              </a:spcAft>
              <a:defRPr sz="2200" b="0">
                <a:solidFill>
                  <a:srgbClr val="587080"/>
                </a:solidFill>
                <a:latin typeface="Arial"/>
              </a:defRPr>
            </a:pPr>
            <a:r>
              <a:t>rules.</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compiler/parser/service.py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docs/evidence/final-corpus-20260927.json</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063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76809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Read, transform, calculate, then parse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Each phase produces inspectable output.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READ</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Validate category-level</a:t>
            </a:r>
          </a:p>
          <a:p>
            <a:pPr algn="l">
              <a:lnSpc>
                <a:spcPts val="1972"/>
              </a:lnSpc>
              <a:spcBef>
                <a:spcPts val="0"/>
              </a:spcBef>
              <a:spcAft>
                <a:spcPts val="0"/>
              </a:spcAft>
              <a:defRPr sz="1700" b="0">
                <a:solidFill>
                  <a:srgbClr val="587080"/>
                </a:solidFill>
                <a:latin typeface="Arial"/>
              </a:defRPr>
            </a:pPr>
            <a:r>
              <a:t>notation</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TRANSFORM</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Remove supported</a:t>
            </a:r>
          </a:p>
          <a:p>
            <a:pPr algn="l">
              <a:lnSpc>
                <a:spcPts val="1972"/>
              </a:lnSpc>
              <a:spcBef>
                <a:spcPts val="0"/>
              </a:spcBef>
              <a:spcAft>
                <a:spcPts val="0"/>
              </a:spcAft>
              <a:defRPr sz="1700" b="0">
                <a:solidFill>
                  <a:srgbClr val="587080"/>
                </a:solidFill>
                <a:latin typeface="Arial"/>
              </a:defRPr>
            </a:pPr>
            <a:r>
              <a:t>recursion and factor</a:t>
            </a:r>
          </a:p>
          <a:p>
            <a:pPr algn="l">
              <a:lnSpc>
                <a:spcPts val="1972"/>
              </a:lnSpc>
              <a:spcBef>
                <a:spcPts val="0"/>
              </a:spcBef>
              <a:spcAft>
                <a:spcPts val="0"/>
              </a:spcAft>
              <a:defRPr sz="1700" b="0">
                <a:solidFill>
                  <a:srgbClr val="587080"/>
                </a:solidFill>
                <a:latin typeface="Arial"/>
              </a:defRPr>
            </a:pPr>
            <a:r>
              <a:t>prefixes</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CALCULATE</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FIRST, FOLLOW and</a:t>
            </a:r>
          </a:p>
          <a:p>
            <a:pPr algn="l">
              <a:lnSpc>
                <a:spcPts val="2088"/>
              </a:lnSpc>
              <a:spcBef>
                <a:spcPts val="0"/>
              </a:spcBef>
              <a:spcAft>
                <a:spcPts val="0"/>
              </a:spcAft>
              <a:defRPr sz="1800" b="0">
                <a:solidFill>
                  <a:srgbClr val="587080"/>
                </a:solidFill>
                <a:latin typeface="Arial"/>
              </a:defRPr>
            </a:pPr>
            <a:r>
              <a:t>LL(1) table</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PARSE</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Run the category</a:t>
            </a:r>
          </a:p>
          <a:p>
            <a:pPr algn="l">
              <a:lnSpc>
                <a:spcPts val="2088"/>
              </a:lnSpc>
              <a:spcBef>
                <a:spcPts val="0"/>
              </a:spcBef>
              <a:spcAft>
                <a:spcPts val="0"/>
              </a:spcAft>
              <a:defRPr sz="1800" b="0">
                <a:solidFill>
                  <a:srgbClr val="587080"/>
                </a:solidFill>
                <a:latin typeface="Arial"/>
              </a:defRPr>
            </a:pPr>
            <a:r>
              <a:t>stream on the stack</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compiler/parser/grammar.py</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compiler/parser/service.py</a:t>
            </a:r>
          </a:p>
        </p:txBody>
      </p:sp>
      <p:sp>
        <p:nvSpPr>
          <p:cNvPr id="32" name="source-22">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3"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4"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064 / 100</a:t>
            </a:r>
          </a:p>
        </p:txBody>
      </p:sp>
      <p:sp>
        <p:nvSpPr>
          <p:cNvPr id="35" name="Rectangle 3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ectangle 35"/>
          <p:cNvSpPr/>
          <p:nvPr/>
        </p:nvSpPr>
        <p:spPr>
          <a:xfrm>
            <a:off x="0" y="6821424"/>
            <a:ext cx="78028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Remove the actual left recursion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noun cluster should not recurse before consuming input.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1993392"/>
            <a:ext cx="11082528" cy="128016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86384" y="2167128"/>
            <a:ext cx="10561320" cy="219456"/>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147E80"/>
                </a:solidFill>
                <a:latin typeface="Arial"/>
              </a:defRPr>
            </a:pPr>
            <a:r>
              <a:t>BEFORE / ORIGINAL RULE</a:t>
            </a:r>
          </a:p>
        </p:txBody>
      </p:sp>
      <p:sp>
        <p:nvSpPr>
          <p:cNvPr id="9" name="body-6"/>
          <p:cNvSpPr txBox="1"/>
          <p:nvPr/>
        </p:nvSpPr>
        <p:spPr>
          <a:xfrm>
            <a:off x="786384" y="2532888"/>
            <a:ext cx="10570464" cy="603504"/>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183747"/>
                </a:solidFill>
                <a:latin typeface="Consolas"/>
              </a:defRPr>
            </a:pPr>
            <a:r>
              <a:t>Nominal -&gt; Nominal NOUN | NOUN</a:t>
            </a:r>
          </a:p>
        </p:txBody>
      </p:sp>
      <p:sp>
        <p:nvSpPr>
          <p:cNvPr id="10" name="Rounded Rectangle 9"/>
          <p:cNvSpPr/>
          <p:nvPr/>
        </p:nvSpPr>
        <p:spPr>
          <a:xfrm>
            <a:off x="548640" y="3456432"/>
            <a:ext cx="11082528" cy="1280160"/>
          </a:xfrm>
          <a:prstGeom prst="roundRect">
            <a:avLst>
              <a:gd name="adj" fmla="val 11000"/>
            </a:avLst>
          </a:prstGeom>
          <a:solidFill>
            <a:srgbClr val="E8F3E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86384" y="3630168"/>
            <a:ext cx="10561320" cy="219456"/>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147E80"/>
                </a:solidFill>
                <a:latin typeface="Arial"/>
              </a:defRPr>
            </a:pPr>
            <a:r>
              <a:t>AFTER / TRANSFORMED RULES</a:t>
            </a:r>
          </a:p>
        </p:txBody>
      </p:sp>
      <p:sp>
        <p:nvSpPr>
          <p:cNvPr id="12" name="body-8"/>
          <p:cNvSpPr txBox="1"/>
          <p:nvPr/>
        </p:nvSpPr>
        <p:spPr>
          <a:xfrm>
            <a:off x="786384" y="3995928"/>
            <a:ext cx="10570464" cy="60350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183747"/>
                </a:solidFill>
                <a:latin typeface="Consolas"/>
              </a:defRPr>
            </a:pPr>
            <a:r>
              <a:t>Nominal -&gt; NOUN Nominal_LR1</a:t>
            </a:r>
          </a:p>
          <a:p>
            <a:pPr algn="l">
              <a:lnSpc>
                <a:spcPts val="2320"/>
              </a:lnSpc>
              <a:spcBef>
                <a:spcPts val="0"/>
              </a:spcBef>
              <a:spcAft>
                <a:spcPts val="0"/>
              </a:spcAft>
              <a:defRPr sz="2000" b="0">
                <a:solidFill>
                  <a:srgbClr val="183747"/>
                </a:solidFill>
                <a:latin typeface="Consolas"/>
              </a:defRPr>
            </a:pPr>
            <a:r>
              <a:t>Nominal_LR1 -&gt; NOUN Nominal_LR1 | epsilon</a:t>
            </a:r>
          </a:p>
        </p:txBody>
      </p:sp>
      <p:sp>
        <p:nvSpPr>
          <p:cNvPr id="13" name="body-9"/>
          <p:cNvSpPr txBox="1"/>
          <p:nvPr/>
        </p:nvSpPr>
        <p:spPr>
          <a:xfrm>
            <a:off x="594360" y="5074920"/>
            <a:ext cx="5266944"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147E80"/>
                </a:solidFill>
                <a:latin typeface="Arial"/>
              </a:defRPr>
            </a:pPr>
            <a:r>
              <a:t>MEANING PRESERVED</a:t>
            </a:r>
          </a:p>
        </p:txBody>
      </p:sp>
      <p:sp>
        <p:nvSpPr>
          <p:cNvPr id="14" name="body-10"/>
          <p:cNvSpPr txBox="1"/>
          <p:nvPr/>
        </p:nvSpPr>
        <p:spPr>
          <a:xfrm>
            <a:off x="594360" y="5431536"/>
            <a:ext cx="5276088" cy="53035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One or more noun categories.</a:t>
            </a:r>
          </a:p>
        </p:txBody>
      </p:sp>
      <p:sp>
        <p:nvSpPr>
          <p:cNvPr id="15" name="body-11"/>
          <p:cNvSpPr txBox="1"/>
          <p:nvPr/>
        </p:nvSpPr>
        <p:spPr>
          <a:xfrm>
            <a:off x="6208776" y="5074920"/>
            <a:ext cx="5266944"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147E80"/>
                </a:solidFill>
                <a:latin typeface="Arial"/>
              </a:defRPr>
            </a:pPr>
            <a:r>
              <a:t>PREDICTIVE SHAPE</a:t>
            </a:r>
          </a:p>
        </p:txBody>
      </p:sp>
      <p:sp>
        <p:nvSpPr>
          <p:cNvPr id="16" name="body-12"/>
          <p:cNvSpPr txBox="1"/>
          <p:nvPr/>
        </p:nvSpPr>
        <p:spPr>
          <a:xfrm>
            <a:off x="6208776" y="5431536"/>
            <a:ext cx="5276088" cy="53035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Consume a NOUN before repeating.</a:t>
            </a:r>
          </a:p>
        </p:txBody>
      </p:sp>
      <p:cxnSp>
        <p:nvCxnSpPr>
          <p:cNvPr id="17" name="Connector 1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9"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20"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21"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2"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065 / 100</a:t>
            </a:r>
          </a:p>
        </p:txBody>
      </p:sp>
      <p:sp>
        <p:nvSpPr>
          <p:cNvPr id="23" name="Rectangle 22"/>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0" y="6821424"/>
            <a:ext cx="79247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Factor the shared Clause prefix</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Choose the ending only after the common clause has been parsed.</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1993392"/>
            <a:ext cx="11082528" cy="1280160"/>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86384" y="2167128"/>
            <a:ext cx="10561320" cy="219456"/>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147E80"/>
                </a:solidFill>
                <a:latin typeface="Arial"/>
              </a:defRPr>
            </a:pPr>
            <a:r>
              <a:t>BEFORE / ORIGINAL RULE</a:t>
            </a:r>
          </a:p>
        </p:txBody>
      </p:sp>
      <p:sp>
        <p:nvSpPr>
          <p:cNvPr id="9" name="body-6"/>
          <p:cNvSpPr txBox="1"/>
          <p:nvPr/>
        </p:nvSpPr>
        <p:spPr>
          <a:xfrm>
            <a:off x="786384" y="2532888"/>
            <a:ext cx="10570464" cy="603504"/>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183747"/>
                </a:solidFill>
                <a:latin typeface="Consolas"/>
              </a:defRPr>
            </a:pPr>
            <a:r>
              <a:t>Utterance -&gt; Clause | Clause PUNCTUATION</a:t>
            </a:r>
          </a:p>
        </p:txBody>
      </p:sp>
      <p:sp>
        <p:nvSpPr>
          <p:cNvPr id="10" name="Rounded Rectangle 9"/>
          <p:cNvSpPr/>
          <p:nvPr/>
        </p:nvSpPr>
        <p:spPr>
          <a:xfrm>
            <a:off x="548640" y="3456432"/>
            <a:ext cx="11082528" cy="1280160"/>
          </a:xfrm>
          <a:prstGeom prst="roundRect">
            <a:avLst>
              <a:gd name="adj" fmla="val 11000"/>
            </a:avLst>
          </a:prstGeom>
          <a:solidFill>
            <a:srgbClr val="E8F3E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86384" y="3630168"/>
            <a:ext cx="10561320" cy="219456"/>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147E80"/>
                </a:solidFill>
                <a:latin typeface="Arial"/>
              </a:defRPr>
            </a:pPr>
            <a:r>
              <a:t>AFTER / TRANSFORMED RULES</a:t>
            </a:r>
          </a:p>
        </p:txBody>
      </p:sp>
      <p:sp>
        <p:nvSpPr>
          <p:cNvPr id="12" name="body-8"/>
          <p:cNvSpPr txBox="1"/>
          <p:nvPr/>
        </p:nvSpPr>
        <p:spPr>
          <a:xfrm>
            <a:off x="786384" y="3995928"/>
            <a:ext cx="10570464" cy="60350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183747"/>
                </a:solidFill>
                <a:latin typeface="Consolas"/>
              </a:defRPr>
            </a:pPr>
            <a:r>
              <a:t>Utterance -&gt; Clause Utterance_LF1</a:t>
            </a:r>
          </a:p>
          <a:p>
            <a:pPr algn="l">
              <a:lnSpc>
                <a:spcPts val="2320"/>
              </a:lnSpc>
              <a:spcBef>
                <a:spcPts val="0"/>
              </a:spcBef>
              <a:spcAft>
                <a:spcPts val="0"/>
              </a:spcAft>
              <a:defRPr sz="2000" b="0">
                <a:solidFill>
                  <a:srgbClr val="183747"/>
                </a:solidFill>
                <a:latin typeface="Consolas"/>
              </a:defRPr>
            </a:pPr>
            <a:r>
              <a:t>Utterance_LF1 -&gt; epsilon | PUNCTUATION</a:t>
            </a:r>
          </a:p>
        </p:txBody>
      </p:sp>
      <p:sp>
        <p:nvSpPr>
          <p:cNvPr id="13" name="body-9"/>
          <p:cNvSpPr txBox="1"/>
          <p:nvPr/>
        </p:nvSpPr>
        <p:spPr>
          <a:xfrm>
            <a:off x="594360" y="5074920"/>
            <a:ext cx="5266944"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147E80"/>
                </a:solidFill>
                <a:latin typeface="Arial"/>
              </a:defRPr>
            </a:pPr>
            <a:r>
              <a:t>SHARED PREFIX</a:t>
            </a:r>
          </a:p>
        </p:txBody>
      </p:sp>
      <p:sp>
        <p:nvSpPr>
          <p:cNvPr id="14" name="body-10"/>
          <p:cNvSpPr txBox="1"/>
          <p:nvPr/>
        </p:nvSpPr>
        <p:spPr>
          <a:xfrm>
            <a:off x="594360" y="5431536"/>
            <a:ext cx="5276088" cy="53035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Both alternatives begin with Clause.</a:t>
            </a:r>
          </a:p>
        </p:txBody>
      </p:sp>
      <p:sp>
        <p:nvSpPr>
          <p:cNvPr id="15" name="body-11"/>
          <p:cNvSpPr txBox="1"/>
          <p:nvPr/>
        </p:nvSpPr>
        <p:spPr>
          <a:xfrm>
            <a:off x="6208776" y="5074920"/>
            <a:ext cx="5266944"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147E80"/>
                </a:solidFill>
                <a:latin typeface="Arial"/>
              </a:defRPr>
            </a:pPr>
            <a:r>
              <a:t>FACTORED CHOICE</a:t>
            </a:r>
          </a:p>
        </p:txBody>
      </p:sp>
      <p:sp>
        <p:nvSpPr>
          <p:cNvPr id="16" name="body-12"/>
          <p:cNvSpPr txBox="1"/>
          <p:nvPr/>
        </p:nvSpPr>
        <p:spPr>
          <a:xfrm>
            <a:off x="6208776" y="5431536"/>
            <a:ext cx="5276088" cy="530352"/>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587080"/>
                </a:solidFill>
                <a:latin typeface="Arial"/>
              </a:defRPr>
            </a:pPr>
            <a:r>
              <a:t>The helper selects no ending or one punctuation</a:t>
            </a:r>
          </a:p>
          <a:p>
            <a:pPr algn="l">
              <a:lnSpc>
                <a:spcPts val="2029"/>
              </a:lnSpc>
              <a:spcBef>
                <a:spcPts val="0"/>
              </a:spcBef>
              <a:spcAft>
                <a:spcPts val="0"/>
              </a:spcAft>
              <a:defRPr sz="1750" b="0">
                <a:solidFill>
                  <a:srgbClr val="587080"/>
                </a:solidFill>
                <a:latin typeface="Arial"/>
              </a:defRPr>
            </a:pPr>
            <a:r>
              <a:t>token.</a:t>
            </a:r>
          </a:p>
        </p:txBody>
      </p:sp>
      <p:cxnSp>
        <p:nvCxnSpPr>
          <p:cNvPr id="17" name="Connector 1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9"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20"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21"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2"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066 / 100</a:t>
            </a:r>
          </a:p>
        </p:txBody>
      </p:sp>
      <p:sp>
        <p:nvSpPr>
          <p:cNvPr id="23" name="Rectangle 22"/>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0" y="6821424"/>
            <a:ext cx="80467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FIRST tells us what can start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For the transformed study grammar: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11680"/>
            <a:ext cx="11091672" cy="98755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77240" y="2304288"/>
            <a:ext cx="10607040" cy="457200"/>
          </a:xfrm>
          <a:prstGeom prst="rect">
            <a:avLst/>
          </a:prstGeom>
          <a:noFill/>
        </p:spPr>
        <p:txBody>
          <a:bodyPr wrap="none" lIns="0" rIns="0" tIns="0" bIns="0" anchor="t">
            <a:noAutofit/>
          </a:bodyPr>
          <a:lstStyle/>
          <a:p>
            <a:pPr algn="l">
              <a:lnSpc>
                <a:spcPts val="3479"/>
              </a:lnSpc>
              <a:spcBef>
                <a:spcPts val="0"/>
              </a:spcBef>
              <a:spcAft>
                <a:spcPts val="0"/>
              </a:spcAft>
              <a:defRPr sz="3000" b="0">
                <a:solidFill>
                  <a:srgbClr val="FFFFFF"/>
                </a:solidFill>
                <a:latin typeface="Consolas"/>
              </a:defRPr>
            </a:pPr>
            <a:r>
              <a:t>FIRST(Utterance)</a:t>
            </a:r>
          </a:p>
        </p:txBody>
      </p:sp>
      <p:sp>
        <p:nvSpPr>
          <p:cNvPr id="9" name="Rounded Rectangle 8"/>
          <p:cNvSpPr/>
          <p:nvPr/>
        </p:nvSpPr>
        <p:spPr>
          <a:xfrm>
            <a:off x="548640" y="3355848"/>
            <a:ext cx="3547872" cy="232257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6"/>
          <p:cNvSpPr txBox="1"/>
          <p:nvPr/>
        </p:nvSpPr>
        <p:spPr>
          <a:xfrm>
            <a:off x="768096" y="3648456"/>
            <a:ext cx="3090672" cy="585216"/>
          </a:xfrm>
          <a:prstGeom prst="rect">
            <a:avLst/>
          </a:prstGeom>
          <a:noFill/>
        </p:spPr>
        <p:txBody>
          <a:bodyPr wrap="none" lIns="0" rIns="0" tIns="0" bIns="0" anchor="t">
            <a:noAutofit/>
          </a:bodyPr>
          <a:lstStyle/>
          <a:p>
            <a:pPr algn="l">
              <a:lnSpc>
                <a:spcPts val="2029"/>
              </a:lnSpc>
              <a:spcBef>
                <a:spcPts val="0"/>
              </a:spcBef>
              <a:spcAft>
                <a:spcPts val="0"/>
              </a:spcAft>
              <a:defRPr sz="1750" b="1">
                <a:solidFill>
                  <a:srgbClr val="147E80"/>
                </a:solidFill>
                <a:latin typeface="Arial"/>
              </a:defRPr>
            </a:pPr>
            <a:r>
              <a:t>FRENCH_FUNCTION_WORD</a:t>
            </a:r>
          </a:p>
        </p:txBody>
      </p:sp>
      <p:sp>
        <p:nvSpPr>
          <p:cNvPr id="11" name="body-7"/>
          <p:cNvSpPr txBox="1"/>
          <p:nvPr/>
        </p:nvSpPr>
        <p:spPr>
          <a:xfrm>
            <a:off x="768096" y="4553712"/>
            <a:ext cx="3090672" cy="941832"/>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587080"/>
                </a:solidFill>
                <a:latin typeface="Arial"/>
              </a:defRPr>
            </a:pPr>
            <a:r>
              <a:t>A subject-led clause.</a:t>
            </a:r>
          </a:p>
        </p:txBody>
      </p:sp>
      <p:sp>
        <p:nvSpPr>
          <p:cNvPr id="12" name="Rounded Rectangle 11"/>
          <p:cNvSpPr/>
          <p:nvPr/>
        </p:nvSpPr>
        <p:spPr>
          <a:xfrm>
            <a:off x="4315968" y="3355848"/>
            <a:ext cx="3547872" cy="232257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4535424" y="3648456"/>
            <a:ext cx="3090672" cy="5852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NOUN</a:t>
            </a:r>
          </a:p>
        </p:txBody>
      </p:sp>
      <p:sp>
        <p:nvSpPr>
          <p:cNvPr id="14" name="body-9"/>
          <p:cNvSpPr txBox="1"/>
          <p:nvPr/>
        </p:nvSpPr>
        <p:spPr>
          <a:xfrm>
            <a:off x="4535424" y="4553712"/>
            <a:ext cx="3090672" cy="941832"/>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587080"/>
                </a:solidFill>
                <a:latin typeface="Arial"/>
              </a:defRPr>
            </a:pPr>
            <a:r>
              <a:t>A nominal-led clause.</a:t>
            </a:r>
          </a:p>
        </p:txBody>
      </p:sp>
      <p:sp>
        <p:nvSpPr>
          <p:cNvPr id="15" name="Rounded Rectangle 14"/>
          <p:cNvSpPr/>
          <p:nvPr/>
        </p:nvSpPr>
        <p:spPr>
          <a:xfrm>
            <a:off x="8083296" y="3355848"/>
            <a:ext cx="3547872" cy="232257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10"/>
          <p:cNvSpPr txBox="1"/>
          <p:nvPr/>
        </p:nvSpPr>
        <p:spPr>
          <a:xfrm>
            <a:off x="8302752" y="3648456"/>
            <a:ext cx="3090672" cy="5852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VERB</a:t>
            </a:r>
          </a:p>
        </p:txBody>
      </p:sp>
      <p:sp>
        <p:nvSpPr>
          <p:cNvPr id="17" name="body-11"/>
          <p:cNvSpPr txBox="1"/>
          <p:nvPr/>
        </p:nvSpPr>
        <p:spPr>
          <a:xfrm>
            <a:off x="8302752" y="4553712"/>
            <a:ext cx="3090672" cy="941832"/>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587080"/>
                </a:solidFill>
                <a:latin typeface="Arial"/>
              </a:defRPr>
            </a:pPr>
            <a:r>
              <a:t>A verb-initial clause.</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2"/>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3">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21" name="source-14">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2"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067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81686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FOLLOW tells us what can come next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End-of-input matters when a production is nullable.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11680"/>
            <a:ext cx="11091672" cy="98755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77240" y="2304288"/>
            <a:ext cx="10607040" cy="457200"/>
          </a:xfrm>
          <a:prstGeom prst="rect">
            <a:avLst/>
          </a:prstGeom>
          <a:noFill/>
        </p:spPr>
        <p:txBody>
          <a:bodyPr wrap="none" lIns="0" rIns="0" tIns="0" bIns="0" anchor="t">
            <a:noAutofit/>
          </a:bodyPr>
          <a:lstStyle/>
          <a:p>
            <a:pPr algn="l">
              <a:lnSpc>
                <a:spcPts val="3479"/>
              </a:lnSpc>
              <a:spcBef>
                <a:spcPts val="0"/>
              </a:spcBef>
              <a:spcAft>
                <a:spcPts val="0"/>
              </a:spcAft>
              <a:defRPr sz="3000" b="0">
                <a:solidFill>
                  <a:srgbClr val="FFFFFF"/>
                </a:solidFill>
                <a:latin typeface="Consolas"/>
              </a:defRPr>
            </a:pPr>
            <a:r>
              <a:t>FOLLOW(Utterance) = { $ }</a:t>
            </a:r>
          </a:p>
        </p:txBody>
      </p:sp>
      <p:sp>
        <p:nvSpPr>
          <p:cNvPr id="9" name="Rounded Rectangle 8"/>
          <p:cNvSpPr/>
          <p:nvPr/>
        </p:nvSpPr>
        <p:spPr>
          <a:xfrm>
            <a:off x="548640" y="3355848"/>
            <a:ext cx="3547872" cy="232257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6"/>
          <p:cNvSpPr txBox="1"/>
          <p:nvPr/>
        </p:nvSpPr>
        <p:spPr>
          <a:xfrm>
            <a:off x="768096" y="3648456"/>
            <a:ext cx="3090672" cy="5852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START SYMBOL</a:t>
            </a:r>
          </a:p>
        </p:txBody>
      </p:sp>
      <p:sp>
        <p:nvSpPr>
          <p:cNvPr id="11" name="body-7"/>
          <p:cNvSpPr txBox="1"/>
          <p:nvPr/>
        </p:nvSpPr>
        <p:spPr>
          <a:xfrm>
            <a:off x="768096" y="4553712"/>
            <a:ext cx="3090672" cy="941832"/>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587080"/>
                </a:solidFill>
                <a:latin typeface="Arial"/>
              </a:defRPr>
            </a:pPr>
            <a:r>
              <a:t>Its FOLLOW set includes</a:t>
            </a:r>
          </a:p>
          <a:p>
            <a:pPr algn="l">
              <a:lnSpc>
                <a:spcPts val="2436"/>
              </a:lnSpc>
              <a:spcBef>
                <a:spcPts val="0"/>
              </a:spcBef>
              <a:spcAft>
                <a:spcPts val="0"/>
              </a:spcAft>
              <a:defRPr sz="2100" b="0">
                <a:solidFill>
                  <a:srgbClr val="587080"/>
                </a:solidFill>
                <a:latin typeface="Arial"/>
              </a:defRPr>
            </a:pPr>
            <a:r>
              <a:t>the end marker.</a:t>
            </a:r>
          </a:p>
        </p:txBody>
      </p:sp>
      <p:sp>
        <p:nvSpPr>
          <p:cNvPr id="12" name="Rounded Rectangle 11"/>
          <p:cNvSpPr/>
          <p:nvPr/>
        </p:nvSpPr>
        <p:spPr>
          <a:xfrm>
            <a:off x="4315968" y="3355848"/>
            <a:ext cx="3547872" cy="232257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4535424" y="3648456"/>
            <a:ext cx="3090672" cy="5852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NULLABLE RHS</a:t>
            </a:r>
          </a:p>
        </p:txBody>
      </p:sp>
      <p:sp>
        <p:nvSpPr>
          <p:cNvPr id="14" name="body-9"/>
          <p:cNvSpPr txBox="1"/>
          <p:nvPr/>
        </p:nvSpPr>
        <p:spPr>
          <a:xfrm>
            <a:off x="4535424" y="4553712"/>
            <a:ext cx="3090672" cy="941832"/>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587080"/>
                </a:solidFill>
                <a:latin typeface="Arial"/>
              </a:defRPr>
            </a:pPr>
            <a:r>
              <a:t>The LL(1) builder also</a:t>
            </a:r>
          </a:p>
          <a:p>
            <a:pPr algn="l">
              <a:lnSpc>
                <a:spcPts val="2436"/>
              </a:lnSpc>
              <a:spcBef>
                <a:spcPts val="0"/>
              </a:spcBef>
              <a:spcAft>
                <a:spcPts val="0"/>
              </a:spcAft>
              <a:defRPr sz="2100" b="0">
                <a:solidFill>
                  <a:srgbClr val="587080"/>
                </a:solidFill>
                <a:latin typeface="Arial"/>
              </a:defRPr>
            </a:pPr>
            <a:r>
              <a:t>uses FOLLOW</a:t>
            </a:r>
          </a:p>
          <a:p>
            <a:pPr algn="l">
              <a:lnSpc>
                <a:spcPts val="2436"/>
              </a:lnSpc>
              <a:spcBef>
                <a:spcPts val="0"/>
              </a:spcBef>
              <a:spcAft>
                <a:spcPts val="0"/>
              </a:spcAft>
              <a:defRPr sz="2100" b="0">
                <a:solidFill>
                  <a:srgbClr val="587080"/>
                </a:solidFill>
                <a:latin typeface="Arial"/>
              </a:defRPr>
            </a:pPr>
            <a:r>
              <a:t>lookaheads.</a:t>
            </a:r>
          </a:p>
        </p:txBody>
      </p:sp>
      <p:sp>
        <p:nvSpPr>
          <p:cNvPr id="15" name="Rounded Rectangle 14"/>
          <p:cNvSpPr/>
          <p:nvPr/>
        </p:nvSpPr>
        <p:spPr>
          <a:xfrm>
            <a:off x="8083296" y="3355848"/>
            <a:ext cx="3547872" cy="232257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10"/>
          <p:cNvSpPr txBox="1"/>
          <p:nvPr/>
        </p:nvSpPr>
        <p:spPr>
          <a:xfrm>
            <a:off x="8302752" y="3648456"/>
            <a:ext cx="3090672" cy="5852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NO EXTRA TOKEN</a:t>
            </a:r>
          </a:p>
        </p:txBody>
      </p:sp>
      <p:sp>
        <p:nvSpPr>
          <p:cNvPr id="17" name="body-11"/>
          <p:cNvSpPr txBox="1"/>
          <p:nvPr/>
        </p:nvSpPr>
        <p:spPr>
          <a:xfrm>
            <a:off x="8302752" y="4553712"/>
            <a:ext cx="3090672" cy="941832"/>
          </a:xfrm>
          <a:prstGeom prst="rect">
            <a:avLst/>
          </a:prstGeom>
          <a:noFill/>
        </p:spPr>
        <p:txBody>
          <a:bodyPr wrap="none" lIns="0" rIns="0" tIns="0" bIns="0" anchor="t">
            <a:noAutofit/>
          </a:bodyPr>
          <a:lstStyle/>
          <a:p>
            <a:pPr algn="l">
              <a:lnSpc>
                <a:spcPts val="2436"/>
              </a:lnSpc>
              <a:spcBef>
                <a:spcPts val="0"/>
              </a:spcBef>
              <a:spcAft>
                <a:spcPts val="0"/>
              </a:spcAft>
              <a:defRPr sz="2100" b="0">
                <a:solidFill>
                  <a:srgbClr val="587080"/>
                </a:solidFill>
                <a:latin typeface="Arial"/>
              </a:defRPr>
            </a:pPr>
            <a:r>
              <a:t>$ is a virtual marker, not a</a:t>
            </a:r>
          </a:p>
          <a:p>
            <a:pPr algn="l">
              <a:lnSpc>
                <a:spcPts val="2436"/>
              </a:lnSpc>
              <a:spcBef>
                <a:spcPts val="0"/>
              </a:spcBef>
              <a:spcAft>
                <a:spcPts val="0"/>
              </a:spcAft>
              <a:defRPr sz="2100" b="0">
                <a:solidFill>
                  <a:srgbClr val="587080"/>
                </a:solidFill>
                <a:latin typeface="Arial"/>
              </a:defRPr>
            </a:pPr>
            <a:r>
              <a:t>word typed by the visitor.</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2"/>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3">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21" name="source-14">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compiler/parser/grammar.py</a:t>
            </a:r>
          </a:p>
        </p:txBody>
      </p:sp>
      <p:sp>
        <p:nvSpPr>
          <p:cNvPr id="22"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068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82905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study's transformed grammar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Measured structure after the two recorded rewrites.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95528"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12</a:t>
            </a:r>
          </a:p>
        </p:txBody>
      </p:sp>
      <p:sp>
        <p:nvSpPr>
          <p:cNvPr id="9" name="body-6"/>
          <p:cNvSpPr txBox="1"/>
          <p:nvPr/>
        </p:nvSpPr>
        <p:spPr>
          <a:xfrm>
            <a:off x="804672"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Nonterminals</a:t>
            </a:r>
          </a:p>
        </p:txBody>
      </p:sp>
      <p:sp>
        <p:nvSpPr>
          <p:cNvPr id="10" name="Rounded Rectangle 9"/>
          <p:cNvSpPr/>
          <p:nvPr/>
        </p:nvSpPr>
        <p:spPr>
          <a:xfrm>
            <a:off x="6208776"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6455664"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39</a:t>
            </a:r>
          </a:p>
        </p:txBody>
      </p:sp>
      <p:sp>
        <p:nvSpPr>
          <p:cNvPr id="12" name="body-8"/>
          <p:cNvSpPr txBox="1"/>
          <p:nvPr/>
        </p:nvSpPr>
        <p:spPr>
          <a:xfrm>
            <a:off x="6464808"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Productions</a:t>
            </a:r>
          </a:p>
        </p:txBody>
      </p:sp>
      <p:sp>
        <p:nvSpPr>
          <p:cNvPr id="13" name="Rounded Rectangle 12"/>
          <p:cNvSpPr/>
          <p:nvPr/>
        </p:nvSpPr>
        <p:spPr>
          <a:xfrm>
            <a:off x="548640"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95528"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47</a:t>
            </a:r>
          </a:p>
        </p:txBody>
      </p:sp>
      <p:sp>
        <p:nvSpPr>
          <p:cNvPr id="15" name="body-10"/>
          <p:cNvSpPr txBox="1"/>
          <p:nvPr/>
        </p:nvSpPr>
        <p:spPr>
          <a:xfrm>
            <a:off x="804672"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Populated LL(1) cells</a:t>
            </a:r>
          </a:p>
        </p:txBody>
      </p:sp>
      <p:sp>
        <p:nvSpPr>
          <p:cNvPr id="16" name="Rounded Rectangle 15"/>
          <p:cNvSpPr/>
          <p:nvPr/>
        </p:nvSpPr>
        <p:spPr>
          <a:xfrm>
            <a:off x="6208776"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6455664"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0</a:t>
            </a:r>
          </a:p>
        </p:txBody>
      </p:sp>
      <p:sp>
        <p:nvSpPr>
          <p:cNvPr id="18" name="body-12"/>
          <p:cNvSpPr txBox="1"/>
          <p:nvPr/>
        </p:nvSpPr>
        <p:spPr>
          <a:xfrm>
            <a:off x="6464808"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Table conflicts</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069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84124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07 / INSIDE THE GRAMMAR</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Syntax-analysis files: a map</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Locate notation, transformations, orchestration and execution.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grammar.py</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Read and validate grammar</a:t>
            </a:r>
          </a:p>
          <a:p>
            <a:pPr algn="l">
              <a:lnSpc>
                <a:spcPts val="2088"/>
              </a:lnSpc>
              <a:spcBef>
                <a:spcPts val="0"/>
              </a:spcBef>
              <a:spcAft>
                <a:spcPts val="0"/>
              </a:spcAft>
              <a:defRPr sz="1800" b="0">
                <a:solidFill>
                  <a:srgbClr val="587080"/>
                </a:solidFill>
                <a:latin typeface="Arial"/>
              </a:defRPr>
            </a:pPr>
            <a:r>
              <a:t>notation.</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analysis.py</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Transform rules; compute sets</a:t>
            </a:r>
          </a:p>
          <a:p>
            <a:pPr algn="l">
              <a:lnSpc>
                <a:spcPts val="2088"/>
              </a:lnSpc>
              <a:spcBef>
                <a:spcPts val="0"/>
              </a:spcBef>
              <a:spcAft>
                <a:spcPts val="0"/>
              </a:spcAft>
              <a:defRPr sz="1800" b="0">
                <a:solidFill>
                  <a:srgbClr val="587080"/>
                </a:solidFill>
                <a:latin typeface="Arial"/>
              </a:defRPr>
            </a:pPr>
            <a:r>
              <a:t>and table.</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service.py</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Assemble JSON-serializable</a:t>
            </a:r>
          </a:p>
          <a:p>
            <a:pPr algn="l">
              <a:lnSpc>
                <a:spcPts val="2088"/>
              </a:lnSpc>
              <a:spcBef>
                <a:spcPts val="0"/>
              </a:spcBef>
              <a:spcAft>
                <a:spcPts val="0"/>
              </a:spcAft>
              <a:defRPr sz="1800" b="0">
                <a:solidFill>
                  <a:srgbClr val="587080"/>
                </a:solidFill>
                <a:latin typeface="Arial"/>
              </a:defRPr>
            </a:pPr>
            <a:r>
              <a:t>analysis.</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predictive.py</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Execute the bounded LL(1)</a:t>
            </a:r>
          </a:p>
          <a:p>
            <a:pPr algn="l">
              <a:lnSpc>
                <a:spcPts val="2088"/>
              </a:lnSpc>
              <a:spcBef>
                <a:spcPts val="0"/>
              </a:spcBef>
              <a:spcAft>
                <a:spcPts val="0"/>
              </a:spcAft>
              <a:defRPr sz="1800" b="0">
                <a:solidFill>
                  <a:srgbClr val="587080"/>
                </a:solidFill>
                <a:latin typeface="Arial"/>
              </a:defRPr>
            </a:pPr>
            <a:r>
              <a:t>stack.</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yaounde.py</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Corpus grammar, rationale</a:t>
            </a:r>
          </a:p>
          <a:p>
            <a:pPr algn="l">
              <a:lnSpc>
                <a:spcPts val="2088"/>
              </a:lnSpc>
              <a:spcBef>
                <a:spcPts val="0"/>
              </a:spcBef>
              <a:spcAft>
                <a:spcPts val="0"/>
              </a:spcAft>
              <a:defRPr sz="1800" b="0">
                <a:solidFill>
                  <a:srgbClr val="587080"/>
                </a:solidFill>
                <a:latin typeface="Arial"/>
              </a:defRPr>
            </a:pPr>
            <a:r>
              <a:t>and limits.</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0"/>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1">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compiler/parser/grammar.py</a:t>
            </a:r>
          </a:p>
        </p:txBody>
      </p:sp>
      <p:sp>
        <p:nvSpPr>
          <p:cNvPr id="35" name="source-22">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36" name="source-23">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compiler/parser/service.py</a:t>
            </a:r>
          </a:p>
        </p:txBody>
      </p:sp>
      <p:sp>
        <p:nvSpPr>
          <p:cNvPr id="37" name="source-24">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8"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070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85343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Lexer DFA: recognizing token forms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An equivalent formal model of the regex, not a runtime DFA class.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Double circles</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Accept a token form.</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J and R</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Pending joiner or decimal</a:t>
            </a:r>
          </a:p>
          <a:p>
            <a:pPr algn="l">
              <a:lnSpc>
                <a:spcPts val="2088"/>
              </a:lnSpc>
              <a:spcBef>
                <a:spcPts val="0"/>
              </a:spcBef>
              <a:spcAft>
                <a:spcPts val="0"/>
              </a:spcAft>
              <a:defRPr sz="1800" b="0">
                <a:solidFill>
                  <a:srgbClr val="587080"/>
                </a:solidFill>
                <a:latin typeface="Arial"/>
              </a:defRPr>
            </a:pPr>
            <a:r>
              <a:t>continuation.</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Implicit dead state</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Unshown transitions stop</a:t>
            </a:r>
          </a:p>
          <a:p>
            <a:pPr algn="l">
              <a:lnSpc>
                <a:spcPts val="2088"/>
              </a:lnSpc>
              <a:spcBef>
                <a:spcPts val="0"/>
              </a:spcBef>
              <a:spcAft>
                <a:spcPts val="0"/>
              </a:spcAft>
              <a:defRPr sz="1800" b="0">
                <a:solidFill>
                  <a:srgbClr val="587080"/>
                </a:solidFill>
                <a:latin typeface="Arial"/>
              </a:defRPr>
            </a:pPr>
            <a:r>
              <a:t>this token path.</a:t>
            </a:r>
          </a:p>
        </p:txBody>
      </p:sp>
      <p:sp>
        <p:nvSpPr>
          <p:cNvPr id="16" name="Rounded Rectangle 15"/>
          <p:cNvSpPr/>
          <p:nvPr/>
        </p:nvSpPr>
        <p:spPr>
          <a:xfrm>
            <a:off x="3867912" y="2002536"/>
            <a:ext cx="7772400" cy="3822191"/>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automaton-lexer.png"/>
          <p:cNvPicPr>
            <a:picLocks noChangeAspect="1"/>
          </p:cNvPicPr>
          <p:nvPr/>
        </p:nvPicPr>
        <p:blipFill>
          <a:blip r:embed="rId2"/>
          <a:stretch>
            <a:fillRect/>
          </a:stretch>
        </p:blipFill>
        <p:spPr>
          <a:xfrm>
            <a:off x="4882021" y="2121408"/>
            <a:ext cx="5744181" cy="3566160"/>
          </a:xfrm>
          <a:prstGeom prst="rect">
            <a:avLst/>
          </a:prstGeom>
        </p:spPr>
      </p:pic>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docs/diagrams/automaton-lexer.puml</a:t>
            </a:r>
          </a:p>
        </p:txBody>
      </p:sp>
      <p:sp>
        <p:nvSpPr>
          <p:cNvPr id="22"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071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86563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 pending state cannot end a token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Compare 3.14 with 3. using the same automaton.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I</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Read 3: integer</a:t>
            </a:r>
          </a:p>
          <a:p>
            <a:pPr algn="l">
              <a:lnSpc>
                <a:spcPts val="2088"/>
              </a:lnSpc>
              <a:spcBef>
                <a:spcPts val="0"/>
              </a:spcBef>
              <a:spcAft>
                <a:spcPts val="0"/>
              </a:spcAft>
              <a:defRPr sz="1800" b="0">
                <a:solidFill>
                  <a:srgbClr val="587080"/>
                </a:solidFill>
                <a:latin typeface="Arial"/>
              </a:defRPr>
            </a:pPr>
            <a:r>
              <a:t>accepts</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Read .: separator is</a:t>
            </a:r>
          </a:p>
          <a:p>
            <a:pPr algn="l">
              <a:lnSpc>
                <a:spcPts val="2088"/>
              </a:lnSpc>
              <a:spcBef>
                <a:spcPts val="0"/>
              </a:spcBef>
              <a:spcAft>
                <a:spcPts val="0"/>
              </a:spcAft>
              <a:defRPr sz="1800" b="0">
                <a:solidFill>
                  <a:srgbClr val="587080"/>
                </a:solidFill>
                <a:latin typeface="Arial"/>
              </a:defRPr>
            </a:pPr>
            <a:r>
              <a:t>pending</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F</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Read 14: fraction</a:t>
            </a:r>
          </a:p>
          <a:p>
            <a:pPr algn="l">
              <a:lnSpc>
                <a:spcPts val="2088"/>
              </a:lnSpc>
              <a:spcBef>
                <a:spcPts val="0"/>
              </a:spcBef>
              <a:spcAft>
                <a:spcPts val="0"/>
              </a:spcAft>
              <a:defRPr sz="1800" b="0">
                <a:solidFill>
                  <a:srgbClr val="587080"/>
                </a:solidFill>
                <a:latin typeface="Arial"/>
              </a:defRPr>
            </a:pPr>
            <a:r>
              <a:t>accepts</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RESCAN</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With no following digit,</a:t>
            </a:r>
          </a:p>
          <a:p>
            <a:pPr algn="l">
              <a:lnSpc>
                <a:spcPts val="1972"/>
              </a:lnSpc>
              <a:spcBef>
                <a:spcPts val="0"/>
              </a:spcBef>
              <a:spcAft>
                <a:spcPts val="0"/>
              </a:spcAft>
              <a:defRPr sz="1700" b="0">
                <a:solidFill>
                  <a:srgbClr val="587080"/>
                </a:solidFill>
                <a:latin typeface="Arial"/>
              </a:defRPr>
            </a:pPr>
            <a:r>
              <a:t>emit 3 then scan .</a:t>
            </a:r>
          </a:p>
          <a:p>
            <a:pPr algn="l">
              <a:lnSpc>
                <a:spcPts val="1972"/>
              </a:lnSpc>
              <a:spcBef>
                <a:spcPts val="0"/>
              </a:spcBef>
              <a:spcAft>
                <a:spcPts val="0"/>
              </a:spcAft>
              <a:defRPr sz="1700" b="0">
                <a:solidFill>
                  <a:srgbClr val="587080"/>
                </a:solidFill>
                <a:latin typeface="Arial"/>
              </a:defRPr>
            </a:pPr>
            <a:r>
              <a:t>again</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docs/diagrams/automaton-lexer.puml</a:t>
            </a:r>
          </a:p>
        </p:txBody>
      </p:sp>
      <p:sp>
        <p:nvSpPr>
          <p:cNvPr id="31" name="source-21">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docs/report-data/lexer-controls.tex</a:t>
            </a:r>
          </a:p>
        </p:txBody>
      </p:sp>
      <p:sp>
        <p:nvSpPr>
          <p:cNvPr id="32" name="footer-2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3" name="footer-2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072 / 100</a:t>
            </a:r>
          </a:p>
        </p:txBody>
      </p:sp>
      <p:sp>
        <p:nvSpPr>
          <p:cNvPr id="34" name="Rectangle 3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0" y="6821424"/>
            <a:ext cx="87782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parser adds a stack</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Deterministic pushdown control explains the saved LL(1) recognizer.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1965960"/>
            <a:ext cx="11082528" cy="29626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automaton-parser.png"/>
          <p:cNvPicPr>
            <a:picLocks noChangeAspect="1"/>
          </p:cNvPicPr>
          <p:nvPr/>
        </p:nvPicPr>
        <p:blipFill>
          <a:blip r:embed="rId2"/>
          <a:stretch>
            <a:fillRect/>
          </a:stretch>
        </p:blipFill>
        <p:spPr>
          <a:xfrm>
            <a:off x="1845789" y="2093976"/>
            <a:ext cx="8488229" cy="2706624"/>
          </a:xfrm>
          <a:prstGeom prst="rect">
            <a:avLst/>
          </a:prstGeom>
        </p:spPr>
      </p:pic>
      <p:sp>
        <p:nvSpPr>
          <p:cNvPr id="9" name="body-5"/>
          <p:cNvSpPr txBox="1"/>
          <p:nvPr/>
        </p:nvSpPr>
        <p:spPr>
          <a:xfrm>
            <a:off x="594360" y="5111496"/>
            <a:ext cx="3502152" cy="256032"/>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EXPAND</a:t>
            </a:r>
          </a:p>
        </p:txBody>
      </p:sp>
      <p:sp>
        <p:nvSpPr>
          <p:cNvPr id="10" name="body-6"/>
          <p:cNvSpPr txBox="1"/>
          <p:nvPr/>
        </p:nvSpPr>
        <p:spPr>
          <a:xfrm>
            <a:off x="594360" y="5495544"/>
            <a:ext cx="3529584" cy="320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Use the unique table cell.</a:t>
            </a:r>
          </a:p>
        </p:txBody>
      </p:sp>
      <p:sp>
        <p:nvSpPr>
          <p:cNvPr id="11" name="body-7"/>
          <p:cNvSpPr txBox="1"/>
          <p:nvPr/>
        </p:nvSpPr>
        <p:spPr>
          <a:xfrm>
            <a:off x="4334256" y="5111496"/>
            <a:ext cx="3502152" cy="256032"/>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MATCH</a:t>
            </a:r>
          </a:p>
        </p:txBody>
      </p:sp>
      <p:sp>
        <p:nvSpPr>
          <p:cNvPr id="12" name="body-8"/>
          <p:cNvSpPr txBox="1"/>
          <p:nvPr/>
        </p:nvSpPr>
        <p:spPr>
          <a:xfrm>
            <a:off x="4334256" y="5495544"/>
            <a:ext cx="3529584" cy="320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Pop a terminal and advance.</a:t>
            </a:r>
          </a:p>
        </p:txBody>
      </p:sp>
      <p:sp>
        <p:nvSpPr>
          <p:cNvPr id="13" name="body-9"/>
          <p:cNvSpPr txBox="1"/>
          <p:nvPr/>
        </p:nvSpPr>
        <p:spPr>
          <a:xfrm>
            <a:off x="8074152" y="5111496"/>
            <a:ext cx="3502152" cy="256032"/>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ACCEPT</a:t>
            </a:r>
          </a:p>
        </p:txBody>
      </p:sp>
      <p:sp>
        <p:nvSpPr>
          <p:cNvPr id="14" name="body-10"/>
          <p:cNvSpPr txBox="1"/>
          <p:nvPr/>
        </p:nvSpPr>
        <p:spPr>
          <a:xfrm>
            <a:off x="8074152" y="5495544"/>
            <a:ext cx="3529584" cy="320040"/>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Bottom marker and input end agree.</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18"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docs/diagrams/automaton-parser.puml</a:t>
            </a:r>
          </a:p>
        </p:txBody>
      </p:sp>
      <p:sp>
        <p:nvSpPr>
          <p:cNvPr id="19"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0"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073 / 100</a:t>
            </a:r>
          </a:p>
        </p:txBody>
      </p:sp>
      <p:sp>
        <p:nvSpPr>
          <p:cNvPr id="21" name="Rectangle 2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0" y="6821424"/>
            <a:ext cx="89001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The top of the stack is on the right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S02 begins with a start symbol above the bottom marker.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body-5"/>
          <p:cNvSpPr txBox="1"/>
          <p:nvPr/>
        </p:nvSpPr>
        <p:spPr>
          <a:xfrm>
            <a:off x="594360" y="2532888"/>
            <a:ext cx="1124712" cy="310896"/>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BEFORE</a:t>
            </a:r>
          </a:p>
        </p:txBody>
      </p:sp>
      <p:sp>
        <p:nvSpPr>
          <p:cNvPr id="8" name="Rounded Rectangle 7"/>
          <p:cNvSpPr/>
          <p:nvPr/>
        </p:nvSpPr>
        <p:spPr>
          <a:xfrm>
            <a:off x="1828800" y="22768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6"/>
          <p:cNvSpPr txBox="1"/>
          <p:nvPr/>
        </p:nvSpPr>
        <p:spPr>
          <a:xfrm>
            <a:off x="1920240" y="25237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a:t>
            </a:r>
          </a:p>
        </p:txBody>
      </p:sp>
      <p:sp>
        <p:nvSpPr>
          <p:cNvPr id="10" name="Rounded Rectangle 9"/>
          <p:cNvSpPr/>
          <p:nvPr/>
        </p:nvSpPr>
        <p:spPr>
          <a:xfrm>
            <a:off x="4096512" y="2276856"/>
            <a:ext cx="2048256" cy="905256"/>
          </a:xfrm>
          <a:prstGeom prst="roundRect">
            <a:avLst>
              <a:gd name="adj" fmla="val 11000"/>
            </a:avLst>
          </a:prstGeom>
          <a:solidFill>
            <a:srgbClr val="123041"/>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4187952" y="25237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FFFFFF"/>
                </a:solidFill>
                <a:latin typeface="Arial"/>
              </a:defRPr>
            </a:pPr>
            <a:r>
              <a:t>Ut</a:t>
            </a:r>
          </a:p>
        </p:txBody>
      </p:sp>
      <p:sp>
        <p:nvSpPr>
          <p:cNvPr id="12" name="body-8"/>
          <p:cNvSpPr txBox="1"/>
          <p:nvPr/>
        </p:nvSpPr>
        <p:spPr>
          <a:xfrm>
            <a:off x="9390888" y="2551176"/>
            <a:ext cx="1828800" cy="320040"/>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TOP</a:t>
            </a:r>
          </a:p>
        </p:txBody>
      </p:sp>
      <p:sp>
        <p:nvSpPr>
          <p:cNvPr id="13" name="body-9"/>
          <p:cNvSpPr txBox="1"/>
          <p:nvPr/>
        </p:nvSpPr>
        <p:spPr>
          <a:xfrm>
            <a:off x="594360" y="4133088"/>
            <a:ext cx="1124712" cy="310896"/>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AFTER</a:t>
            </a:r>
          </a:p>
        </p:txBody>
      </p:sp>
      <p:sp>
        <p:nvSpPr>
          <p:cNvPr id="14" name="Rounded Rectangle 13"/>
          <p:cNvSpPr/>
          <p:nvPr/>
        </p:nvSpPr>
        <p:spPr>
          <a:xfrm>
            <a:off x="1828800" y="38770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dy-10"/>
          <p:cNvSpPr txBox="1"/>
          <p:nvPr/>
        </p:nvSpPr>
        <p:spPr>
          <a:xfrm>
            <a:off x="1920240" y="41239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a:t>
            </a:r>
          </a:p>
        </p:txBody>
      </p:sp>
      <p:sp>
        <p:nvSpPr>
          <p:cNvPr id="16" name="Rounded Rectangle 15"/>
          <p:cNvSpPr/>
          <p:nvPr/>
        </p:nvSpPr>
        <p:spPr>
          <a:xfrm>
            <a:off x="4096512" y="38770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4187952" y="41239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Uf</a:t>
            </a:r>
          </a:p>
        </p:txBody>
      </p:sp>
      <p:sp>
        <p:nvSpPr>
          <p:cNvPr id="18" name="Rounded Rectangle 17"/>
          <p:cNvSpPr/>
          <p:nvPr/>
        </p:nvSpPr>
        <p:spPr>
          <a:xfrm>
            <a:off x="6364224" y="3877056"/>
            <a:ext cx="2048256" cy="905256"/>
          </a:xfrm>
          <a:prstGeom prst="roundRect">
            <a:avLst>
              <a:gd name="adj" fmla="val 11000"/>
            </a:avLst>
          </a:prstGeom>
          <a:solidFill>
            <a:srgbClr val="123041"/>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dy-12"/>
          <p:cNvSpPr txBox="1"/>
          <p:nvPr/>
        </p:nvSpPr>
        <p:spPr>
          <a:xfrm>
            <a:off x="6455664" y="41239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FFFFFF"/>
                </a:solidFill>
                <a:latin typeface="Arial"/>
              </a:defRPr>
            </a:pPr>
            <a:r>
              <a:t>Cl</a:t>
            </a:r>
          </a:p>
        </p:txBody>
      </p:sp>
      <p:sp>
        <p:nvSpPr>
          <p:cNvPr id="20" name="body-13"/>
          <p:cNvSpPr txBox="1"/>
          <p:nvPr/>
        </p:nvSpPr>
        <p:spPr>
          <a:xfrm>
            <a:off x="9390888" y="4151376"/>
            <a:ext cx="1828800" cy="320040"/>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TOP</a:t>
            </a:r>
          </a:p>
        </p:txBody>
      </p:sp>
      <p:sp>
        <p:nvSpPr>
          <p:cNvPr id="21" name="body-14"/>
          <p:cNvSpPr txBox="1"/>
          <p:nvPr/>
        </p:nvSpPr>
        <p:spPr>
          <a:xfrm>
            <a:off x="612648" y="5486400"/>
            <a:ext cx="10972800" cy="3566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Clause must be handled before the ending helper.</a:t>
            </a:r>
          </a:p>
        </p:txBody>
      </p:sp>
      <p:cxnSp>
        <p:nvCxnSpPr>
          <p:cNvPr id="22" name="Connector 2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footer-15"/>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4" name="source-16">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5" name="source-17">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6"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7"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074 / 100</a:t>
            </a:r>
          </a:p>
        </p:txBody>
      </p:sp>
      <p:sp>
        <p:nvSpPr>
          <p:cNvPr id="28" name="Rectangle 27"/>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0" y="6821424"/>
            <a:ext cx="90220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One table entry controls expansion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Nonterminal expansion does not consume a category.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1993392"/>
            <a:ext cx="7315200" cy="3794760"/>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caption-5"/>
          <p:cNvSpPr txBox="1"/>
          <p:nvPr/>
        </p:nvSpPr>
        <p:spPr>
          <a:xfrm>
            <a:off x="786384" y="2185416"/>
            <a:ext cx="6821424" cy="219456"/>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CBA261"/>
                </a:solidFill>
                <a:latin typeface="Arial"/>
              </a:defRPr>
            </a:pPr>
            <a:r>
              <a:t>SOURCE WALKTHROUGH / ABBREVIATED WHERE MARKED</a:t>
            </a:r>
          </a:p>
        </p:txBody>
      </p:sp>
      <p:sp>
        <p:nvSpPr>
          <p:cNvPr id="9" name="body-6"/>
          <p:cNvSpPr txBox="1"/>
          <p:nvPr/>
        </p:nvSpPr>
        <p:spPr>
          <a:xfrm>
            <a:off x="795528" y="2688336"/>
            <a:ext cx="6784848" cy="2779776"/>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E0EFEB"/>
                </a:solidFill>
                <a:latin typeface="Consolas"/>
              </a:defRPr>
            </a:pPr>
            <a:r>
              <a:t>production = table[top][lookahead]</a:t>
            </a:r>
          </a:p>
          <a:p>
            <a:pPr algn="l">
              <a:lnSpc>
                <a:spcPts val="2204"/>
              </a:lnSpc>
              <a:spcBef>
                <a:spcPts val="0"/>
              </a:spcBef>
              <a:spcAft>
                <a:spcPts val="0"/>
              </a:spcAft>
              <a:defRPr sz="1900" b="0">
                <a:solidFill>
                  <a:srgbClr val="E0EFEB"/>
                </a:solidFill>
                <a:latin typeface="Consolas"/>
              </a:defRPr>
            </a:pPr>
          </a:p>
          <a:p>
            <a:pPr algn="l">
              <a:lnSpc>
                <a:spcPts val="2204"/>
              </a:lnSpc>
              <a:spcBef>
                <a:spcPts val="0"/>
              </a:spcBef>
              <a:spcAft>
                <a:spcPts val="0"/>
              </a:spcAft>
              <a:defRPr sz="1900" b="0">
                <a:solidFill>
                  <a:srgbClr val="E0EFEB"/>
                </a:solidFill>
                <a:latin typeface="Consolas"/>
              </a:defRPr>
            </a:pPr>
            <a:r>
              <a:t>record("Apply ...")</a:t>
            </a:r>
          </a:p>
          <a:p>
            <a:pPr algn="l">
              <a:lnSpc>
                <a:spcPts val="2204"/>
              </a:lnSpc>
              <a:spcBef>
                <a:spcPts val="0"/>
              </a:spcBef>
              <a:spcAft>
                <a:spcPts val="0"/>
              </a:spcAft>
              <a:defRPr sz="1900" b="0">
                <a:solidFill>
                  <a:srgbClr val="E0EFEB"/>
                </a:solidFill>
                <a:latin typeface="Consolas"/>
              </a:defRPr>
            </a:pPr>
            <a:r>
              <a:t>stack.pop()</a:t>
            </a:r>
          </a:p>
          <a:p>
            <a:pPr algn="l">
              <a:lnSpc>
                <a:spcPts val="2204"/>
              </a:lnSpc>
              <a:spcBef>
                <a:spcPts val="0"/>
              </a:spcBef>
              <a:spcAft>
                <a:spcPts val="0"/>
              </a:spcAft>
              <a:defRPr sz="1900" b="0">
                <a:solidFill>
                  <a:srgbClr val="E0EFEB"/>
                </a:solidFill>
                <a:latin typeface="Consolas"/>
              </a:defRPr>
            </a:pPr>
            <a:r>
              <a:t>stack.extend(reversed(production))</a:t>
            </a:r>
          </a:p>
        </p:txBody>
      </p:sp>
      <p:sp>
        <p:nvSpPr>
          <p:cNvPr id="10" name="Rectangle 9"/>
          <p:cNvSpPr/>
          <p:nvPr/>
        </p:nvSpPr>
        <p:spPr>
          <a:xfrm>
            <a:off x="8202168"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8385048" y="2093976"/>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Lookahead</a:t>
            </a:r>
          </a:p>
        </p:txBody>
      </p:sp>
      <p:sp>
        <p:nvSpPr>
          <p:cNvPr id="12" name="body-8"/>
          <p:cNvSpPr txBox="1"/>
          <p:nvPr/>
        </p:nvSpPr>
        <p:spPr>
          <a:xfrm>
            <a:off x="8385048" y="2532888"/>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Choose a unique M[A, a]</a:t>
            </a:r>
          </a:p>
          <a:p>
            <a:pPr algn="l">
              <a:lnSpc>
                <a:spcPts val="2088"/>
              </a:lnSpc>
              <a:spcBef>
                <a:spcPts val="0"/>
              </a:spcBef>
              <a:spcAft>
                <a:spcPts val="0"/>
              </a:spcAft>
              <a:defRPr sz="1800" b="0">
                <a:solidFill>
                  <a:srgbClr val="587080"/>
                </a:solidFill>
                <a:latin typeface="Arial"/>
              </a:defRPr>
            </a:pPr>
            <a:r>
              <a:t>entry.</a:t>
            </a:r>
          </a:p>
        </p:txBody>
      </p:sp>
      <p:sp>
        <p:nvSpPr>
          <p:cNvPr id="13" name="Rectangle 12"/>
          <p:cNvSpPr/>
          <p:nvPr/>
        </p:nvSpPr>
        <p:spPr>
          <a:xfrm>
            <a:off x="8202168" y="330708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8385048" y="3288792"/>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Replacement</a:t>
            </a:r>
          </a:p>
        </p:txBody>
      </p:sp>
      <p:sp>
        <p:nvSpPr>
          <p:cNvPr id="15" name="body-10"/>
          <p:cNvSpPr txBox="1"/>
          <p:nvPr/>
        </p:nvSpPr>
        <p:spPr>
          <a:xfrm>
            <a:off x="8385048" y="3727703"/>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Push the RHS in reverse</a:t>
            </a:r>
          </a:p>
          <a:p>
            <a:pPr algn="l">
              <a:lnSpc>
                <a:spcPts val="2088"/>
              </a:lnSpc>
              <a:spcBef>
                <a:spcPts val="0"/>
              </a:spcBef>
              <a:spcAft>
                <a:spcPts val="0"/>
              </a:spcAft>
              <a:defRPr sz="1800" b="0">
                <a:solidFill>
                  <a:srgbClr val="587080"/>
                </a:solidFill>
                <a:latin typeface="Arial"/>
              </a:defRPr>
            </a:pPr>
            <a:r>
              <a:t>order.</a:t>
            </a:r>
          </a:p>
        </p:txBody>
      </p:sp>
      <p:sp>
        <p:nvSpPr>
          <p:cNvPr id="16" name="Rectangle 15"/>
          <p:cNvSpPr/>
          <p:nvPr/>
        </p:nvSpPr>
        <p:spPr>
          <a:xfrm>
            <a:off x="8202168"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8385048" y="4483608"/>
            <a:ext cx="3026663"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Epsilon</a:t>
            </a:r>
          </a:p>
        </p:txBody>
      </p:sp>
      <p:sp>
        <p:nvSpPr>
          <p:cNvPr id="18" name="body-12"/>
          <p:cNvSpPr txBox="1"/>
          <p:nvPr/>
        </p:nvSpPr>
        <p:spPr>
          <a:xfrm>
            <a:off x="8385048" y="4922520"/>
            <a:ext cx="3008375" cy="691895"/>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Pop A without consuming</a:t>
            </a:r>
          </a:p>
          <a:p>
            <a:pPr algn="l">
              <a:lnSpc>
                <a:spcPts val="2088"/>
              </a:lnSpc>
              <a:spcBef>
                <a:spcPts val="0"/>
              </a:spcBef>
              <a:spcAft>
                <a:spcPts val="0"/>
              </a:spcAft>
              <a:defRPr sz="1800" b="0">
                <a:solidFill>
                  <a:srgbClr val="587080"/>
                </a:solidFill>
                <a:latin typeface="Arial"/>
              </a:defRPr>
            </a:pPr>
            <a:r>
              <a:t>input.</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075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9143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 terminal match consumes one category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stack and logical input advance together.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body-5"/>
          <p:cNvSpPr txBox="1"/>
          <p:nvPr/>
        </p:nvSpPr>
        <p:spPr>
          <a:xfrm>
            <a:off x="594360" y="2532888"/>
            <a:ext cx="1124712" cy="310896"/>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BEFORE</a:t>
            </a:r>
          </a:p>
        </p:txBody>
      </p:sp>
      <p:sp>
        <p:nvSpPr>
          <p:cNvPr id="8" name="Rounded Rectangle 7"/>
          <p:cNvSpPr/>
          <p:nvPr/>
        </p:nvSpPr>
        <p:spPr>
          <a:xfrm>
            <a:off x="1828800" y="22768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6"/>
          <p:cNvSpPr txBox="1"/>
          <p:nvPr/>
        </p:nvSpPr>
        <p:spPr>
          <a:xfrm>
            <a:off x="1920240" y="25237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a:t>
            </a:r>
          </a:p>
        </p:txBody>
      </p:sp>
      <p:sp>
        <p:nvSpPr>
          <p:cNvPr id="10" name="Rounded Rectangle 9"/>
          <p:cNvSpPr/>
          <p:nvPr/>
        </p:nvSpPr>
        <p:spPr>
          <a:xfrm>
            <a:off x="4096512" y="22768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4187952" y="25237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Uf</a:t>
            </a:r>
          </a:p>
        </p:txBody>
      </p:sp>
      <p:sp>
        <p:nvSpPr>
          <p:cNvPr id="12" name="Rounded Rectangle 11"/>
          <p:cNvSpPr/>
          <p:nvPr/>
        </p:nvSpPr>
        <p:spPr>
          <a:xfrm>
            <a:off x="6364224" y="22768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6455664" y="25237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St</a:t>
            </a:r>
          </a:p>
        </p:txBody>
      </p:sp>
      <p:sp>
        <p:nvSpPr>
          <p:cNvPr id="14" name="Rounded Rectangle 13"/>
          <p:cNvSpPr/>
          <p:nvPr/>
        </p:nvSpPr>
        <p:spPr>
          <a:xfrm>
            <a:off x="8631936" y="2276856"/>
            <a:ext cx="2048256" cy="905256"/>
          </a:xfrm>
          <a:prstGeom prst="roundRect">
            <a:avLst>
              <a:gd name="adj" fmla="val 11000"/>
            </a:avLst>
          </a:prstGeom>
          <a:solidFill>
            <a:srgbClr val="123041"/>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dy-9"/>
          <p:cNvSpPr txBox="1"/>
          <p:nvPr/>
        </p:nvSpPr>
        <p:spPr>
          <a:xfrm>
            <a:off x="8723376" y="25237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FFFFFF"/>
                </a:solidFill>
                <a:latin typeface="Arial"/>
              </a:defRPr>
            </a:pPr>
            <a:r>
              <a:t>FF</a:t>
            </a:r>
          </a:p>
        </p:txBody>
      </p:sp>
      <p:sp>
        <p:nvSpPr>
          <p:cNvPr id="16" name="body-10"/>
          <p:cNvSpPr txBox="1"/>
          <p:nvPr/>
        </p:nvSpPr>
        <p:spPr>
          <a:xfrm>
            <a:off x="9390888" y="2551176"/>
            <a:ext cx="1828800" cy="320040"/>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TOP</a:t>
            </a:r>
          </a:p>
        </p:txBody>
      </p:sp>
      <p:sp>
        <p:nvSpPr>
          <p:cNvPr id="17" name="body-11"/>
          <p:cNvSpPr txBox="1"/>
          <p:nvPr/>
        </p:nvSpPr>
        <p:spPr>
          <a:xfrm>
            <a:off x="594360" y="4133088"/>
            <a:ext cx="1124712" cy="310896"/>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AFTER</a:t>
            </a:r>
          </a:p>
        </p:txBody>
      </p:sp>
      <p:sp>
        <p:nvSpPr>
          <p:cNvPr id="18" name="Rounded Rectangle 17"/>
          <p:cNvSpPr/>
          <p:nvPr/>
        </p:nvSpPr>
        <p:spPr>
          <a:xfrm>
            <a:off x="1828800" y="38770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dy-12"/>
          <p:cNvSpPr txBox="1"/>
          <p:nvPr/>
        </p:nvSpPr>
        <p:spPr>
          <a:xfrm>
            <a:off x="1920240" y="41239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a:t>
            </a:r>
          </a:p>
        </p:txBody>
      </p:sp>
      <p:sp>
        <p:nvSpPr>
          <p:cNvPr id="20" name="Rounded Rectangle 19"/>
          <p:cNvSpPr/>
          <p:nvPr/>
        </p:nvSpPr>
        <p:spPr>
          <a:xfrm>
            <a:off x="4096512" y="3877056"/>
            <a:ext cx="2048256" cy="9052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3"/>
          <p:cNvSpPr txBox="1"/>
          <p:nvPr/>
        </p:nvSpPr>
        <p:spPr>
          <a:xfrm>
            <a:off x="4187952" y="41239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183747"/>
                </a:solidFill>
                <a:latin typeface="Arial"/>
              </a:defRPr>
            </a:pPr>
            <a:r>
              <a:t>Uf</a:t>
            </a:r>
          </a:p>
        </p:txBody>
      </p:sp>
      <p:sp>
        <p:nvSpPr>
          <p:cNvPr id="22" name="Rounded Rectangle 21"/>
          <p:cNvSpPr/>
          <p:nvPr/>
        </p:nvSpPr>
        <p:spPr>
          <a:xfrm>
            <a:off x="6364224" y="3877056"/>
            <a:ext cx="2048256" cy="905256"/>
          </a:xfrm>
          <a:prstGeom prst="roundRect">
            <a:avLst>
              <a:gd name="adj" fmla="val 11000"/>
            </a:avLst>
          </a:prstGeom>
          <a:solidFill>
            <a:srgbClr val="123041"/>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6455664" y="4123944"/>
            <a:ext cx="1865376" cy="420624"/>
          </a:xfrm>
          <a:prstGeom prst="rect">
            <a:avLst/>
          </a:prstGeom>
          <a:noFill/>
        </p:spPr>
        <p:txBody>
          <a:bodyPr wrap="none" lIns="0" rIns="0" tIns="0" bIns="0" anchor="t">
            <a:noAutofit/>
          </a:bodyPr>
          <a:lstStyle/>
          <a:p>
            <a:pPr algn="ctr">
              <a:lnSpc>
                <a:spcPts val="3015"/>
              </a:lnSpc>
              <a:spcBef>
                <a:spcPts val="0"/>
              </a:spcBef>
              <a:spcAft>
                <a:spcPts val="0"/>
              </a:spcAft>
              <a:defRPr sz="2600" b="1">
                <a:solidFill>
                  <a:srgbClr val="FFFFFF"/>
                </a:solidFill>
                <a:latin typeface="Arial"/>
              </a:defRPr>
            </a:pPr>
            <a:r>
              <a:t>St</a:t>
            </a:r>
          </a:p>
        </p:txBody>
      </p:sp>
      <p:sp>
        <p:nvSpPr>
          <p:cNvPr id="24" name="body-15"/>
          <p:cNvSpPr txBox="1"/>
          <p:nvPr/>
        </p:nvSpPr>
        <p:spPr>
          <a:xfrm>
            <a:off x="9390888" y="4151376"/>
            <a:ext cx="1828800" cy="320040"/>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TOP</a:t>
            </a:r>
          </a:p>
        </p:txBody>
      </p:sp>
      <p:sp>
        <p:nvSpPr>
          <p:cNvPr id="25" name="body-16"/>
          <p:cNvSpPr txBox="1"/>
          <p:nvPr/>
        </p:nvSpPr>
        <p:spPr>
          <a:xfrm>
            <a:off x="612648" y="5486400"/>
            <a:ext cx="10972800" cy="35661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The next category is VERB.</a:t>
            </a:r>
          </a:p>
        </p:txBody>
      </p:sp>
      <p:cxnSp>
        <p:nvCxnSpPr>
          <p:cNvPr id="26" name="Connector 25"/>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7" name="footer-1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8" name="source-18">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9" name="source-19">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30" name="footer-20"/>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21"/>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076 / 100</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92659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Walk the first four S02 actions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Expansion and matching leave different fingerprints in the trace.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283134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Stack (top at right)</a:t>
            </a:r>
          </a:p>
        </p:txBody>
      </p:sp>
      <p:sp>
        <p:nvSpPr>
          <p:cNvPr id="9" name="body-6"/>
          <p:cNvSpPr txBox="1"/>
          <p:nvPr/>
        </p:nvSpPr>
        <p:spPr>
          <a:xfrm>
            <a:off x="3800612" y="2093976"/>
            <a:ext cx="3385931"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Remaining input</a:t>
            </a:r>
          </a:p>
        </p:txBody>
      </p:sp>
      <p:sp>
        <p:nvSpPr>
          <p:cNvPr id="10" name="body-7"/>
          <p:cNvSpPr txBox="1"/>
          <p:nvPr/>
        </p:nvSpPr>
        <p:spPr>
          <a:xfrm>
            <a:off x="7460863" y="2093976"/>
            <a:ext cx="4051432"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Action</a:t>
            </a:r>
          </a:p>
        </p:txBody>
      </p:sp>
      <p:sp>
        <p:nvSpPr>
          <p:cNvPr id="11" name="Rectangle 10"/>
          <p:cNvSpPr/>
          <p:nvPr/>
        </p:nvSpPr>
        <p:spPr>
          <a:xfrm>
            <a:off x="548640" y="2441448"/>
            <a:ext cx="11091672" cy="6492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309067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Ut]</a:t>
            </a:r>
          </a:p>
        </p:txBody>
      </p:sp>
      <p:sp>
        <p:nvSpPr>
          <p:cNvPr id="14" name="body-9"/>
          <p:cNvSpPr txBox="1"/>
          <p:nvPr/>
        </p:nvSpPr>
        <p:spPr>
          <a:xfrm>
            <a:off x="3800612" y="2523744"/>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FF VERB ADJECTIVE FF VERB</a:t>
            </a:r>
          </a:p>
          <a:p>
            <a:pPr algn="l">
              <a:lnSpc>
                <a:spcPts val="1972"/>
              </a:lnSpc>
              <a:spcBef>
                <a:spcPts val="0"/>
              </a:spcBef>
              <a:spcAft>
                <a:spcPts val="0"/>
              </a:spcAft>
              <a:defRPr sz="1700" b="0">
                <a:solidFill>
                  <a:srgbClr val="183747"/>
                </a:solidFill>
                <a:latin typeface="Arial"/>
              </a:defRPr>
            </a:pPr>
            <a:r>
              <a:t>VERB $</a:t>
            </a:r>
          </a:p>
        </p:txBody>
      </p:sp>
      <p:sp>
        <p:nvSpPr>
          <p:cNvPr id="15" name="body-10"/>
          <p:cNvSpPr txBox="1"/>
          <p:nvPr/>
        </p:nvSpPr>
        <p:spPr>
          <a:xfrm>
            <a:off x="7460863" y="2523744"/>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Apply Ut -&gt; Cl Uf</a:t>
            </a:r>
          </a:p>
        </p:txBody>
      </p:sp>
      <p:sp>
        <p:nvSpPr>
          <p:cNvPr id="16" name="Rectangle 15"/>
          <p:cNvSpPr/>
          <p:nvPr/>
        </p:nvSpPr>
        <p:spPr>
          <a:xfrm>
            <a:off x="548640" y="3090672"/>
            <a:ext cx="11091672" cy="649224"/>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373989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3172968"/>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Uf, Cl]</a:t>
            </a:r>
          </a:p>
        </p:txBody>
      </p:sp>
      <p:sp>
        <p:nvSpPr>
          <p:cNvPr id="19" name="body-12"/>
          <p:cNvSpPr txBox="1"/>
          <p:nvPr/>
        </p:nvSpPr>
        <p:spPr>
          <a:xfrm>
            <a:off x="3800612" y="3172968"/>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FF VERB ADJECTIVE FF VERB</a:t>
            </a:r>
          </a:p>
          <a:p>
            <a:pPr algn="l">
              <a:lnSpc>
                <a:spcPts val="1972"/>
              </a:lnSpc>
              <a:spcBef>
                <a:spcPts val="0"/>
              </a:spcBef>
              <a:spcAft>
                <a:spcPts val="0"/>
              </a:spcAft>
              <a:defRPr sz="1700" b="0">
                <a:solidFill>
                  <a:srgbClr val="183747"/>
                </a:solidFill>
                <a:latin typeface="Arial"/>
              </a:defRPr>
            </a:pPr>
            <a:r>
              <a:t>VERB $</a:t>
            </a:r>
          </a:p>
        </p:txBody>
      </p:sp>
      <p:sp>
        <p:nvSpPr>
          <p:cNvPr id="20" name="body-13"/>
          <p:cNvSpPr txBox="1"/>
          <p:nvPr/>
        </p:nvSpPr>
        <p:spPr>
          <a:xfrm>
            <a:off x="7460863" y="3172968"/>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Apply Cl -&gt; FF St</a:t>
            </a:r>
          </a:p>
        </p:txBody>
      </p:sp>
      <p:sp>
        <p:nvSpPr>
          <p:cNvPr id="21" name="Rectangle 20"/>
          <p:cNvSpPr/>
          <p:nvPr/>
        </p:nvSpPr>
        <p:spPr>
          <a:xfrm>
            <a:off x="548640" y="3739896"/>
            <a:ext cx="11091672" cy="64922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43891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3822191"/>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Uf, St, FF]</a:t>
            </a:r>
          </a:p>
        </p:txBody>
      </p:sp>
      <p:sp>
        <p:nvSpPr>
          <p:cNvPr id="24" name="body-15"/>
          <p:cNvSpPr txBox="1"/>
          <p:nvPr/>
        </p:nvSpPr>
        <p:spPr>
          <a:xfrm>
            <a:off x="3800612" y="3822191"/>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FF VERB ADJECTIVE FF VERB</a:t>
            </a:r>
          </a:p>
          <a:p>
            <a:pPr algn="l">
              <a:lnSpc>
                <a:spcPts val="1972"/>
              </a:lnSpc>
              <a:spcBef>
                <a:spcPts val="0"/>
              </a:spcBef>
              <a:spcAft>
                <a:spcPts val="0"/>
              </a:spcAft>
              <a:defRPr sz="1700" b="0">
                <a:solidFill>
                  <a:srgbClr val="183747"/>
                </a:solidFill>
                <a:latin typeface="Arial"/>
              </a:defRPr>
            </a:pPr>
            <a:r>
              <a:t>VERB $</a:t>
            </a:r>
          </a:p>
        </p:txBody>
      </p:sp>
      <p:sp>
        <p:nvSpPr>
          <p:cNvPr id="25" name="body-16"/>
          <p:cNvSpPr txBox="1"/>
          <p:nvPr/>
        </p:nvSpPr>
        <p:spPr>
          <a:xfrm>
            <a:off x="7460863" y="3822191"/>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Match FF</a:t>
            </a:r>
          </a:p>
        </p:txBody>
      </p:sp>
      <p:sp>
        <p:nvSpPr>
          <p:cNvPr id="26" name="Rectangle 25"/>
          <p:cNvSpPr/>
          <p:nvPr/>
        </p:nvSpPr>
        <p:spPr>
          <a:xfrm>
            <a:off x="548640" y="4389120"/>
            <a:ext cx="11091672" cy="649224"/>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038344"/>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4471416"/>
            <a:ext cx="2831348"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 Uf, St]</a:t>
            </a:r>
          </a:p>
        </p:txBody>
      </p:sp>
      <p:sp>
        <p:nvSpPr>
          <p:cNvPr id="29" name="body-18"/>
          <p:cNvSpPr txBox="1"/>
          <p:nvPr/>
        </p:nvSpPr>
        <p:spPr>
          <a:xfrm>
            <a:off x="3800612" y="4471416"/>
            <a:ext cx="3385931"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VERB ADJECTIVE FF VERB</a:t>
            </a:r>
          </a:p>
          <a:p>
            <a:pPr algn="l">
              <a:lnSpc>
                <a:spcPts val="1972"/>
              </a:lnSpc>
              <a:spcBef>
                <a:spcPts val="0"/>
              </a:spcBef>
              <a:spcAft>
                <a:spcPts val="0"/>
              </a:spcAft>
              <a:defRPr sz="1700" b="0">
                <a:solidFill>
                  <a:srgbClr val="183747"/>
                </a:solidFill>
                <a:latin typeface="Arial"/>
              </a:defRPr>
            </a:pPr>
            <a:r>
              <a:t>VERB $</a:t>
            </a:r>
          </a:p>
        </p:txBody>
      </p:sp>
      <p:sp>
        <p:nvSpPr>
          <p:cNvPr id="30" name="body-19"/>
          <p:cNvSpPr txBox="1"/>
          <p:nvPr/>
        </p:nvSpPr>
        <p:spPr>
          <a:xfrm>
            <a:off x="7460863" y="4471416"/>
            <a:ext cx="4051432" cy="530352"/>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183747"/>
                </a:solidFill>
                <a:latin typeface="Arial"/>
              </a:defRPr>
            </a:pPr>
            <a:r>
              <a:t>Apply St -&gt; VERB Pt</a:t>
            </a:r>
          </a:p>
        </p:txBody>
      </p:sp>
      <p:sp>
        <p:nvSpPr>
          <p:cNvPr id="31" name="body-20"/>
          <p:cNvSpPr txBox="1"/>
          <p:nvPr/>
        </p:nvSpPr>
        <p:spPr>
          <a:xfrm>
            <a:off x="603504" y="5303520"/>
            <a:ext cx="10972800" cy="448056"/>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47E80"/>
                </a:solidFill>
                <a:latin typeface="Arial"/>
              </a:defRPr>
            </a:pPr>
            <a:r>
              <a:t>Only Match FF advances the remaining input.</a:t>
            </a:r>
          </a:p>
        </p:txBody>
      </p:sp>
      <p:sp>
        <p:nvSpPr>
          <p:cNvPr id="32" name="caption-21"/>
          <p:cNvSpPr txBox="1"/>
          <p:nvPr/>
        </p:nvSpPr>
        <p:spPr>
          <a:xfrm>
            <a:off x="603504" y="5760720"/>
            <a:ext cx="109728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Arial"/>
              </a:defRPr>
            </a:pPr>
            <a:r>
              <a:t>Ut = Utterance / Uf = ending helper / Cl = Clause / St = SubjectTail / FF = French function word</a:t>
            </a:r>
          </a:p>
        </p:txBody>
      </p:sp>
      <p:cxnSp>
        <p:nvCxnSpPr>
          <p:cNvPr id="33" name="Connector 3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4" name="footer-22"/>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5" name="source-23">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6" name="source-24">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37" name="source-25">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tools/tests/test_report_evidence.py</a:t>
            </a:r>
          </a:p>
        </p:txBody>
      </p:sp>
      <p:sp>
        <p:nvSpPr>
          <p:cNvPr id="38" name="footer-2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077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93878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Acceptance and rejection are explicit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Both outcomes return evidence rather than a guess.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S02 / ACCEPT</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6 consumed tokens.</a:t>
            </a:r>
          </a:p>
          <a:p>
            <a:pPr algn="l">
              <a:lnSpc>
                <a:spcPts val="2552"/>
              </a:lnSpc>
              <a:spcBef>
                <a:spcPts val="0"/>
              </a:spcBef>
              <a:spcAft>
                <a:spcPts val="0"/>
              </a:spcAft>
              <a:defRPr sz="2200" b="0">
                <a:solidFill>
                  <a:srgbClr val="D1E2E1"/>
                </a:solidFill>
                <a:latin typeface="Arial"/>
              </a:defRPr>
            </a:pPr>
            <a:r>
              <a:t>16 recorded trace rows.</a:t>
            </a:r>
          </a:p>
          <a:p>
            <a:pPr algn="l">
              <a:lnSpc>
                <a:spcPts val="2552"/>
              </a:lnSpc>
              <a:spcBef>
                <a:spcPts val="0"/>
              </a:spcBef>
              <a:spcAft>
                <a:spcPts val="0"/>
              </a:spcAft>
              <a:defRPr sz="2200" b="0">
                <a:solidFill>
                  <a:srgbClr val="D1E2E1"/>
                </a:solidFill>
                <a:latin typeface="Arial"/>
              </a:defRPr>
            </a:pPr>
            <a:r>
              <a:t>Final stack and input both show $.</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S09 / REJECT</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5 consumed tokens.</a:t>
            </a:r>
          </a:p>
          <a:p>
            <a:pPr algn="l">
              <a:lnSpc>
                <a:spcPts val="2552"/>
              </a:lnSpc>
              <a:spcBef>
                <a:spcPts val="0"/>
              </a:spcBef>
              <a:spcAft>
                <a:spcPts val="0"/>
              </a:spcAft>
              <a:defRPr sz="2200" b="0">
                <a:solidFill>
                  <a:srgbClr val="587080"/>
                </a:solidFill>
                <a:latin typeface="Arial"/>
              </a:defRPr>
            </a:pPr>
            <a:r>
              <a:t>14 recorded trace rows.</a:t>
            </a:r>
          </a:p>
          <a:p>
            <a:pPr algn="l">
              <a:lnSpc>
                <a:spcPts val="2552"/>
              </a:lnSpc>
              <a:spcBef>
                <a:spcPts val="0"/>
              </a:spcBef>
              <a:spcAft>
                <a:spcPts val="0"/>
              </a:spcAft>
              <a:defRPr sz="2200" b="0">
                <a:solidFill>
                  <a:srgbClr val="587080"/>
                </a:solidFill>
                <a:latin typeface="Arial"/>
              </a:defRPr>
            </a:pPr>
            <a:r>
              <a:t>UNKNOWN at the sixth token has no</a:t>
            </a:r>
          </a:p>
          <a:p>
            <a:pPr algn="l">
              <a:lnSpc>
                <a:spcPts val="2552"/>
              </a:lnSpc>
              <a:spcBef>
                <a:spcPts val="0"/>
              </a:spcBef>
              <a:spcAft>
                <a:spcPts val="0"/>
              </a:spcAft>
              <a:defRPr sz="2200" b="0">
                <a:solidFill>
                  <a:srgbClr val="587080"/>
                </a:solidFill>
                <a:latin typeface="Arial"/>
              </a:defRPr>
            </a:pPr>
            <a:r>
              <a:t>valid table entry.</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19"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0"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078 / 100</a:t>
            </a:r>
          </a:p>
        </p:txBody>
      </p:sp>
      <p:sp>
        <p:nvSpPr>
          <p:cNvPr id="21" name="Rectangle 2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0" y="6821424"/>
            <a:ext cx="95097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Bounds protect the parser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formal pushdown model is implemented with explicit resource limits.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95528"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256</a:t>
            </a:r>
          </a:p>
        </p:txBody>
      </p:sp>
      <p:sp>
        <p:nvSpPr>
          <p:cNvPr id="9" name="body-6"/>
          <p:cNvSpPr txBox="1"/>
          <p:nvPr/>
        </p:nvSpPr>
        <p:spPr>
          <a:xfrm>
            <a:off x="804672"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Input tokens</a:t>
            </a:r>
          </a:p>
        </p:txBody>
      </p:sp>
      <p:sp>
        <p:nvSpPr>
          <p:cNvPr id="10" name="Rounded Rectangle 9"/>
          <p:cNvSpPr/>
          <p:nvPr/>
        </p:nvSpPr>
        <p:spPr>
          <a:xfrm>
            <a:off x="6208776"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6455664"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1,000</a:t>
            </a:r>
          </a:p>
        </p:txBody>
      </p:sp>
      <p:sp>
        <p:nvSpPr>
          <p:cNvPr id="12" name="body-8"/>
          <p:cNvSpPr txBox="1"/>
          <p:nvPr/>
        </p:nvSpPr>
        <p:spPr>
          <a:xfrm>
            <a:off x="6464808"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Characters in one token</a:t>
            </a:r>
          </a:p>
        </p:txBody>
      </p:sp>
      <p:sp>
        <p:nvSpPr>
          <p:cNvPr id="13" name="Rounded Rectangle 12"/>
          <p:cNvSpPr/>
          <p:nvPr/>
        </p:nvSpPr>
        <p:spPr>
          <a:xfrm>
            <a:off x="548640"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95528"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2,000</a:t>
            </a:r>
          </a:p>
        </p:txBody>
      </p:sp>
      <p:sp>
        <p:nvSpPr>
          <p:cNvPr id="15" name="body-10"/>
          <p:cNvSpPr txBox="1"/>
          <p:nvPr/>
        </p:nvSpPr>
        <p:spPr>
          <a:xfrm>
            <a:off x="804672"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Recorded parse steps</a:t>
            </a:r>
          </a:p>
        </p:txBody>
      </p:sp>
      <p:sp>
        <p:nvSpPr>
          <p:cNvPr id="16" name="Rounded Rectangle 15"/>
          <p:cNvSpPr/>
          <p:nvPr/>
        </p:nvSpPr>
        <p:spPr>
          <a:xfrm>
            <a:off x="6208776"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6455664"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1,024</a:t>
            </a:r>
          </a:p>
        </p:txBody>
      </p:sp>
      <p:sp>
        <p:nvSpPr>
          <p:cNvPr id="18" name="body-12"/>
          <p:cNvSpPr txBox="1"/>
          <p:nvPr/>
        </p:nvSpPr>
        <p:spPr>
          <a:xfrm>
            <a:off x="6464808"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Stack symbols</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2"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079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96316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08 / AUTOMATA AND PARSING</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Four authored compiler classes, many functions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Model the actual implementation, not invented service objects.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10" name="body-6"/>
          <p:cNvSpPr txBox="1"/>
          <p:nvPr/>
        </p:nvSpPr>
        <p:spPr>
          <a:xfrm>
            <a:off x="749808"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tokenizer.py</a:t>
            </a:r>
          </a:p>
        </p:txBody>
      </p:sp>
      <p:sp>
        <p:nvSpPr>
          <p:cNvPr id="11" name="body-7"/>
          <p:cNvSpPr txBox="1"/>
          <p:nvPr/>
        </p:nvSpPr>
        <p:spPr>
          <a:xfrm>
            <a:off x="749808"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Token: namedtuple with text and category.</a:t>
            </a:r>
          </a:p>
        </p:txBody>
      </p:sp>
      <p:sp>
        <p:nvSpPr>
          <p:cNvPr id="12" name="Rounded Rectangle 11"/>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6409944" y="21854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15" name="body-9"/>
          <p:cNvSpPr txBox="1"/>
          <p:nvPr/>
        </p:nvSpPr>
        <p:spPr>
          <a:xfrm>
            <a:off x="6409944" y="24780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reference.py</a:t>
            </a:r>
          </a:p>
        </p:txBody>
      </p:sp>
      <p:sp>
        <p:nvSpPr>
          <p:cNvPr id="16" name="body-10"/>
          <p:cNvSpPr txBox="1"/>
          <p:nvPr/>
        </p:nvSpPr>
        <p:spPr>
          <a:xfrm>
            <a:off x="6409944" y="29535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ReferenceEntry: immutable supplied row.</a:t>
            </a:r>
          </a:p>
        </p:txBody>
      </p:sp>
      <p:sp>
        <p:nvSpPr>
          <p:cNvPr id="17" name="Rounded Rectangle 16"/>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749808"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0" name="body-12"/>
          <p:cNvSpPr txBox="1"/>
          <p:nvPr/>
        </p:nvSpPr>
        <p:spPr>
          <a:xfrm>
            <a:off x="749808"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grammar.py</a:t>
            </a:r>
          </a:p>
        </p:txBody>
      </p:sp>
      <p:sp>
        <p:nvSpPr>
          <p:cNvPr id="21" name="body-13"/>
          <p:cNvSpPr txBox="1"/>
          <p:nvPr/>
        </p:nvSpPr>
        <p:spPr>
          <a:xfrm>
            <a:off x="749808"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GrammarError: explicit notation failure.</a:t>
            </a:r>
          </a:p>
        </p:txBody>
      </p:sp>
      <p:sp>
        <p:nvSpPr>
          <p:cNvPr id="22" name="Rounded Rectangle 21"/>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6409944" y="4128516"/>
            <a:ext cx="5038344"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5" name="body-15"/>
          <p:cNvSpPr txBox="1"/>
          <p:nvPr/>
        </p:nvSpPr>
        <p:spPr>
          <a:xfrm>
            <a:off x="6409944" y="4421124"/>
            <a:ext cx="5038344"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analysis.py</a:t>
            </a:r>
          </a:p>
        </p:txBody>
      </p:sp>
      <p:sp>
        <p:nvSpPr>
          <p:cNvPr id="26" name="body-16"/>
          <p:cNvSpPr txBox="1"/>
          <p:nvPr/>
        </p:nvSpPr>
        <p:spPr>
          <a:xfrm>
            <a:off x="6409944" y="4896612"/>
            <a:ext cx="5038344"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_Transformations: bounded rewrite log.</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7"/>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8">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docs/diagrams/class-compiler.puml</a:t>
            </a:r>
          </a:p>
        </p:txBody>
      </p:sp>
      <p:sp>
        <p:nvSpPr>
          <p:cNvPr id="30" name="source-19">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1" name="source-20">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32" name="footer-21"/>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3" name="footer-22"/>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080 / 100</a:t>
            </a:r>
          </a:p>
        </p:txBody>
      </p:sp>
      <p:sp>
        <p:nvSpPr>
          <p:cNvPr id="34" name="Rectangle 3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0" y="6821424"/>
            <a:ext cx="97535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Shared storage is not an account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One protected workspace supports all public visitors.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074920" y="1984248"/>
            <a:ext cx="6547104" cy="380390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illustration-storage.png"/>
          <p:cNvPicPr>
            <a:picLocks noChangeAspect="1"/>
          </p:cNvPicPr>
          <p:nvPr/>
        </p:nvPicPr>
        <p:blipFill>
          <a:blip r:embed="rId2"/>
          <a:stretch>
            <a:fillRect/>
          </a:stretch>
        </p:blipFill>
        <p:spPr>
          <a:xfrm>
            <a:off x="5722837" y="2048256"/>
            <a:ext cx="5251268" cy="3675887"/>
          </a:xfrm>
          <a:prstGeom prst="rect">
            <a:avLst/>
          </a:prstGeom>
        </p:spPr>
      </p:pic>
      <p:sp>
        <p:nvSpPr>
          <p:cNvPr id="9" name="Rectangle 8"/>
          <p:cNvSpPr/>
          <p:nvPr/>
        </p:nvSpPr>
        <p:spPr>
          <a:xfrm>
            <a:off x="594360" y="209397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77240" y="207568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PUBLIC POLICY</a:t>
            </a:r>
          </a:p>
        </p:txBody>
      </p:sp>
      <p:sp>
        <p:nvSpPr>
          <p:cNvPr id="11" name="body-6"/>
          <p:cNvSpPr txBox="1"/>
          <p:nvPr/>
        </p:nvSpPr>
        <p:spPr>
          <a:xfrm>
            <a:off x="777240" y="251460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PublicWorkspaceStore narrows</a:t>
            </a:r>
          </a:p>
          <a:p>
            <a:pPr algn="l">
              <a:lnSpc>
                <a:spcPts val="2088"/>
              </a:lnSpc>
              <a:spcBef>
                <a:spcPts val="0"/>
              </a:spcBef>
              <a:spcAft>
                <a:spcPts val="0"/>
              </a:spcAft>
              <a:defRPr sz="1800" b="0">
                <a:solidFill>
                  <a:srgbClr val="587080"/>
                </a:solidFill>
                <a:latin typeface="Arial"/>
              </a:defRPr>
            </a:pPr>
            <a:r>
              <a:t>allowed writes.</a:t>
            </a:r>
          </a:p>
        </p:txBody>
      </p:sp>
      <p:sp>
        <p:nvSpPr>
          <p:cNvPr id="12" name="Rectangle 11"/>
          <p:cNvSpPr/>
          <p:nvPr/>
        </p:nvSpPr>
        <p:spPr>
          <a:xfrm>
            <a:off x="594360" y="329793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777240" y="327964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SHARED STORE</a:t>
            </a:r>
          </a:p>
        </p:txBody>
      </p:sp>
      <p:sp>
        <p:nvSpPr>
          <p:cNvPr id="14" name="body-8"/>
          <p:cNvSpPr txBox="1"/>
          <p:nvPr/>
        </p:nvSpPr>
        <p:spPr>
          <a:xfrm>
            <a:off x="777240" y="371856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SharedWorkspaceStore supplies</a:t>
            </a:r>
          </a:p>
          <a:p>
            <a:pPr algn="l">
              <a:lnSpc>
                <a:spcPts val="2088"/>
              </a:lnSpc>
              <a:spcBef>
                <a:spcPts val="0"/>
              </a:spcBef>
              <a:spcAft>
                <a:spcPts val="0"/>
              </a:spcAft>
              <a:defRPr sz="1800" b="0">
                <a:solidFill>
                  <a:srgbClr val="587080"/>
                </a:solidFill>
                <a:latin typeface="Arial"/>
              </a:defRPr>
            </a:pPr>
            <a:r>
              <a:t>common persistence.</a:t>
            </a:r>
          </a:p>
        </p:txBody>
      </p:sp>
      <p:sp>
        <p:nvSpPr>
          <p:cNvPr id="15" name="Rectangle 14"/>
          <p:cNvSpPr/>
          <p:nvPr/>
        </p:nvSpPr>
        <p:spPr>
          <a:xfrm>
            <a:off x="594360"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9"/>
          <p:cNvSpPr txBox="1"/>
          <p:nvPr/>
        </p:nvSpPr>
        <p:spPr>
          <a:xfrm>
            <a:off x="777240" y="448360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SQLITE</a:t>
            </a:r>
          </a:p>
        </p:txBody>
      </p:sp>
      <p:sp>
        <p:nvSpPr>
          <p:cNvPr id="17" name="body-10"/>
          <p:cNvSpPr txBox="1"/>
          <p:nvPr/>
        </p:nvSpPr>
        <p:spPr>
          <a:xfrm>
            <a:off x="777240" y="492252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workspace.sqlite3 holds shared</a:t>
            </a:r>
          </a:p>
          <a:p>
            <a:pPr algn="l">
              <a:lnSpc>
                <a:spcPts val="2088"/>
              </a:lnSpc>
              <a:spcBef>
                <a:spcPts val="0"/>
              </a:spcBef>
              <a:spcAft>
                <a:spcPts val="0"/>
              </a:spcAft>
              <a:defRPr sz="1800" b="0">
                <a:solidFill>
                  <a:srgbClr val="587080"/>
                </a:solidFill>
                <a:latin typeface="Arial"/>
              </a:defRPr>
            </a:pPr>
            <a:r>
              <a:t>records and test snapshots.</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22" name="source-14">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backend/workspaces.py</a:t>
            </a:r>
          </a:p>
        </p:txBody>
      </p:sp>
      <p:sp>
        <p:nvSpPr>
          <p:cNvPr id="23"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081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98755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Save once, retry safely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snapshot and request mapping commit together.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LOOKUP</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Check an existing</a:t>
            </a:r>
          </a:p>
          <a:p>
            <a:pPr algn="l">
              <a:lnSpc>
                <a:spcPts val="2088"/>
              </a:lnSpc>
              <a:spcBef>
                <a:spcPts val="0"/>
              </a:spcBef>
              <a:spcAft>
                <a:spcPts val="0"/>
              </a:spcAft>
              <a:defRPr sz="1800" b="0">
                <a:solidFill>
                  <a:srgbClr val="587080"/>
                </a:solidFill>
                <a:latin typeface="Arial"/>
              </a:defRPr>
            </a:pPr>
            <a:r>
              <a:t>request ID</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VALIDATE</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Text and grammar</a:t>
            </a:r>
          </a:p>
          <a:p>
            <a:pPr algn="l">
              <a:lnSpc>
                <a:spcPts val="2088"/>
              </a:lnSpc>
              <a:spcBef>
                <a:spcPts val="0"/>
              </a:spcBef>
              <a:spcAft>
                <a:spcPts val="0"/>
              </a:spcAft>
              <a:defRPr sz="1800" b="0">
                <a:solidFill>
                  <a:srgbClr val="587080"/>
                </a:solidFill>
                <a:latin typeface="Arial"/>
              </a:defRPr>
            </a:pPr>
            <a:r>
              <a:t>must agree</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COMPUTE</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Build a complete</a:t>
            </a:r>
          </a:p>
          <a:p>
            <a:pPr algn="l">
              <a:lnSpc>
                <a:spcPts val="2088"/>
              </a:lnSpc>
              <a:spcBef>
                <a:spcPts val="0"/>
              </a:spcBef>
              <a:spcAft>
                <a:spcPts val="0"/>
              </a:spcAft>
              <a:defRPr sz="1800" b="0">
                <a:solidFill>
                  <a:srgbClr val="587080"/>
                </a:solidFill>
                <a:latin typeface="Arial"/>
              </a:defRPr>
            </a:pPr>
            <a:r>
              <a:t>snapshot</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TRANSACTION</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Save test + request</a:t>
            </a:r>
          </a:p>
          <a:p>
            <a:pPr algn="l">
              <a:lnSpc>
                <a:spcPts val="2088"/>
              </a:lnSpc>
              <a:spcBef>
                <a:spcPts val="0"/>
              </a:spcBef>
              <a:spcAft>
                <a:spcPts val="0"/>
              </a:spcAft>
              <a:defRPr sz="1800" b="0">
                <a:solidFill>
                  <a:srgbClr val="587080"/>
                </a:solidFill>
                <a:latin typeface="Arial"/>
              </a:defRPr>
            </a:pPr>
            <a:r>
              <a:t>mapping atomically</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27" name="Connector 2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footer-18"/>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9" name="source-19">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0" name="source-20">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31" name="footer-21"/>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2" name="footer-22"/>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082 / 100</a:t>
            </a:r>
          </a:p>
        </p:txBody>
      </p:sp>
      <p:sp>
        <p:nvSpPr>
          <p:cNvPr id="33" name="Rectangle 32"/>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0" y="6821424"/>
            <a:ext cx="99974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Same retry versus a new stale request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Grammar changes must not destroy the meaning of idempotency.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IDENTICAL OLD RETRY</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D1E2E1"/>
                </a:solidFill>
                <a:latin typeface="Arial"/>
              </a:defRPr>
            </a:pPr>
            <a:r>
              <a:t>Can return its original snapshot after</a:t>
            </a:r>
          </a:p>
          <a:p>
            <a:pPr algn="l">
              <a:lnSpc>
                <a:spcPts val="2552"/>
              </a:lnSpc>
              <a:spcBef>
                <a:spcPts val="0"/>
              </a:spcBef>
              <a:spcAft>
                <a:spcPts val="0"/>
              </a:spcAft>
              <a:defRPr sz="2200" b="0">
                <a:solidFill>
                  <a:srgbClr val="D1E2E1"/>
                </a:solidFill>
                <a:latin typeface="Arial"/>
              </a:defRPr>
            </a:pPr>
            <a:r>
              <a:t>an offline grammar change.</a:t>
            </a:r>
          </a:p>
          <a:p>
            <a:pPr algn="l">
              <a:lnSpc>
                <a:spcPts val="2552"/>
              </a:lnSpc>
              <a:spcBef>
                <a:spcPts val="0"/>
              </a:spcBef>
              <a:spcAft>
                <a:spcPts val="0"/>
              </a:spcAft>
              <a:defRPr sz="2200" b="0">
                <a:solidFill>
                  <a:srgbClr val="D1E2E1"/>
                </a:solidFill>
                <a:latin typeface="Arial"/>
              </a:defRPr>
            </a:pPr>
            <a:r>
              <a:t>It is not a new computation.</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NEW STALE REQUEST</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552"/>
              </a:lnSpc>
              <a:spcBef>
                <a:spcPts val="0"/>
              </a:spcBef>
              <a:spcAft>
                <a:spcPts val="0"/>
              </a:spcAft>
              <a:defRPr sz="2200" b="0">
                <a:solidFill>
                  <a:srgbClr val="587080"/>
                </a:solidFill>
                <a:latin typeface="Arial"/>
              </a:defRPr>
            </a:pPr>
            <a:r>
              <a:t>A new request with outdated grammar</a:t>
            </a:r>
          </a:p>
          <a:p>
            <a:pPr algn="l">
              <a:lnSpc>
                <a:spcPts val="2552"/>
              </a:lnSpc>
              <a:spcBef>
                <a:spcPts val="0"/>
              </a:spcBef>
              <a:spcAft>
                <a:spcPts val="0"/>
              </a:spcAft>
              <a:defRPr sz="2200" b="0">
                <a:solidFill>
                  <a:srgbClr val="587080"/>
                </a:solidFill>
                <a:latin typeface="Arial"/>
              </a:defRPr>
            </a:pPr>
            <a:r>
              <a:t>returns 409.</a:t>
            </a:r>
          </a:p>
          <a:p>
            <a:pPr algn="l">
              <a:lnSpc>
                <a:spcPts val="2552"/>
              </a:lnSpc>
              <a:spcBef>
                <a:spcPts val="0"/>
              </a:spcBef>
              <a:spcAft>
                <a:spcPts val="0"/>
              </a:spcAft>
              <a:defRPr sz="2200" b="0">
                <a:solidFill>
                  <a:srgbClr val="587080"/>
                </a:solidFill>
                <a:latin typeface="Arial"/>
              </a:defRPr>
            </a:pPr>
            <a:r>
              <a:t>Refresh the shared grammar before</a:t>
            </a:r>
          </a:p>
          <a:p>
            <a:pPr algn="l">
              <a:lnSpc>
                <a:spcPts val="2552"/>
              </a:lnSpc>
              <a:spcBef>
                <a:spcPts val="0"/>
              </a:spcBef>
              <a:spcAft>
                <a:spcPts val="0"/>
              </a:spcAft>
              <a:defRPr sz="2200" b="0">
                <a:solidFill>
                  <a:srgbClr val="587080"/>
                </a:solidFill>
                <a:latin typeface="Arial"/>
              </a:defRPr>
            </a:pPr>
            <a:r>
              <a:t>trying again.</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083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101193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What is stored in a test?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saved evidence is enough to explain its original result.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5"/>
          <p:cNvSpPr txBox="1"/>
          <p:nvPr/>
        </p:nvSpPr>
        <p:spPr>
          <a:xfrm>
            <a:off x="777240"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TEXT + GRAMMAR</a:t>
            </a:r>
          </a:p>
        </p:txBody>
      </p:sp>
      <p:sp>
        <p:nvSpPr>
          <p:cNvPr id="10" name="body-6"/>
          <p:cNvSpPr txBox="1"/>
          <p:nvPr/>
        </p:nvSpPr>
        <p:spPr>
          <a:xfrm>
            <a:off x="777240"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The exact input and chosen rule snapshot.</a:t>
            </a:r>
          </a:p>
        </p:txBody>
      </p:sp>
      <p:sp>
        <p:nvSpPr>
          <p:cNvPr id="11" name="Rounded Rectangle 10"/>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6437375"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LEXICAL RESULT</a:t>
            </a:r>
          </a:p>
        </p:txBody>
      </p:sp>
      <p:sp>
        <p:nvSpPr>
          <p:cNvPr id="14" name="body-8"/>
          <p:cNvSpPr txBox="1"/>
          <p:nvPr/>
        </p:nvSpPr>
        <p:spPr>
          <a:xfrm>
            <a:off x="6437375"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Raw tokens, categories, counts and clues.</a:t>
            </a:r>
          </a:p>
        </p:txBody>
      </p:sp>
      <p:sp>
        <p:nvSpPr>
          <p:cNvPr id="15" name="Rounded Rectangle 14"/>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9"/>
          <p:cNvSpPr txBox="1"/>
          <p:nvPr/>
        </p:nvSpPr>
        <p:spPr>
          <a:xfrm>
            <a:off x="777240"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PARSE RESULT</a:t>
            </a:r>
          </a:p>
        </p:txBody>
      </p:sp>
      <p:sp>
        <p:nvSpPr>
          <p:cNvPr id="18" name="body-10"/>
          <p:cNvSpPr txBox="1"/>
          <p:nvPr/>
        </p:nvSpPr>
        <p:spPr>
          <a:xfrm>
            <a:off x="777240"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Accepted flag, consumed count, error and</a:t>
            </a:r>
          </a:p>
          <a:p>
            <a:pPr algn="l">
              <a:lnSpc>
                <a:spcPts val="2320"/>
              </a:lnSpc>
              <a:spcBef>
                <a:spcPts val="0"/>
              </a:spcBef>
              <a:spcAft>
                <a:spcPts val="0"/>
              </a:spcAft>
              <a:defRPr sz="2000" b="0">
                <a:solidFill>
                  <a:srgbClr val="587080"/>
                </a:solidFill>
                <a:latin typeface="Arial"/>
              </a:defRPr>
            </a:pPr>
            <a:r>
              <a:t>trace.</a:t>
            </a:r>
          </a:p>
        </p:txBody>
      </p:sp>
      <p:sp>
        <p:nvSpPr>
          <p:cNvPr id="19" name="Rounded Rectangle 18"/>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1"/>
          <p:cNvSpPr txBox="1"/>
          <p:nvPr/>
        </p:nvSpPr>
        <p:spPr>
          <a:xfrm>
            <a:off x="6437375"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METADATA</a:t>
            </a:r>
          </a:p>
        </p:txBody>
      </p:sp>
      <p:sp>
        <p:nvSpPr>
          <p:cNvPr id="22" name="body-12"/>
          <p:cNvSpPr txBox="1"/>
          <p:nvPr/>
        </p:nvSpPr>
        <p:spPr>
          <a:xfrm>
            <a:off x="6437375"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Stable ID, recorded time and contextual</a:t>
            </a:r>
          </a:p>
          <a:p>
            <a:pPr algn="l">
              <a:lnSpc>
                <a:spcPts val="2320"/>
              </a:lnSpc>
              <a:spcBef>
                <a:spcPts val="0"/>
              </a:spcBef>
              <a:spcAft>
                <a:spcPts val="0"/>
              </a:spcAft>
              <a:defRPr sz="2000" b="0">
                <a:solidFill>
                  <a:srgbClr val="587080"/>
                </a:solidFill>
                <a:latin typeface="Arial"/>
              </a:defRPr>
            </a:pPr>
            <a:r>
              <a:t>summaries.</a:t>
            </a:r>
          </a:p>
        </p:txBody>
      </p:sp>
      <p:cxnSp>
        <p:nvCxnSpPr>
          <p:cNvPr id="23" name="Connector 2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5"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backend/analyzer_models.py</a:t>
            </a:r>
          </a:p>
        </p:txBody>
      </p:sp>
      <p:sp>
        <p:nvSpPr>
          <p:cNvPr id="26"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27"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8"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084 / 100</a:t>
            </a:r>
          </a:p>
        </p:txBody>
      </p:sp>
      <p:sp>
        <p:nvSpPr>
          <p:cNvPr id="29" name="Rectangle 28"/>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0" y="6821424"/>
            <a:ext cx="102412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Web SQLite and desktop CSV are different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Avoid explaining the active public store with the wrong persistence helper.</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29968"/>
            <a:ext cx="5431536" cy="3685032"/>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841247"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01</a:t>
            </a:r>
          </a:p>
        </p:txBody>
      </p:sp>
      <p:sp>
        <p:nvSpPr>
          <p:cNvPr id="9" name="body-6"/>
          <p:cNvSpPr txBox="1"/>
          <p:nvPr/>
        </p:nvSpPr>
        <p:spPr>
          <a:xfrm>
            <a:off x="841247"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FFFFFF"/>
                </a:solidFill>
                <a:latin typeface="Arial"/>
              </a:defRPr>
            </a:pPr>
            <a:r>
              <a:t>PUBLIC WEB</a:t>
            </a:r>
          </a:p>
        </p:txBody>
      </p:sp>
      <p:sp>
        <p:nvSpPr>
          <p:cNvPr id="10" name="body-7"/>
          <p:cNvSpPr txBox="1"/>
          <p:nvPr/>
        </p:nvSpPr>
        <p:spPr>
          <a:xfrm>
            <a:off x="841247" y="4059936"/>
            <a:ext cx="4791456" cy="1371600"/>
          </a:xfrm>
          <a:prstGeom prst="rect">
            <a:avLst/>
          </a:prstGeom>
          <a:noFill/>
        </p:spPr>
        <p:txBody>
          <a:bodyPr wrap="none" lIns="0" rIns="0" tIns="0" bIns="0" anchor="t">
            <a:noAutofit/>
          </a:bodyPr>
          <a:lstStyle/>
          <a:p>
            <a:pPr algn="l">
              <a:lnSpc>
                <a:spcPts val="2261"/>
              </a:lnSpc>
              <a:spcBef>
                <a:spcPts val="0"/>
              </a:spcBef>
              <a:spcAft>
                <a:spcPts val="0"/>
              </a:spcAft>
              <a:defRPr sz="1950" b="0">
                <a:solidFill>
                  <a:srgbClr val="D1E2E1"/>
                </a:solidFill>
                <a:latin typeface="Arial"/>
              </a:defRPr>
            </a:pPr>
            <a:r>
              <a:t>SharedWorkspaceStore / WorkspaceStore.</a:t>
            </a:r>
          </a:p>
          <a:p>
            <a:pPr algn="l">
              <a:lnSpc>
                <a:spcPts val="2261"/>
              </a:lnSpc>
              <a:spcBef>
                <a:spcPts val="0"/>
              </a:spcBef>
              <a:spcAft>
                <a:spcPts val="0"/>
              </a:spcAft>
              <a:defRPr sz="1950" b="0">
                <a:solidFill>
                  <a:srgbClr val="D1E2E1"/>
                </a:solidFill>
                <a:latin typeface="Arial"/>
              </a:defRPr>
            </a:pPr>
            <a:r>
              <a:t>Shared SQLite database.</a:t>
            </a:r>
          </a:p>
          <a:p>
            <a:pPr algn="l">
              <a:lnSpc>
                <a:spcPts val="2261"/>
              </a:lnSpc>
              <a:spcBef>
                <a:spcPts val="0"/>
              </a:spcBef>
              <a:spcAft>
                <a:spcPts val="0"/>
              </a:spcAft>
              <a:defRPr sz="1950" b="0">
                <a:solidFill>
                  <a:srgbClr val="D1E2E1"/>
                </a:solidFill>
                <a:latin typeface="Arial"/>
              </a:defRPr>
            </a:pPr>
            <a:r>
              <a:t>Public tests append; reference data stays</a:t>
            </a:r>
          </a:p>
          <a:p>
            <a:pPr algn="l">
              <a:lnSpc>
                <a:spcPts val="2261"/>
              </a:lnSpc>
              <a:spcBef>
                <a:spcPts val="0"/>
              </a:spcBef>
              <a:spcAft>
                <a:spcPts val="0"/>
              </a:spcAft>
              <a:defRPr sz="1950" b="0">
                <a:solidFill>
                  <a:srgbClr val="D1E2E1"/>
                </a:solidFill>
                <a:latin typeface="Arial"/>
              </a:defRPr>
            </a:pPr>
            <a:r>
              <a:t>read-only.</a:t>
            </a:r>
          </a:p>
        </p:txBody>
      </p:sp>
      <p:sp>
        <p:nvSpPr>
          <p:cNvPr id="11" name="Rounded Rectangle 10"/>
          <p:cNvSpPr/>
          <p:nvPr/>
        </p:nvSpPr>
        <p:spPr>
          <a:xfrm>
            <a:off x="6217920" y="2029968"/>
            <a:ext cx="543153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p:cNvSpPr txBox="1"/>
          <p:nvPr/>
        </p:nvSpPr>
        <p:spPr>
          <a:xfrm>
            <a:off x="6510528" y="2322576"/>
            <a:ext cx="1188720" cy="521207"/>
          </a:xfrm>
          <a:prstGeom prst="rect">
            <a:avLst/>
          </a:prstGeom>
          <a:noFill/>
        </p:spPr>
        <p:txBody>
          <a:bodyPr wrap="none" lIns="0" rIns="0" tIns="0" bIns="0" anchor="t">
            <a:noAutofit/>
          </a:bodyPr>
          <a:lstStyle/>
          <a:p>
            <a:pPr algn="l">
              <a:lnSpc>
                <a:spcPts val="3596"/>
              </a:lnSpc>
              <a:spcBef>
                <a:spcPts val="0"/>
              </a:spcBef>
              <a:spcAft>
                <a:spcPts val="0"/>
              </a:spcAft>
              <a:defRPr sz="3100" b="1">
                <a:solidFill>
                  <a:srgbClr val="CBA261"/>
                </a:solidFill>
                <a:latin typeface="Arial"/>
              </a:defRPr>
            </a:pPr>
            <a:r>
              <a:t>02</a:t>
            </a:r>
          </a:p>
        </p:txBody>
      </p:sp>
      <p:sp>
        <p:nvSpPr>
          <p:cNvPr id="13" name="body-9"/>
          <p:cNvSpPr txBox="1"/>
          <p:nvPr/>
        </p:nvSpPr>
        <p:spPr>
          <a:xfrm>
            <a:off x="6510528" y="3108960"/>
            <a:ext cx="4818888" cy="649224"/>
          </a:xfrm>
          <a:prstGeom prst="rect">
            <a:avLst/>
          </a:prstGeom>
          <a:noFill/>
        </p:spPr>
        <p:txBody>
          <a:bodyPr wrap="none" lIns="0" rIns="0" tIns="0" bIns="0" anchor="t">
            <a:noAutofit/>
          </a:bodyPr>
          <a:lstStyle/>
          <a:p>
            <a:pPr algn="l">
              <a:lnSpc>
                <a:spcPts val="2668"/>
              </a:lnSpc>
              <a:spcBef>
                <a:spcPts val="0"/>
              </a:spcBef>
              <a:spcAft>
                <a:spcPts val="0"/>
              </a:spcAft>
              <a:defRPr sz="2300" b="1">
                <a:solidFill>
                  <a:srgbClr val="147E80"/>
                </a:solidFill>
                <a:latin typeface="Arial"/>
              </a:defRPr>
            </a:pPr>
            <a:r>
              <a:t>RETAINED DESKTOP</a:t>
            </a:r>
          </a:p>
        </p:txBody>
      </p:sp>
      <p:sp>
        <p:nvSpPr>
          <p:cNvPr id="14" name="body-10"/>
          <p:cNvSpPr txBox="1"/>
          <p:nvPr/>
        </p:nvSpPr>
        <p:spPr>
          <a:xfrm>
            <a:off x="6510528" y="4059936"/>
            <a:ext cx="4791456" cy="1371600"/>
          </a:xfrm>
          <a:prstGeom prst="rect">
            <a:avLst/>
          </a:prstGeom>
          <a:noFill/>
        </p:spPr>
        <p:txBody>
          <a:bodyPr wrap="none" lIns="0" rIns="0" tIns="0" bIns="0" anchor="t">
            <a:noAutofit/>
          </a:bodyPr>
          <a:lstStyle/>
          <a:p>
            <a:pPr algn="l">
              <a:lnSpc>
                <a:spcPts val="2377"/>
              </a:lnSpc>
              <a:spcBef>
                <a:spcPts val="0"/>
              </a:spcBef>
              <a:spcAft>
                <a:spcPts val="0"/>
              </a:spcAft>
              <a:defRPr sz="2050" b="0">
                <a:solidFill>
                  <a:srgbClr val="587080"/>
                </a:solidFill>
                <a:latin typeface="Arial"/>
              </a:defRPr>
            </a:pPr>
            <a:r>
              <a:t>data_collector/dataset.py.</a:t>
            </a:r>
          </a:p>
          <a:p>
            <a:pPr algn="l">
              <a:lnSpc>
                <a:spcPts val="2377"/>
              </a:lnSpc>
              <a:spcBef>
                <a:spcPts val="0"/>
              </a:spcBef>
              <a:spcAft>
                <a:spcPts val="0"/>
              </a:spcAft>
              <a:defRPr sz="2050" b="0">
                <a:solidFill>
                  <a:srgbClr val="587080"/>
                </a:solidFill>
                <a:latin typeface="Arial"/>
              </a:defRPr>
            </a:pPr>
            <a:r>
              <a:t>CSV with a lock and atomic replacement.</a:t>
            </a:r>
          </a:p>
          <a:p>
            <a:pPr algn="l">
              <a:lnSpc>
                <a:spcPts val="2377"/>
              </a:lnSpc>
              <a:spcBef>
                <a:spcPts val="0"/>
              </a:spcBef>
              <a:spcAft>
                <a:spcPts val="0"/>
              </a:spcAft>
              <a:defRPr sz="2050" b="0">
                <a:solidFill>
                  <a:srgbClr val="587080"/>
                </a:solidFill>
                <a:latin typeface="Arial"/>
              </a:defRPr>
            </a:pPr>
            <a:r>
              <a:t>Local compatibility, not the public write</a:t>
            </a:r>
          </a:p>
          <a:p>
            <a:pPr algn="l">
              <a:lnSpc>
                <a:spcPts val="2377"/>
              </a:lnSpc>
              <a:spcBef>
                <a:spcPts val="0"/>
              </a:spcBef>
              <a:spcAft>
                <a:spcPts val="0"/>
              </a:spcAft>
              <a:defRPr sz="2050" b="0">
                <a:solidFill>
                  <a:srgbClr val="587080"/>
                </a:solidFill>
                <a:latin typeface="Arial"/>
              </a:defRPr>
            </a:pPr>
            <a:r>
              <a:t>path.</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18" name="source-1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backend/workspaces.py</a:t>
            </a:r>
          </a:p>
        </p:txBody>
      </p:sp>
      <p:sp>
        <p:nvSpPr>
          <p:cNvPr id="19" name="source-1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data_collector/dataset.py</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085 / 100</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103631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Read-only rules live on the server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Hiding an edit button is not the enforcement mechanism.</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4495098"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Request family</a:t>
            </a:r>
          </a:p>
        </p:txBody>
      </p:sp>
      <p:sp>
        <p:nvSpPr>
          <p:cNvPr id="9" name="body-6"/>
          <p:cNvSpPr txBox="1"/>
          <p:nvPr/>
        </p:nvSpPr>
        <p:spPr>
          <a:xfrm>
            <a:off x="5464362" y="2093976"/>
            <a:ext cx="6047933"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Public result</a:t>
            </a:r>
          </a:p>
        </p:txBody>
      </p:sp>
      <p:sp>
        <p:nvSpPr>
          <p:cNvPr id="10" name="Rectangle 9"/>
          <p:cNvSpPr/>
          <p:nvPr/>
        </p:nvSpPr>
        <p:spPr>
          <a:xfrm>
            <a:off x="548640" y="2441448"/>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548640" y="299466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2" name="body-7"/>
          <p:cNvSpPr txBox="1"/>
          <p:nvPr/>
        </p:nvSpPr>
        <p:spPr>
          <a:xfrm>
            <a:off x="694944" y="2523744"/>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Analyzer test create/read</a:t>
            </a:r>
          </a:p>
        </p:txBody>
      </p:sp>
      <p:sp>
        <p:nvSpPr>
          <p:cNvPr id="13" name="body-8"/>
          <p:cNvSpPr txBox="1"/>
          <p:nvPr/>
        </p:nvSpPr>
        <p:spPr>
          <a:xfrm>
            <a:off x="5464362" y="2523744"/>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Allowed with request protections</a:t>
            </a:r>
          </a:p>
        </p:txBody>
      </p:sp>
      <p:sp>
        <p:nvSpPr>
          <p:cNvPr id="14" name="Rectangle 13"/>
          <p:cNvSpPr/>
          <p:nvPr/>
        </p:nvSpPr>
        <p:spPr>
          <a:xfrm>
            <a:off x="548640" y="2994660"/>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48640" y="3547872"/>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body-9"/>
          <p:cNvSpPr txBox="1"/>
          <p:nvPr/>
        </p:nvSpPr>
        <p:spPr>
          <a:xfrm>
            <a:off x="694944" y="3076956"/>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Collection and saved grammar reads</a:t>
            </a:r>
          </a:p>
        </p:txBody>
      </p:sp>
      <p:sp>
        <p:nvSpPr>
          <p:cNvPr id="17" name="body-10"/>
          <p:cNvSpPr txBox="1"/>
          <p:nvPr/>
        </p:nvSpPr>
        <p:spPr>
          <a:xfrm>
            <a:off x="5464362" y="3076956"/>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Allowed</a:t>
            </a:r>
          </a:p>
        </p:txBody>
      </p:sp>
      <p:sp>
        <p:nvSpPr>
          <p:cNvPr id="18" name="Rectangle 17"/>
          <p:cNvSpPr/>
          <p:nvPr/>
        </p:nvSpPr>
        <p:spPr>
          <a:xfrm>
            <a:off x="548640" y="3547872"/>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9" name="Connector 18"/>
          <p:cNvCxnSpPr/>
          <p:nvPr/>
        </p:nvCxnSpPr>
        <p:spPr>
          <a:xfrm>
            <a:off x="548640" y="410108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body-11"/>
          <p:cNvSpPr txBox="1"/>
          <p:nvPr/>
        </p:nvSpPr>
        <p:spPr>
          <a:xfrm>
            <a:off x="694944" y="3630168"/>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Collection / grammar / recording writes</a:t>
            </a:r>
          </a:p>
        </p:txBody>
      </p:sp>
      <p:sp>
        <p:nvSpPr>
          <p:cNvPr id="21" name="body-12"/>
          <p:cNvSpPr txBox="1"/>
          <p:nvPr/>
        </p:nvSpPr>
        <p:spPr>
          <a:xfrm>
            <a:off x="5464362" y="3630168"/>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403</a:t>
            </a:r>
          </a:p>
        </p:txBody>
      </p:sp>
      <p:sp>
        <p:nvSpPr>
          <p:cNvPr id="22" name="Rectangle 21"/>
          <p:cNvSpPr/>
          <p:nvPr/>
        </p:nvSpPr>
        <p:spPr>
          <a:xfrm>
            <a:off x="548640" y="4101083"/>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3" name="Connector 22"/>
          <p:cNvCxnSpPr/>
          <p:nvPr/>
        </p:nvCxnSpPr>
        <p:spPr>
          <a:xfrm>
            <a:off x="548640" y="465429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body-13"/>
          <p:cNvSpPr txBox="1"/>
          <p:nvPr/>
        </p:nvSpPr>
        <p:spPr>
          <a:xfrm>
            <a:off x="694944" y="4183379"/>
            <a:ext cx="4495098" cy="434340"/>
          </a:xfrm>
          <a:prstGeom prst="rect">
            <a:avLst/>
          </a:prstGeom>
          <a:noFill/>
        </p:spPr>
        <p:txBody>
          <a:bodyPr wrap="none" lIns="0" rIns="0" tIns="0" bIns="0" anchor="t">
            <a:noAutofit/>
          </a:bodyPr>
          <a:lstStyle/>
          <a:p>
            <a:pPr algn="l">
              <a:lnSpc>
                <a:spcPts val="1855"/>
              </a:lnSpc>
              <a:spcBef>
                <a:spcPts val="0"/>
              </a:spcBef>
              <a:spcAft>
                <a:spcPts val="0"/>
              </a:spcAft>
              <a:defRPr sz="1600" b="0">
                <a:solidFill>
                  <a:srgbClr val="183747"/>
                </a:solidFill>
                <a:latin typeface="Arial"/>
              </a:defRPr>
            </a:pPr>
            <a:r>
              <a:t>Account, workspace, import, private maintenance</a:t>
            </a:r>
          </a:p>
        </p:txBody>
      </p:sp>
      <p:sp>
        <p:nvSpPr>
          <p:cNvPr id="25" name="body-14"/>
          <p:cNvSpPr txBox="1"/>
          <p:nvPr/>
        </p:nvSpPr>
        <p:spPr>
          <a:xfrm>
            <a:off x="5464362" y="4183379"/>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404</a:t>
            </a:r>
          </a:p>
        </p:txBody>
      </p:sp>
      <p:sp>
        <p:nvSpPr>
          <p:cNvPr id="26" name="Rectangle 25"/>
          <p:cNvSpPr/>
          <p:nvPr/>
        </p:nvSpPr>
        <p:spPr>
          <a:xfrm>
            <a:off x="548640" y="4654296"/>
            <a:ext cx="11091672" cy="5532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5207508"/>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5"/>
          <p:cNvSpPr txBox="1"/>
          <p:nvPr/>
        </p:nvSpPr>
        <p:spPr>
          <a:xfrm>
            <a:off x="694944" y="4736592"/>
            <a:ext cx="4495098"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Invalid Origin or CSRF on protected POST</a:t>
            </a:r>
          </a:p>
        </p:txBody>
      </p:sp>
      <p:sp>
        <p:nvSpPr>
          <p:cNvPr id="29" name="body-16"/>
          <p:cNvSpPr txBox="1"/>
          <p:nvPr/>
        </p:nvSpPr>
        <p:spPr>
          <a:xfrm>
            <a:off x="5464362" y="4736592"/>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403</a:t>
            </a:r>
          </a:p>
        </p:txBody>
      </p:sp>
      <p:sp>
        <p:nvSpPr>
          <p:cNvPr id="30" name="Rectangle 29"/>
          <p:cNvSpPr/>
          <p:nvPr/>
        </p:nvSpPr>
        <p:spPr>
          <a:xfrm>
            <a:off x="548640" y="5207508"/>
            <a:ext cx="11091672" cy="553212"/>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30"/>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2" name="body-17"/>
          <p:cNvSpPr txBox="1"/>
          <p:nvPr/>
        </p:nvSpPr>
        <p:spPr>
          <a:xfrm>
            <a:off x="694944" y="5289804"/>
            <a:ext cx="4495098" cy="434340"/>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183747"/>
                </a:solidFill>
                <a:latin typeface="Arial"/>
              </a:defRPr>
            </a:pPr>
            <a:r>
              <a:t>More than 120 requests / 60 seconds / address</a:t>
            </a:r>
          </a:p>
        </p:txBody>
      </p:sp>
      <p:sp>
        <p:nvSpPr>
          <p:cNvPr id="33" name="body-18"/>
          <p:cNvSpPr txBox="1"/>
          <p:nvPr/>
        </p:nvSpPr>
        <p:spPr>
          <a:xfrm>
            <a:off x="5464362" y="5289804"/>
            <a:ext cx="6047933" cy="434340"/>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183747"/>
                </a:solidFill>
                <a:latin typeface="Arial"/>
              </a:defRPr>
            </a:pPr>
            <a:r>
              <a:t>429 with Retry-After</a:t>
            </a:r>
          </a:p>
        </p:txBody>
      </p:sp>
      <p:cxnSp>
        <p:nvCxnSpPr>
          <p:cNvPr id="34" name="Connector 33"/>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5" name="footer-19"/>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6" name="source-20">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37" name="source-21">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backend/rate_limits.py</a:t>
            </a:r>
          </a:p>
        </p:txBody>
      </p:sp>
      <p:sp>
        <p:nvSpPr>
          <p:cNvPr id="38" name="source-22">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backend/tests/test_public_access.py</a:t>
            </a:r>
          </a:p>
        </p:txBody>
      </p:sp>
      <p:sp>
        <p:nvSpPr>
          <p:cNvPr id="39" name="footer-23"/>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0" name="footer-24"/>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086 / 100</a:t>
            </a:r>
          </a:p>
        </p:txBody>
      </p:sp>
      <p:sp>
        <p:nvSpPr>
          <p:cNvPr id="41" name="Rectangle 4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0" y="6821424"/>
            <a:ext cx="104851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Recorded audio is retrieved, not generated</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Two read paths serve existing media.</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68096"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68096"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01</a:t>
            </a:r>
          </a:p>
        </p:txBody>
      </p:sp>
      <p:sp>
        <p:nvSpPr>
          <p:cNvPr id="11" name="body-6"/>
          <p:cNvSpPr txBox="1"/>
          <p:nvPr/>
        </p:nvSpPr>
        <p:spPr>
          <a:xfrm>
            <a:off x="795528"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COLLECTION AUDIO</a:t>
            </a:r>
          </a:p>
        </p:txBody>
      </p:sp>
      <p:sp>
        <p:nvSpPr>
          <p:cNvPr id="12" name="body-7"/>
          <p:cNvSpPr txBox="1"/>
          <p:nvPr/>
        </p:nvSpPr>
        <p:spPr>
          <a:xfrm>
            <a:off x="795528"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Play an audio attachment</a:t>
            </a:r>
          </a:p>
          <a:p>
            <a:pPr algn="l">
              <a:lnSpc>
                <a:spcPts val="2320"/>
              </a:lnSpc>
              <a:spcBef>
                <a:spcPts val="0"/>
              </a:spcBef>
              <a:spcAft>
                <a:spcPts val="0"/>
              </a:spcAft>
              <a:defRPr sz="2000" b="0">
                <a:solidFill>
                  <a:srgbClr val="587080"/>
                </a:solidFill>
                <a:latin typeface="Arial"/>
              </a:defRPr>
            </a:pPr>
            <a:r>
              <a:t>that already belongs to a</a:t>
            </a:r>
          </a:p>
          <a:p>
            <a:pPr algn="l">
              <a:lnSpc>
                <a:spcPts val="2320"/>
              </a:lnSpc>
              <a:spcBef>
                <a:spcPts val="0"/>
              </a:spcBef>
              <a:spcAft>
                <a:spcPts val="0"/>
              </a:spcAft>
              <a:defRPr sz="2000" b="0">
                <a:solidFill>
                  <a:srgbClr val="587080"/>
                </a:solidFill>
                <a:latin typeface="Arial"/>
              </a:defRPr>
            </a:pPr>
            <a:r>
              <a:t>record.</a:t>
            </a:r>
          </a:p>
        </p:txBody>
      </p:sp>
      <p:sp>
        <p:nvSpPr>
          <p:cNvPr id="13" name="Rounded Rectangle 12"/>
          <p:cNvSpPr/>
          <p:nvPr/>
        </p:nvSpPr>
        <p:spPr>
          <a:xfrm>
            <a:off x="4312920"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12920" y="2029968"/>
            <a:ext cx="50292" cy="36850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541520"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8"/>
          <p:cNvSpPr txBox="1"/>
          <p:nvPr/>
        </p:nvSpPr>
        <p:spPr>
          <a:xfrm>
            <a:off x="4541520"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02</a:t>
            </a:r>
          </a:p>
        </p:txBody>
      </p:sp>
      <p:sp>
        <p:nvSpPr>
          <p:cNvPr id="17" name="body-9"/>
          <p:cNvSpPr txBox="1"/>
          <p:nvPr/>
        </p:nvSpPr>
        <p:spPr>
          <a:xfrm>
            <a:off x="4568952"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RECORDED READING</a:t>
            </a:r>
          </a:p>
        </p:txBody>
      </p:sp>
      <p:sp>
        <p:nvSpPr>
          <p:cNvPr id="18" name="body-10"/>
          <p:cNvSpPr txBox="1"/>
          <p:nvPr/>
        </p:nvSpPr>
        <p:spPr>
          <a:xfrm>
            <a:off x="4568952"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Look up a compatible</a:t>
            </a:r>
          </a:p>
          <a:p>
            <a:pPr algn="l">
              <a:lnSpc>
                <a:spcPts val="2320"/>
              </a:lnSpc>
              <a:spcBef>
                <a:spcPts val="0"/>
              </a:spcBef>
              <a:spcAft>
                <a:spcPts val="0"/>
              </a:spcAft>
              <a:defRPr sz="2000" b="0">
                <a:solidFill>
                  <a:srgbClr val="587080"/>
                </a:solidFill>
                <a:latin typeface="Arial"/>
              </a:defRPr>
            </a:pPr>
            <a:r>
              <a:t>text/language reading and</a:t>
            </a:r>
          </a:p>
          <a:p>
            <a:pPr algn="l">
              <a:lnSpc>
                <a:spcPts val="2320"/>
              </a:lnSpc>
              <a:spcBef>
                <a:spcPts val="0"/>
              </a:spcBef>
              <a:spcAft>
                <a:spcPts val="0"/>
              </a:spcAft>
              <a:defRPr sz="2000" b="0">
                <a:solidFill>
                  <a:srgbClr val="587080"/>
                </a:solidFill>
                <a:latin typeface="Arial"/>
              </a:defRPr>
            </a:pPr>
            <a:r>
              <a:t>stream its file.</a:t>
            </a:r>
          </a:p>
        </p:txBody>
      </p:sp>
      <p:sp>
        <p:nvSpPr>
          <p:cNvPr id="19" name="Rounded Rectangle 18"/>
          <p:cNvSpPr/>
          <p:nvPr/>
        </p:nvSpPr>
        <p:spPr>
          <a:xfrm>
            <a:off x="8086344"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086344"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314944"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1"/>
          <p:cNvSpPr txBox="1"/>
          <p:nvPr/>
        </p:nvSpPr>
        <p:spPr>
          <a:xfrm>
            <a:off x="8314944"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03</a:t>
            </a:r>
          </a:p>
        </p:txBody>
      </p:sp>
      <p:sp>
        <p:nvSpPr>
          <p:cNvPr id="23" name="body-12"/>
          <p:cNvSpPr txBox="1"/>
          <p:nvPr/>
        </p:nvSpPr>
        <p:spPr>
          <a:xfrm>
            <a:off x="8342376"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HONEST ABSENCE</a:t>
            </a:r>
          </a:p>
        </p:txBody>
      </p:sp>
      <p:sp>
        <p:nvSpPr>
          <p:cNvPr id="24" name="body-13"/>
          <p:cNvSpPr txBox="1"/>
          <p:nvPr/>
        </p:nvSpPr>
        <p:spPr>
          <a:xfrm>
            <a:off x="8342376"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No recording means</a:t>
            </a:r>
          </a:p>
          <a:p>
            <a:pPr algn="l">
              <a:lnSpc>
                <a:spcPts val="2320"/>
              </a:lnSpc>
              <a:spcBef>
                <a:spcPts val="0"/>
              </a:spcBef>
              <a:spcAft>
                <a:spcPts val="0"/>
              </a:spcAft>
              <a:defRPr sz="2000" b="0">
                <a:solidFill>
                  <a:srgbClr val="587080"/>
                </a:solidFill>
                <a:latin typeface="Arial"/>
              </a:defRPr>
            </a:pPr>
            <a:r>
              <a:t>unavailable, not a</a:t>
            </a:r>
          </a:p>
          <a:p>
            <a:pPr algn="l">
              <a:lnSpc>
                <a:spcPts val="2320"/>
              </a:lnSpc>
              <a:spcBef>
                <a:spcPts val="0"/>
              </a:spcBef>
              <a:spcAft>
                <a:spcPts val="0"/>
              </a:spcAft>
              <a:defRPr sz="2000" b="0">
                <a:solidFill>
                  <a:srgbClr val="587080"/>
                </a:solidFill>
                <a:latin typeface="Arial"/>
              </a:defRPr>
            </a:pPr>
            <a:r>
              <a:t>synthesized substitute.</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backend/audio_api.py</a:t>
            </a:r>
          </a:p>
        </p:txBody>
      </p:sp>
      <p:sp>
        <p:nvSpPr>
          <p:cNvPr id="28" name="source-1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backend/readings_api.py</a:t>
            </a:r>
          </a:p>
        </p:txBody>
      </p:sp>
      <p:sp>
        <p:nvSpPr>
          <p:cNvPr id="29" name="source-17">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frontend/src/RecordedReadings.tsx</a:t>
            </a:r>
          </a:p>
        </p:txBody>
      </p:sp>
      <p:sp>
        <p:nvSpPr>
          <p:cNvPr id="30" name="source-18">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frontend/src/voice.ts</a:t>
            </a:r>
          </a:p>
        </p:txBody>
      </p:sp>
      <p:sp>
        <p:nvSpPr>
          <p:cNvPr id="31" name="footer-19"/>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2" name="footer-20"/>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087 / 100</a:t>
            </a:r>
          </a:p>
        </p:txBody>
      </p:sp>
      <p:sp>
        <p:nvSpPr>
          <p:cNvPr id="33" name="Rectangle 32"/>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0" y="6821424"/>
            <a:ext cx="106070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HTTPS outside, port 2021 inside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camfranglais.duckdns.org uses a private loopback upstream.</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VISITOR</a:t>
            </a:r>
          </a:p>
        </p:txBody>
      </p:sp>
      <p:sp>
        <p:nvSpPr>
          <p:cNvPr id="10" name="body-7"/>
          <p:cNvSpPr txBox="1"/>
          <p:nvPr/>
        </p:nvSpPr>
        <p:spPr>
          <a:xfrm>
            <a:off x="731520"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Public DuckDNS</a:t>
            </a:r>
          </a:p>
          <a:p>
            <a:pPr algn="l">
              <a:lnSpc>
                <a:spcPts val="2088"/>
              </a:lnSpc>
              <a:spcBef>
                <a:spcPts val="0"/>
              </a:spcBef>
              <a:spcAft>
                <a:spcPts val="0"/>
              </a:spcAft>
              <a:defRPr sz="1800" b="0">
                <a:solidFill>
                  <a:srgbClr val="587080"/>
                </a:solidFill>
                <a:latin typeface="Arial"/>
              </a:defRPr>
            </a:pPr>
            <a:r>
              <a:t>domain</a:t>
            </a:r>
          </a:p>
        </p:txBody>
      </p:sp>
      <p:sp>
        <p:nvSpPr>
          <p:cNvPr id="11" name="Chevron 10"/>
          <p:cNvSpPr/>
          <p:nvPr/>
        </p:nvSpPr>
        <p:spPr>
          <a:xfrm>
            <a:off x="3191256"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3396996"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579876"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579876"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NGINX</a:t>
            </a:r>
          </a:p>
        </p:txBody>
      </p:sp>
      <p:sp>
        <p:nvSpPr>
          <p:cNvPr id="15" name="body-10"/>
          <p:cNvSpPr txBox="1"/>
          <p:nvPr/>
        </p:nvSpPr>
        <p:spPr>
          <a:xfrm>
            <a:off x="3579876"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Public HTTPS / port</a:t>
            </a:r>
          </a:p>
          <a:p>
            <a:pPr algn="l">
              <a:lnSpc>
                <a:spcPts val="2088"/>
              </a:lnSpc>
              <a:spcBef>
                <a:spcPts val="0"/>
              </a:spcBef>
              <a:spcAft>
                <a:spcPts val="0"/>
              </a:spcAft>
              <a:defRPr sz="1800" b="0">
                <a:solidFill>
                  <a:srgbClr val="587080"/>
                </a:solidFill>
                <a:latin typeface="Arial"/>
              </a:defRPr>
            </a:pPr>
            <a:r>
              <a:t>443</a:t>
            </a:r>
          </a:p>
        </p:txBody>
      </p:sp>
      <p:sp>
        <p:nvSpPr>
          <p:cNvPr id="16" name="Chevron 15"/>
          <p:cNvSpPr/>
          <p:nvPr/>
        </p:nvSpPr>
        <p:spPr>
          <a:xfrm>
            <a:off x="6039612"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6245352"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6428232"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6428232"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UVICORN + FASTAPI</a:t>
            </a:r>
          </a:p>
        </p:txBody>
      </p:sp>
      <p:sp>
        <p:nvSpPr>
          <p:cNvPr id="20" name="body-13"/>
          <p:cNvSpPr txBox="1"/>
          <p:nvPr/>
        </p:nvSpPr>
        <p:spPr>
          <a:xfrm>
            <a:off x="6428232"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127.0.0.1:2021</a:t>
            </a:r>
          </a:p>
        </p:txBody>
      </p:sp>
      <p:sp>
        <p:nvSpPr>
          <p:cNvPr id="21" name="Chevron 20"/>
          <p:cNvSpPr/>
          <p:nvPr/>
        </p:nvSpPr>
        <p:spPr>
          <a:xfrm>
            <a:off x="8887968"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9093708" y="2468880"/>
            <a:ext cx="2564892"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9276588" y="2688336"/>
            <a:ext cx="2199132"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9276588" y="3410712"/>
            <a:ext cx="2199132"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PERSISTENCE</a:t>
            </a:r>
          </a:p>
        </p:txBody>
      </p:sp>
      <p:sp>
        <p:nvSpPr>
          <p:cNvPr id="25" name="body-16"/>
          <p:cNvSpPr txBox="1"/>
          <p:nvPr/>
        </p:nvSpPr>
        <p:spPr>
          <a:xfrm>
            <a:off x="9276588" y="4041648"/>
            <a:ext cx="2199132"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/var/lib/camfranglais</a:t>
            </a:r>
          </a:p>
        </p:txBody>
      </p:sp>
      <p:sp>
        <p:nvSpPr>
          <p:cNvPr id="26" name="caption-17"/>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sp>
        <p:nvSpPr>
          <p:cNvPr id="27" name="caption-18"/>
          <p:cNvSpPr txBox="1"/>
          <p:nvPr/>
        </p:nvSpPr>
        <p:spPr>
          <a:xfrm>
            <a:off x="557784" y="5705856"/>
            <a:ext cx="10972800" cy="182880"/>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Arial"/>
              </a:defRPr>
            </a:pPr>
            <a:r>
              <a:t>DOCUMENTED TOPOLOGY / loopback upstream, public HTTPS</a:t>
            </a:r>
          </a:p>
        </p:txBody>
      </p:sp>
      <p:cxnSp>
        <p:nvCxnSpPr>
          <p:cNvPr id="28" name="Connector 2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9" name="footer-19"/>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0" name="source-20">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README.md</a:t>
            </a:r>
          </a:p>
        </p:txBody>
      </p:sp>
      <p:sp>
        <p:nvSpPr>
          <p:cNvPr id="31" name="source-21">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backend/web.py</a:t>
            </a:r>
          </a:p>
        </p:txBody>
      </p:sp>
      <p:sp>
        <p:nvSpPr>
          <p:cNvPr id="32" name="source-22">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backend/config.py</a:t>
            </a:r>
          </a:p>
        </p:txBody>
      </p:sp>
      <p:sp>
        <p:nvSpPr>
          <p:cNvPr id="33" name="source-23">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tools/run_app.py</a:t>
            </a:r>
          </a:p>
        </p:txBody>
      </p:sp>
      <p:sp>
        <p:nvSpPr>
          <p:cNvPr id="34" name="footer-2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5" name="footer-2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088 / 100</a:t>
            </a:r>
          </a:p>
        </p:txBody>
      </p:sp>
      <p:sp>
        <p:nvSpPr>
          <p:cNvPr id="36" name="Rectangle 35"/>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0" y="6821424"/>
            <a:ext cx="107289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Run and configure the application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launcher checks prerequisites instead of hiding failures.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repository root</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start.ps1</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Convenient local Windows</a:t>
            </a:r>
          </a:p>
          <a:p>
            <a:pPr algn="l">
              <a:lnSpc>
                <a:spcPts val="2088"/>
              </a:lnSpc>
              <a:spcBef>
                <a:spcPts val="0"/>
              </a:spcBef>
              <a:spcAft>
                <a:spcPts val="0"/>
              </a:spcAft>
              <a:defRPr sz="1800" b="0">
                <a:solidFill>
                  <a:srgbClr val="587080"/>
                </a:solidFill>
                <a:latin typeface="Arial"/>
              </a:defRPr>
            </a:pPr>
            <a:r>
              <a:t>entry point.</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tools</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run_app.py</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Validate launch settings and</a:t>
            </a:r>
          </a:p>
          <a:p>
            <a:pPr algn="l">
              <a:lnSpc>
                <a:spcPts val="2088"/>
              </a:lnSpc>
              <a:spcBef>
                <a:spcPts val="0"/>
              </a:spcBef>
              <a:spcAft>
                <a:spcPts val="0"/>
              </a:spcAft>
              <a:defRPr sz="1800" b="0">
                <a:solidFill>
                  <a:srgbClr val="587080"/>
                </a:solidFill>
                <a:latin typeface="Arial"/>
              </a:defRPr>
            </a:pPr>
            <a:r>
              <a:t>serve one origin.</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config.py</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Environment, public URL and</a:t>
            </a:r>
          </a:p>
          <a:p>
            <a:pPr algn="l">
              <a:lnSpc>
                <a:spcPts val="2088"/>
              </a:lnSpc>
              <a:spcBef>
                <a:spcPts val="0"/>
              </a:spcBef>
              <a:spcAft>
                <a:spcPts val="0"/>
              </a:spcAft>
              <a:defRPr sz="1800" b="0">
                <a:solidFill>
                  <a:srgbClr val="587080"/>
                </a:solidFill>
                <a:latin typeface="Arial"/>
              </a:defRPr>
            </a:pPr>
            <a:r>
              <a:t>storage settings.</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main.py</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Construct the FastAPI</a:t>
            </a:r>
          </a:p>
          <a:p>
            <a:pPr algn="l">
              <a:lnSpc>
                <a:spcPts val="2088"/>
              </a:lnSpc>
              <a:spcBef>
                <a:spcPts val="0"/>
              </a:spcBef>
              <a:spcAft>
                <a:spcPts val="0"/>
              </a:spcAft>
              <a:defRPr sz="1800" b="0">
                <a:solidFill>
                  <a:srgbClr val="587080"/>
                </a:solidFill>
                <a:latin typeface="Arial"/>
              </a:defRPr>
            </a:pPr>
            <a:r>
              <a:t>application.</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web.py</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Serve the built frontend and</a:t>
            </a:r>
          </a:p>
          <a:p>
            <a:pPr algn="l">
              <a:lnSpc>
                <a:spcPts val="2088"/>
              </a:lnSpc>
              <a:spcBef>
                <a:spcPts val="0"/>
              </a:spcBef>
              <a:spcAft>
                <a:spcPts val="0"/>
              </a:spcAft>
              <a:defRPr sz="1800" b="0">
                <a:solidFill>
                  <a:srgbClr val="587080"/>
                </a:solidFill>
                <a:latin typeface="Arial"/>
              </a:defRPr>
            </a:pPr>
            <a:r>
              <a:t>web policy.</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0"/>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1">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start.ps1</a:t>
            </a:r>
          </a:p>
        </p:txBody>
      </p:sp>
      <p:sp>
        <p:nvSpPr>
          <p:cNvPr id="35" name="source-22">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tools/run_app.py</a:t>
            </a:r>
          </a:p>
        </p:txBody>
      </p:sp>
      <p:sp>
        <p:nvSpPr>
          <p:cNvPr id="36" name="source-23">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backend/config.py</a:t>
            </a:r>
          </a:p>
        </p:txBody>
      </p:sp>
      <p:sp>
        <p:nvSpPr>
          <p:cNvPr id="37" name="source-24">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backend/main.py</a:t>
            </a:r>
          </a:p>
        </p:txBody>
      </p:sp>
      <p:sp>
        <p:nvSpPr>
          <p:cNvPr id="38"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089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108508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09 / PERSISTENCE AND DEPLOYMENT</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Recovery does not rewrite history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Use the failure message to choose the next safe action.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5"/>
          <p:cNvSpPr txBox="1"/>
          <p:nvPr/>
        </p:nvSpPr>
        <p:spPr>
          <a:xfrm>
            <a:off x="777240"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TIMEOUT</a:t>
            </a:r>
          </a:p>
        </p:txBody>
      </p:sp>
      <p:sp>
        <p:nvSpPr>
          <p:cNvPr id="10" name="body-6"/>
          <p:cNvSpPr txBox="1"/>
          <p:nvPr/>
        </p:nvSpPr>
        <p:spPr>
          <a:xfrm>
            <a:off x="777240"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Recover an identical pending request</a:t>
            </a:r>
          </a:p>
          <a:p>
            <a:pPr algn="l">
              <a:lnSpc>
                <a:spcPts val="2320"/>
              </a:lnSpc>
              <a:spcBef>
                <a:spcPts val="0"/>
              </a:spcBef>
              <a:spcAft>
                <a:spcPts val="0"/>
              </a:spcAft>
              <a:defRPr sz="2000" b="0">
                <a:solidFill>
                  <a:srgbClr val="587080"/>
                </a:solidFill>
                <a:latin typeface="Arial"/>
              </a:defRPr>
            </a:pPr>
            <a:r>
              <a:t>before creating another.</a:t>
            </a:r>
          </a:p>
        </p:txBody>
      </p:sp>
      <p:sp>
        <p:nvSpPr>
          <p:cNvPr id="11" name="Rounded Rectangle 10"/>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6437375"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STALE GRAMMAR</a:t>
            </a:r>
          </a:p>
        </p:txBody>
      </p:sp>
      <p:sp>
        <p:nvSpPr>
          <p:cNvPr id="14" name="body-8"/>
          <p:cNvSpPr txBox="1"/>
          <p:nvPr/>
        </p:nvSpPr>
        <p:spPr>
          <a:xfrm>
            <a:off x="6437375"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Refresh the saved grammar for a new</a:t>
            </a:r>
          </a:p>
          <a:p>
            <a:pPr algn="l">
              <a:lnSpc>
                <a:spcPts val="2320"/>
              </a:lnSpc>
              <a:spcBef>
                <a:spcPts val="0"/>
              </a:spcBef>
              <a:spcAft>
                <a:spcPts val="0"/>
              </a:spcAft>
              <a:defRPr sz="2000" b="0">
                <a:solidFill>
                  <a:srgbClr val="587080"/>
                </a:solidFill>
                <a:latin typeface="Arial"/>
              </a:defRPr>
            </a:pPr>
            <a:r>
              <a:t>computation.</a:t>
            </a:r>
          </a:p>
        </p:txBody>
      </p:sp>
      <p:sp>
        <p:nvSpPr>
          <p:cNvPr id="15" name="Rounded Rectangle 14"/>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9"/>
          <p:cNvSpPr txBox="1"/>
          <p:nvPr/>
        </p:nvSpPr>
        <p:spPr>
          <a:xfrm>
            <a:off x="777240"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BUSY STORAGE</a:t>
            </a:r>
          </a:p>
        </p:txBody>
      </p:sp>
      <p:sp>
        <p:nvSpPr>
          <p:cNvPr id="18" name="body-10"/>
          <p:cNvSpPr txBox="1"/>
          <p:nvPr/>
        </p:nvSpPr>
        <p:spPr>
          <a:xfrm>
            <a:off x="777240"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Retry when the service is available.</a:t>
            </a:r>
          </a:p>
        </p:txBody>
      </p:sp>
      <p:sp>
        <p:nvSpPr>
          <p:cNvPr id="19" name="Rounded Rectangle 18"/>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1"/>
          <p:cNvSpPr txBox="1"/>
          <p:nvPr/>
        </p:nvSpPr>
        <p:spPr>
          <a:xfrm>
            <a:off x="6437375"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OLD RESULT</a:t>
            </a:r>
          </a:p>
        </p:txBody>
      </p:sp>
      <p:sp>
        <p:nvSpPr>
          <p:cNvPr id="22" name="body-12"/>
          <p:cNvSpPr txBox="1"/>
          <p:nvPr/>
        </p:nvSpPr>
        <p:spPr>
          <a:xfrm>
            <a:off x="6437375"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Inspect the original snapshot; do not</a:t>
            </a:r>
          </a:p>
          <a:p>
            <a:pPr algn="l">
              <a:lnSpc>
                <a:spcPts val="2320"/>
              </a:lnSpc>
              <a:spcBef>
                <a:spcPts val="0"/>
              </a:spcBef>
              <a:spcAft>
                <a:spcPts val="0"/>
              </a:spcAft>
              <a:defRPr sz="2000" b="0">
                <a:solidFill>
                  <a:srgbClr val="587080"/>
                </a:solidFill>
                <a:latin typeface="Arial"/>
              </a:defRPr>
            </a:pPr>
            <a:r>
              <a:t>reinterpret it as a rerun.</a:t>
            </a:r>
          </a:p>
        </p:txBody>
      </p:sp>
      <p:cxnSp>
        <p:nvCxnSpPr>
          <p:cNvPr id="23" name="Connector 2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5"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6"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27"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28" name="source-1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29"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090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109727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 fixed study, not a live benchmark</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evaluation uses the same twelve original strings.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95528"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12</a:t>
            </a:r>
          </a:p>
        </p:txBody>
      </p:sp>
      <p:sp>
        <p:nvSpPr>
          <p:cNvPr id="9" name="body-6"/>
          <p:cNvSpPr txBox="1"/>
          <p:nvPr/>
        </p:nvSpPr>
        <p:spPr>
          <a:xfrm>
            <a:off x="804672"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Supplied originals</a:t>
            </a:r>
          </a:p>
        </p:txBody>
      </p:sp>
      <p:sp>
        <p:nvSpPr>
          <p:cNvPr id="10" name="Rounded Rectangle 9"/>
          <p:cNvSpPr/>
          <p:nvPr/>
        </p:nvSpPr>
        <p:spPr>
          <a:xfrm>
            <a:off x="6208776" y="2048256"/>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6455664" y="2276856"/>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81</a:t>
            </a:r>
          </a:p>
        </p:txBody>
      </p:sp>
      <p:sp>
        <p:nvSpPr>
          <p:cNvPr id="12" name="body-8"/>
          <p:cNvSpPr txBox="1"/>
          <p:nvPr/>
        </p:nvSpPr>
        <p:spPr>
          <a:xfrm>
            <a:off x="6464808" y="3163824"/>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Tokens retained</a:t>
            </a:r>
          </a:p>
        </p:txBody>
      </p:sp>
      <p:sp>
        <p:nvSpPr>
          <p:cNvPr id="13" name="Rounded Rectangle 12"/>
          <p:cNvSpPr/>
          <p:nvPr/>
        </p:nvSpPr>
        <p:spPr>
          <a:xfrm>
            <a:off x="548640"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95528"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10</a:t>
            </a:r>
          </a:p>
        </p:txBody>
      </p:sp>
      <p:sp>
        <p:nvSpPr>
          <p:cNvPr id="15" name="body-10"/>
          <p:cNvSpPr txBox="1"/>
          <p:nvPr/>
        </p:nvSpPr>
        <p:spPr>
          <a:xfrm>
            <a:off x="804672"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Grammar accepts</a:t>
            </a:r>
          </a:p>
        </p:txBody>
      </p:sp>
      <p:sp>
        <p:nvSpPr>
          <p:cNvPr id="16" name="Rounded Rectangle 15"/>
          <p:cNvSpPr/>
          <p:nvPr/>
        </p:nvSpPr>
        <p:spPr>
          <a:xfrm>
            <a:off x="6208776" y="3959352"/>
            <a:ext cx="5431536" cy="168249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6455664" y="4187952"/>
            <a:ext cx="4882896" cy="758952"/>
          </a:xfrm>
          <a:prstGeom prst="rect">
            <a:avLst/>
          </a:prstGeom>
          <a:noFill/>
        </p:spPr>
        <p:txBody>
          <a:bodyPr wrap="none" lIns="0" rIns="0" tIns="0" bIns="0" anchor="t">
            <a:noAutofit/>
          </a:bodyPr>
          <a:lstStyle/>
          <a:p>
            <a:pPr algn="l">
              <a:lnSpc>
                <a:spcPts val="5567"/>
              </a:lnSpc>
              <a:spcBef>
                <a:spcPts val="0"/>
              </a:spcBef>
              <a:spcAft>
                <a:spcPts val="0"/>
              </a:spcAft>
              <a:defRPr sz="4800" b="1">
                <a:solidFill>
                  <a:srgbClr val="147E80"/>
                </a:solidFill>
                <a:latin typeface="Arial"/>
              </a:defRPr>
            </a:pPr>
            <a:r>
              <a:t>2</a:t>
            </a:r>
          </a:p>
        </p:txBody>
      </p:sp>
      <p:sp>
        <p:nvSpPr>
          <p:cNvPr id="18" name="body-12"/>
          <p:cNvSpPr txBox="1"/>
          <p:nvPr/>
        </p:nvSpPr>
        <p:spPr>
          <a:xfrm>
            <a:off x="6464808" y="5074920"/>
            <a:ext cx="4873752" cy="329184"/>
          </a:xfrm>
          <a:prstGeom prst="rect">
            <a:avLst/>
          </a:prstGeom>
          <a:noFill/>
        </p:spPr>
        <p:txBody>
          <a:bodyPr wrap="none" lIns="0" rIns="0" tIns="0" bIns="0" anchor="t">
            <a:noAutofit/>
          </a:bodyPr>
          <a:lstStyle/>
          <a:p>
            <a:pPr algn="l">
              <a:lnSpc>
                <a:spcPts val="2204"/>
              </a:lnSpc>
              <a:spcBef>
                <a:spcPts val="0"/>
              </a:spcBef>
              <a:spcAft>
                <a:spcPts val="0"/>
              </a:spcAft>
              <a:defRPr sz="1900" b="0">
                <a:solidFill>
                  <a:srgbClr val="587080"/>
                </a:solidFill>
                <a:latin typeface="Arial"/>
              </a:defRPr>
            </a:pPr>
            <a:r>
              <a:t>Explicit grammar rejects</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compiler/tests/yaounde_cases.py</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091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110947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Ten of twelve fit the saved grammar</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83.3% category-grammar match is not linguistic accuracy.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594360" y="1956816"/>
          <a:ext cx="5705856" cy="3794760"/>
        </p:xfrm>
        <a:graphic>
          <a:graphicData uri="http://schemas.openxmlformats.org/drawingml/2006/chart">
            <c:chart xmlns:c="http://schemas.openxmlformats.org/drawingml/2006/chart" r:id="rId2"/>
          </a:graphicData>
        </a:graphic>
      </p:graphicFrame>
      <p:sp>
        <p:nvSpPr>
          <p:cNvPr id="8" name="body-5"/>
          <p:cNvSpPr txBox="1"/>
          <p:nvPr/>
        </p:nvSpPr>
        <p:spPr>
          <a:xfrm>
            <a:off x="2084831" y="3392424"/>
            <a:ext cx="2688336" cy="530352"/>
          </a:xfrm>
          <a:prstGeom prst="rect">
            <a:avLst/>
          </a:prstGeom>
          <a:noFill/>
        </p:spPr>
        <p:txBody>
          <a:bodyPr wrap="none" lIns="0" rIns="0" tIns="0" bIns="0" anchor="t">
            <a:noAutofit/>
          </a:bodyPr>
          <a:lstStyle/>
          <a:p>
            <a:pPr algn="ctr">
              <a:lnSpc>
                <a:spcPts val="4059"/>
              </a:lnSpc>
              <a:spcBef>
                <a:spcPts val="0"/>
              </a:spcBef>
              <a:spcAft>
                <a:spcPts val="0"/>
              </a:spcAft>
              <a:defRPr sz="3500" b="1">
                <a:solidFill>
                  <a:srgbClr val="147E80"/>
                </a:solidFill>
                <a:latin typeface="Arial"/>
              </a:defRPr>
            </a:pPr>
            <a:r>
              <a:t>83.3%</a:t>
            </a:r>
          </a:p>
        </p:txBody>
      </p:sp>
      <p:sp>
        <p:nvSpPr>
          <p:cNvPr id="9" name="Rectangle 8"/>
          <p:cNvSpPr/>
          <p:nvPr/>
        </p:nvSpPr>
        <p:spPr>
          <a:xfrm>
            <a:off x="6739128" y="2167128"/>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6"/>
          <p:cNvSpPr txBox="1"/>
          <p:nvPr/>
        </p:nvSpPr>
        <p:spPr>
          <a:xfrm>
            <a:off x="6922008" y="2148840"/>
            <a:ext cx="4389120"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ACCEPTED</a:t>
            </a:r>
          </a:p>
        </p:txBody>
      </p:sp>
      <p:sp>
        <p:nvSpPr>
          <p:cNvPr id="11" name="body-7"/>
          <p:cNvSpPr txBox="1"/>
          <p:nvPr/>
        </p:nvSpPr>
        <p:spPr>
          <a:xfrm>
            <a:off x="6922008" y="2587752"/>
            <a:ext cx="4370832" cy="66751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10 original statements</a:t>
            </a:r>
          </a:p>
        </p:txBody>
      </p:sp>
      <p:sp>
        <p:nvSpPr>
          <p:cNvPr id="12" name="Rectangle 11"/>
          <p:cNvSpPr/>
          <p:nvPr/>
        </p:nvSpPr>
        <p:spPr>
          <a:xfrm>
            <a:off x="6739128" y="333756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6922008" y="3319272"/>
            <a:ext cx="4389120"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REJECTED</a:t>
            </a:r>
          </a:p>
        </p:txBody>
      </p:sp>
      <p:sp>
        <p:nvSpPr>
          <p:cNvPr id="14" name="body-9"/>
          <p:cNvSpPr txBox="1"/>
          <p:nvPr/>
        </p:nvSpPr>
        <p:spPr>
          <a:xfrm>
            <a:off x="6922008" y="3758183"/>
            <a:ext cx="4370832" cy="66751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2 originals with unresolved sixth tokens</a:t>
            </a:r>
          </a:p>
        </p:txBody>
      </p:sp>
      <p:sp>
        <p:nvSpPr>
          <p:cNvPr id="15" name="Rectangle 14"/>
          <p:cNvSpPr/>
          <p:nvPr/>
        </p:nvSpPr>
        <p:spPr>
          <a:xfrm>
            <a:off x="6739128" y="450799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10"/>
          <p:cNvSpPr txBox="1"/>
          <p:nvPr/>
        </p:nvSpPr>
        <p:spPr>
          <a:xfrm>
            <a:off x="6922008" y="4489704"/>
            <a:ext cx="4389120"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INTERPRETATION</a:t>
            </a:r>
          </a:p>
        </p:txBody>
      </p:sp>
      <p:sp>
        <p:nvSpPr>
          <p:cNvPr id="17" name="body-11"/>
          <p:cNvSpPr txBox="1"/>
          <p:nvPr/>
        </p:nvSpPr>
        <p:spPr>
          <a:xfrm>
            <a:off x="6922008" y="4928616"/>
            <a:ext cx="4370832" cy="66751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 result for this corpus and these rules</a:t>
            </a:r>
          </a:p>
          <a:p>
            <a:pPr algn="l">
              <a:lnSpc>
                <a:spcPts val="2088"/>
              </a:lnSpc>
              <a:spcBef>
                <a:spcPts val="0"/>
              </a:spcBef>
              <a:spcAft>
                <a:spcPts val="0"/>
              </a:spcAft>
              <a:defRPr sz="1800" b="0">
                <a:solidFill>
                  <a:srgbClr val="587080"/>
                </a:solidFill>
                <a:latin typeface="Arial"/>
              </a:defRPr>
            </a:pPr>
            <a:r>
              <a:t>only</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2"/>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3">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1" name="source-14">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22"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3"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092 / 100</a:t>
            </a:r>
          </a:p>
        </p:txBody>
      </p:sp>
      <p:sp>
        <p:nvSpPr>
          <p:cNvPr id="24" name="Rectangle 23"/>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112166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Boundary cases expose the rules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Seven constructed controls supplement the twelve originals.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48640" y="2011680"/>
            <a:ext cx="11091672" cy="429768"/>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694944" y="2093976"/>
            <a:ext cx="1611264"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Control</a:t>
            </a:r>
          </a:p>
        </p:txBody>
      </p:sp>
      <p:sp>
        <p:nvSpPr>
          <p:cNvPr id="9" name="body-6"/>
          <p:cNvSpPr txBox="1"/>
          <p:nvPr/>
        </p:nvSpPr>
        <p:spPr>
          <a:xfrm>
            <a:off x="2580528" y="2093976"/>
            <a:ext cx="5271516"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Constructed input</a:t>
            </a:r>
          </a:p>
        </p:txBody>
      </p:sp>
      <p:sp>
        <p:nvSpPr>
          <p:cNvPr id="10" name="body-7"/>
          <p:cNvSpPr txBox="1"/>
          <p:nvPr/>
        </p:nvSpPr>
        <p:spPr>
          <a:xfrm>
            <a:off x="8126364" y="2093976"/>
            <a:ext cx="3385931" cy="310896"/>
          </a:xfrm>
          <a:prstGeom prst="rect">
            <a:avLst/>
          </a:prstGeom>
          <a:noFill/>
        </p:spPr>
        <p:txBody>
          <a:bodyPr wrap="none" lIns="0" rIns="0" tIns="0" bIns="0" anchor="t">
            <a:noAutofit/>
          </a:bodyPr>
          <a:lstStyle/>
          <a:p>
            <a:pPr algn="l">
              <a:lnSpc>
                <a:spcPts val="1855"/>
              </a:lnSpc>
              <a:spcBef>
                <a:spcPts val="0"/>
              </a:spcBef>
              <a:spcAft>
                <a:spcPts val="0"/>
              </a:spcAft>
              <a:defRPr sz="1600" b="1">
                <a:solidFill>
                  <a:srgbClr val="FFFFFF"/>
                </a:solidFill>
                <a:latin typeface="Arial"/>
              </a:defRPr>
            </a:pPr>
            <a:r>
              <a:t>Saved-grammar result</a:t>
            </a:r>
          </a:p>
        </p:txBody>
      </p:sp>
      <p:sp>
        <p:nvSpPr>
          <p:cNvPr id="11" name="Rectangle 10"/>
          <p:cNvSpPr/>
          <p:nvPr/>
        </p:nvSpPr>
        <p:spPr>
          <a:xfrm>
            <a:off x="548640" y="2441448"/>
            <a:ext cx="11091672" cy="47418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548640" y="2915629"/>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3" name="body-8"/>
          <p:cNvSpPr txBox="1"/>
          <p:nvPr/>
        </p:nvSpPr>
        <p:spPr>
          <a:xfrm>
            <a:off x="694944" y="2523744"/>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C01</a:t>
            </a:r>
          </a:p>
        </p:txBody>
      </p:sp>
      <p:sp>
        <p:nvSpPr>
          <p:cNvPr id="14" name="body-9"/>
          <p:cNvSpPr txBox="1"/>
          <p:nvPr/>
        </p:nvSpPr>
        <p:spPr>
          <a:xfrm>
            <a:off x="2580528" y="2523744"/>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(empty)</a:t>
            </a:r>
          </a:p>
        </p:txBody>
      </p:sp>
      <p:sp>
        <p:nvSpPr>
          <p:cNvPr id="15" name="body-10"/>
          <p:cNvSpPr txBox="1"/>
          <p:nvPr/>
        </p:nvSpPr>
        <p:spPr>
          <a:xfrm>
            <a:off x="8126364" y="2523744"/>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REJECT</a:t>
            </a:r>
          </a:p>
        </p:txBody>
      </p:sp>
      <p:sp>
        <p:nvSpPr>
          <p:cNvPr id="16" name="Rectangle 15"/>
          <p:cNvSpPr/>
          <p:nvPr/>
        </p:nvSpPr>
        <p:spPr>
          <a:xfrm>
            <a:off x="548640" y="2915629"/>
            <a:ext cx="11091672" cy="474181"/>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548640" y="3389811"/>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8" name="body-11"/>
          <p:cNvSpPr txBox="1"/>
          <p:nvPr/>
        </p:nvSpPr>
        <p:spPr>
          <a:xfrm>
            <a:off x="694944" y="2997925"/>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C02</a:t>
            </a:r>
          </a:p>
        </p:txBody>
      </p:sp>
      <p:sp>
        <p:nvSpPr>
          <p:cNvPr id="19" name="body-12"/>
          <p:cNvSpPr txBox="1"/>
          <p:nvPr/>
        </p:nvSpPr>
        <p:spPr>
          <a:xfrm>
            <a:off x="2580528" y="2997925"/>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school</a:t>
            </a:r>
          </a:p>
        </p:txBody>
      </p:sp>
      <p:sp>
        <p:nvSpPr>
          <p:cNvPr id="20" name="body-13"/>
          <p:cNvSpPr txBox="1"/>
          <p:nvPr/>
        </p:nvSpPr>
        <p:spPr>
          <a:xfrm>
            <a:off x="8126364" y="2997925"/>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REJECT</a:t>
            </a:r>
          </a:p>
        </p:txBody>
      </p:sp>
      <p:sp>
        <p:nvSpPr>
          <p:cNvPr id="21" name="Rectangle 20"/>
          <p:cNvSpPr/>
          <p:nvPr/>
        </p:nvSpPr>
        <p:spPr>
          <a:xfrm>
            <a:off x="548640" y="3389811"/>
            <a:ext cx="11091672" cy="47418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548640" y="3863993"/>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3" name="body-14"/>
          <p:cNvSpPr txBox="1"/>
          <p:nvPr/>
        </p:nvSpPr>
        <p:spPr>
          <a:xfrm>
            <a:off x="694944" y="3472107"/>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C03</a:t>
            </a:r>
          </a:p>
        </p:txBody>
      </p:sp>
      <p:sp>
        <p:nvSpPr>
          <p:cNvPr id="24" name="body-15"/>
          <p:cNvSpPr txBox="1"/>
          <p:nvPr/>
        </p:nvSpPr>
        <p:spPr>
          <a:xfrm>
            <a:off x="2580528" y="3472107"/>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je</a:t>
            </a:r>
          </a:p>
        </p:txBody>
      </p:sp>
      <p:sp>
        <p:nvSpPr>
          <p:cNvPr id="25" name="body-16"/>
          <p:cNvSpPr txBox="1"/>
          <p:nvPr/>
        </p:nvSpPr>
        <p:spPr>
          <a:xfrm>
            <a:off x="8126364" y="3472107"/>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REJECT</a:t>
            </a:r>
          </a:p>
        </p:txBody>
      </p:sp>
      <p:sp>
        <p:nvSpPr>
          <p:cNvPr id="26" name="Rectangle 25"/>
          <p:cNvSpPr/>
          <p:nvPr/>
        </p:nvSpPr>
        <p:spPr>
          <a:xfrm>
            <a:off x="548640" y="3863993"/>
            <a:ext cx="11091672" cy="474181"/>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548640" y="4338174"/>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8" name="body-17"/>
          <p:cNvSpPr txBox="1"/>
          <p:nvPr/>
        </p:nvSpPr>
        <p:spPr>
          <a:xfrm>
            <a:off x="694944" y="3946289"/>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C04</a:t>
            </a:r>
          </a:p>
        </p:txBody>
      </p:sp>
      <p:sp>
        <p:nvSpPr>
          <p:cNvPr id="29" name="body-18"/>
          <p:cNvSpPr txBox="1"/>
          <p:nvPr/>
        </p:nvSpPr>
        <p:spPr>
          <a:xfrm>
            <a:off x="2580528" y="3946289"/>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je suis kass.</a:t>
            </a:r>
          </a:p>
        </p:txBody>
      </p:sp>
      <p:sp>
        <p:nvSpPr>
          <p:cNvPr id="30" name="body-19"/>
          <p:cNvSpPr txBox="1"/>
          <p:nvPr/>
        </p:nvSpPr>
        <p:spPr>
          <a:xfrm>
            <a:off x="8126364" y="3946289"/>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ACCEPT</a:t>
            </a:r>
          </a:p>
        </p:txBody>
      </p:sp>
      <p:sp>
        <p:nvSpPr>
          <p:cNvPr id="31" name="Rectangle 30"/>
          <p:cNvSpPr/>
          <p:nvPr/>
        </p:nvSpPr>
        <p:spPr>
          <a:xfrm>
            <a:off x="548640" y="4338174"/>
            <a:ext cx="11091672" cy="47418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548640" y="4812356"/>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body-20"/>
          <p:cNvSpPr txBox="1"/>
          <p:nvPr/>
        </p:nvSpPr>
        <p:spPr>
          <a:xfrm>
            <a:off x="694944" y="4420470"/>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C05</a:t>
            </a:r>
          </a:p>
        </p:txBody>
      </p:sp>
      <p:sp>
        <p:nvSpPr>
          <p:cNvPr id="34" name="body-21"/>
          <p:cNvSpPr txBox="1"/>
          <p:nvPr/>
        </p:nvSpPr>
        <p:spPr>
          <a:xfrm>
            <a:off x="2580528" y="4420470"/>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je suis kass?!</a:t>
            </a:r>
          </a:p>
        </p:txBody>
      </p:sp>
      <p:sp>
        <p:nvSpPr>
          <p:cNvPr id="35" name="body-22"/>
          <p:cNvSpPr txBox="1"/>
          <p:nvPr/>
        </p:nvSpPr>
        <p:spPr>
          <a:xfrm>
            <a:off x="8126364" y="4420470"/>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REJECT</a:t>
            </a:r>
          </a:p>
        </p:txBody>
      </p:sp>
      <p:sp>
        <p:nvSpPr>
          <p:cNvPr id="36" name="Rectangle 35"/>
          <p:cNvSpPr/>
          <p:nvPr/>
        </p:nvSpPr>
        <p:spPr>
          <a:xfrm>
            <a:off x="548640" y="4812356"/>
            <a:ext cx="11091672" cy="474181"/>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7" name="Connector 36"/>
          <p:cNvCxnSpPr/>
          <p:nvPr/>
        </p:nvCxnSpPr>
        <p:spPr>
          <a:xfrm>
            <a:off x="548640" y="5286538"/>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body-23"/>
          <p:cNvSpPr txBox="1"/>
          <p:nvPr/>
        </p:nvSpPr>
        <p:spPr>
          <a:xfrm>
            <a:off x="694944" y="4894652"/>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C06</a:t>
            </a:r>
          </a:p>
        </p:txBody>
      </p:sp>
      <p:sp>
        <p:nvSpPr>
          <p:cNvPr id="39" name="body-24"/>
          <p:cNvSpPr txBox="1"/>
          <p:nvPr/>
        </p:nvSpPr>
        <p:spPr>
          <a:xfrm>
            <a:off x="2580528" y="4894652"/>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je je suis</a:t>
            </a:r>
          </a:p>
        </p:txBody>
      </p:sp>
      <p:sp>
        <p:nvSpPr>
          <p:cNvPr id="40" name="body-25"/>
          <p:cNvSpPr txBox="1"/>
          <p:nvPr/>
        </p:nvSpPr>
        <p:spPr>
          <a:xfrm>
            <a:off x="8126364" y="4894652"/>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REJECT</a:t>
            </a:r>
          </a:p>
        </p:txBody>
      </p:sp>
      <p:sp>
        <p:nvSpPr>
          <p:cNvPr id="41" name="Rectangle 40"/>
          <p:cNvSpPr/>
          <p:nvPr/>
        </p:nvSpPr>
        <p:spPr>
          <a:xfrm>
            <a:off x="548640" y="5286538"/>
            <a:ext cx="11091672" cy="474181"/>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548640" y="5760720"/>
            <a:ext cx="11091672" cy="0"/>
          </a:xfrm>
          <a:prstGeom prst="line">
            <a:avLst/>
          </a:prstGeom>
          <a:ln w="635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43" name="body-26"/>
          <p:cNvSpPr txBox="1"/>
          <p:nvPr/>
        </p:nvSpPr>
        <p:spPr>
          <a:xfrm>
            <a:off x="694944" y="5368834"/>
            <a:ext cx="1611264"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C07</a:t>
            </a:r>
          </a:p>
        </p:txBody>
      </p:sp>
      <p:sp>
        <p:nvSpPr>
          <p:cNvPr id="44" name="body-27"/>
          <p:cNvSpPr txBox="1"/>
          <p:nvPr/>
        </p:nvSpPr>
        <p:spPr>
          <a:xfrm>
            <a:off x="2580528" y="5368834"/>
            <a:ext cx="5271516"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je suis alli</a:t>
            </a:r>
          </a:p>
        </p:txBody>
      </p:sp>
      <p:sp>
        <p:nvSpPr>
          <p:cNvPr id="45" name="body-28"/>
          <p:cNvSpPr txBox="1"/>
          <p:nvPr/>
        </p:nvSpPr>
        <p:spPr>
          <a:xfrm>
            <a:off x="8126364" y="5368834"/>
            <a:ext cx="3385931" cy="355309"/>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183747"/>
                </a:solidFill>
                <a:latin typeface="Arial"/>
              </a:defRPr>
            </a:pPr>
            <a:r>
              <a:t>REJECT</a:t>
            </a:r>
          </a:p>
        </p:txBody>
      </p:sp>
      <p:cxnSp>
        <p:nvCxnSpPr>
          <p:cNvPr id="46" name="Connector 45"/>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47" name="footer-29"/>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48" name="source-30">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49" name="source-31">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compiler/tests/test_yaounde_grammar.py</a:t>
            </a:r>
          </a:p>
        </p:txBody>
      </p:sp>
      <p:sp>
        <p:nvSpPr>
          <p:cNvPr id="50" name="footer-3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51" name="footer-3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093 / 100</a:t>
            </a:r>
          </a:p>
        </p:txBody>
      </p:sp>
      <p:sp>
        <p:nvSpPr>
          <p:cNvPr id="52" name="Rectangle 5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ectangle 52"/>
          <p:cNvSpPr/>
          <p:nvPr/>
        </p:nvSpPr>
        <p:spPr>
          <a:xfrm>
            <a:off x="0" y="6821424"/>
            <a:ext cx="113385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Evidence has a clear boundary</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State what is measured and what still needs human confirmation.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68096"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68096"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01</a:t>
            </a:r>
          </a:p>
        </p:txBody>
      </p:sp>
      <p:sp>
        <p:nvSpPr>
          <p:cNvPr id="11" name="body-6"/>
          <p:cNvSpPr txBox="1"/>
          <p:nvPr/>
        </p:nvSpPr>
        <p:spPr>
          <a:xfrm>
            <a:off x="795528"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VERIFIED</a:t>
            </a:r>
          </a:p>
        </p:txBody>
      </p:sp>
      <p:sp>
        <p:nvSpPr>
          <p:cNvPr id="12" name="body-7"/>
          <p:cNvSpPr txBox="1"/>
          <p:nvPr/>
        </p:nvSpPr>
        <p:spPr>
          <a:xfrm>
            <a:off x="795528"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Token outputs, grammar</a:t>
            </a:r>
          </a:p>
          <a:p>
            <a:pPr algn="l">
              <a:lnSpc>
                <a:spcPts val="2320"/>
              </a:lnSpc>
              <a:spcBef>
                <a:spcPts val="0"/>
              </a:spcBef>
              <a:spcAft>
                <a:spcPts val="0"/>
              </a:spcAft>
              <a:defRPr sz="2000" b="0">
                <a:solidFill>
                  <a:srgbClr val="587080"/>
                </a:solidFill>
                <a:latin typeface="Arial"/>
              </a:defRPr>
            </a:pPr>
            <a:r>
              <a:t>transformations, traces</a:t>
            </a:r>
          </a:p>
          <a:p>
            <a:pPr algn="l">
              <a:lnSpc>
                <a:spcPts val="2320"/>
              </a:lnSpc>
              <a:spcBef>
                <a:spcPts val="0"/>
              </a:spcBef>
              <a:spcAft>
                <a:spcPts val="0"/>
              </a:spcAft>
              <a:defRPr sz="2000" b="0">
                <a:solidFill>
                  <a:srgbClr val="587080"/>
                </a:solidFill>
                <a:latin typeface="Arial"/>
              </a:defRPr>
            </a:pPr>
            <a:r>
              <a:t>and saved-data behavior.</a:t>
            </a:r>
          </a:p>
        </p:txBody>
      </p:sp>
      <p:sp>
        <p:nvSpPr>
          <p:cNvPr id="13" name="Rounded Rectangle 12"/>
          <p:cNvSpPr/>
          <p:nvPr/>
        </p:nvSpPr>
        <p:spPr>
          <a:xfrm>
            <a:off x="4312920"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12920" y="2029968"/>
            <a:ext cx="50292" cy="36850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541520"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8"/>
          <p:cNvSpPr txBox="1"/>
          <p:nvPr/>
        </p:nvSpPr>
        <p:spPr>
          <a:xfrm>
            <a:off x="4541520"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02</a:t>
            </a:r>
          </a:p>
        </p:txBody>
      </p:sp>
      <p:sp>
        <p:nvSpPr>
          <p:cNvPr id="17" name="body-9"/>
          <p:cNvSpPr txBox="1"/>
          <p:nvPr/>
        </p:nvSpPr>
        <p:spPr>
          <a:xfrm>
            <a:off x="4568952"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QUALIFIED</a:t>
            </a:r>
          </a:p>
        </p:txBody>
      </p:sp>
      <p:sp>
        <p:nvSpPr>
          <p:cNvPr id="18" name="body-10"/>
          <p:cNvSpPr txBox="1"/>
          <p:nvPr/>
        </p:nvSpPr>
        <p:spPr>
          <a:xfrm>
            <a:off x="4568952"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Supplied glosses and</a:t>
            </a:r>
          </a:p>
          <a:p>
            <a:pPr algn="l">
              <a:lnSpc>
                <a:spcPts val="2320"/>
              </a:lnSpc>
              <a:spcBef>
                <a:spcPts val="0"/>
              </a:spcBef>
              <a:spcAft>
                <a:spcPts val="0"/>
              </a:spcAft>
              <a:defRPr sz="2000" b="0">
                <a:solidFill>
                  <a:srgbClr val="587080"/>
                </a:solidFill>
                <a:latin typeface="Arial"/>
              </a:defRPr>
            </a:pPr>
            <a:r>
              <a:t>lexical annotations need</a:t>
            </a:r>
          </a:p>
          <a:p>
            <a:pPr algn="l">
              <a:lnSpc>
                <a:spcPts val="2320"/>
              </a:lnSpc>
              <a:spcBef>
                <a:spcPts val="0"/>
              </a:spcBef>
              <a:spcAft>
                <a:spcPts val="0"/>
              </a:spcAft>
              <a:defRPr sz="2000" b="0">
                <a:solidFill>
                  <a:srgbClr val="587080"/>
                </a:solidFill>
                <a:latin typeface="Arial"/>
              </a:defRPr>
            </a:pPr>
            <a:r>
              <a:t>linguistic review.</a:t>
            </a:r>
          </a:p>
        </p:txBody>
      </p:sp>
      <p:sp>
        <p:nvSpPr>
          <p:cNvPr id="19" name="Rounded Rectangle 18"/>
          <p:cNvSpPr/>
          <p:nvPr/>
        </p:nvSpPr>
        <p:spPr>
          <a:xfrm>
            <a:off x="8086344"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086344"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314944"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1"/>
          <p:cNvSpPr txBox="1"/>
          <p:nvPr/>
        </p:nvSpPr>
        <p:spPr>
          <a:xfrm>
            <a:off x="8314944"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03</a:t>
            </a:r>
          </a:p>
        </p:txBody>
      </p:sp>
      <p:sp>
        <p:nvSpPr>
          <p:cNvPr id="23" name="body-12"/>
          <p:cNvSpPr txBox="1"/>
          <p:nvPr/>
        </p:nvSpPr>
        <p:spPr>
          <a:xfrm>
            <a:off x="8342376"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UNCONFIRMED</a:t>
            </a:r>
          </a:p>
        </p:txBody>
      </p:sp>
      <p:sp>
        <p:nvSpPr>
          <p:cNvPr id="24" name="body-13"/>
          <p:cNvSpPr txBox="1"/>
          <p:nvPr/>
        </p:nvSpPr>
        <p:spPr>
          <a:xfrm>
            <a:off x="8342376"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Original fieldwork dates,</a:t>
            </a:r>
          </a:p>
          <a:p>
            <a:pPr algn="l">
              <a:lnSpc>
                <a:spcPts val="2320"/>
              </a:lnSpc>
              <a:spcBef>
                <a:spcPts val="0"/>
              </a:spcBef>
              <a:spcAft>
                <a:spcPts val="0"/>
              </a:spcAft>
              <a:defRPr sz="2000" b="0">
                <a:solidFill>
                  <a:srgbClr val="587080"/>
                </a:solidFill>
                <a:latin typeface="Arial"/>
              </a:defRPr>
            </a:pPr>
            <a:r>
              <a:t>collectors, speakers and</a:t>
            </a:r>
          </a:p>
          <a:p>
            <a:pPr algn="l">
              <a:lnSpc>
                <a:spcPts val="2320"/>
              </a:lnSpc>
              <a:spcBef>
                <a:spcPts val="0"/>
              </a:spcBef>
              <a:spcAft>
                <a:spcPts val="0"/>
              </a:spcAft>
              <a:defRPr sz="2000" b="0">
                <a:solidFill>
                  <a:srgbClr val="587080"/>
                </a:solidFill>
                <a:latin typeface="Arial"/>
              </a:defRPr>
            </a:pPr>
            <a:r>
              <a:t>consent.</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docs/evidence/final-corpus-20260927.json</a:t>
            </a:r>
          </a:p>
        </p:txBody>
      </p:sp>
      <p:sp>
        <p:nvSpPr>
          <p:cNvPr id="28" name="source-1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docs/final-report.tex</a:t>
            </a:r>
          </a:p>
        </p:txBody>
      </p:sp>
      <p:sp>
        <p:nvSpPr>
          <p:cNvPr id="29"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094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114604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Tests check different layers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successful build is not the only form of evidence.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body-5"/>
          <p:cNvSpPr txBox="1"/>
          <p:nvPr/>
        </p:nvSpPr>
        <p:spPr>
          <a:xfrm>
            <a:off x="777240"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COMPILER</a:t>
            </a:r>
          </a:p>
        </p:txBody>
      </p:sp>
      <p:sp>
        <p:nvSpPr>
          <p:cNvPr id="10" name="body-6"/>
          <p:cNvSpPr txBox="1"/>
          <p:nvPr/>
        </p:nvSpPr>
        <p:spPr>
          <a:xfrm>
            <a:off x="777240"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Exact tokenization, grammar controls and</a:t>
            </a:r>
          </a:p>
          <a:p>
            <a:pPr algn="l">
              <a:lnSpc>
                <a:spcPts val="2320"/>
              </a:lnSpc>
              <a:spcBef>
                <a:spcPts val="0"/>
              </a:spcBef>
              <a:spcAft>
                <a:spcPts val="0"/>
              </a:spcAft>
              <a:defRPr sz="2000" b="0">
                <a:solidFill>
                  <a:srgbClr val="587080"/>
                </a:solidFill>
                <a:latin typeface="Arial"/>
              </a:defRPr>
            </a:pPr>
            <a:r>
              <a:t>trace transitions.</a:t>
            </a:r>
          </a:p>
        </p:txBody>
      </p:sp>
      <p:sp>
        <p:nvSpPr>
          <p:cNvPr id="11" name="Rounded Rectangle 10"/>
          <p:cNvSpPr/>
          <p:nvPr/>
        </p:nvSpPr>
        <p:spPr>
          <a:xfrm>
            <a:off x="6199631" y="20299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99631"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6437375" y="22768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API + STORAGE</a:t>
            </a:r>
          </a:p>
        </p:txBody>
      </p:sp>
      <p:sp>
        <p:nvSpPr>
          <p:cNvPr id="14" name="body-8"/>
          <p:cNvSpPr txBox="1"/>
          <p:nvPr/>
        </p:nvSpPr>
        <p:spPr>
          <a:xfrm>
            <a:off x="6437375" y="28254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Public permissions, snapshots and safe</a:t>
            </a:r>
          </a:p>
          <a:p>
            <a:pPr algn="l">
              <a:lnSpc>
                <a:spcPts val="2320"/>
              </a:lnSpc>
              <a:spcBef>
                <a:spcPts val="0"/>
              </a:spcBef>
              <a:spcAft>
                <a:spcPts val="0"/>
              </a:spcAft>
              <a:defRPr sz="2000" b="0">
                <a:solidFill>
                  <a:srgbClr val="587080"/>
                </a:solidFill>
                <a:latin typeface="Arial"/>
              </a:defRPr>
            </a:pPr>
            <a:r>
              <a:t>retries.</a:t>
            </a:r>
          </a:p>
        </p:txBody>
      </p:sp>
      <p:sp>
        <p:nvSpPr>
          <p:cNvPr id="15" name="Rounded Rectangle 14"/>
          <p:cNvSpPr/>
          <p:nvPr/>
        </p:nvSpPr>
        <p:spPr>
          <a:xfrm>
            <a:off x="539496"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539496"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9"/>
          <p:cNvSpPr txBox="1"/>
          <p:nvPr/>
        </p:nvSpPr>
        <p:spPr>
          <a:xfrm>
            <a:off x="777240"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FRONTEND</a:t>
            </a:r>
          </a:p>
        </p:txBody>
      </p:sp>
      <p:sp>
        <p:nvSpPr>
          <p:cNvPr id="18" name="body-10"/>
          <p:cNvSpPr txBox="1"/>
          <p:nvPr/>
        </p:nvSpPr>
        <p:spPr>
          <a:xfrm>
            <a:off x="777240"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Page behavior, request states and visible</a:t>
            </a:r>
          </a:p>
          <a:p>
            <a:pPr algn="l">
              <a:lnSpc>
                <a:spcPts val="2320"/>
              </a:lnSpc>
              <a:spcBef>
                <a:spcPts val="0"/>
              </a:spcBef>
              <a:spcAft>
                <a:spcPts val="0"/>
              </a:spcAft>
              <a:defRPr sz="2000" b="0">
                <a:solidFill>
                  <a:srgbClr val="587080"/>
                </a:solidFill>
                <a:latin typeface="Arial"/>
              </a:defRPr>
            </a:pPr>
            <a:r>
              <a:t>results.</a:t>
            </a:r>
          </a:p>
        </p:txBody>
      </p:sp>
      <p:sp>
        <p:nvSpPr>
          <p:cNvPr id="19" name="Rounded Rectangle 18"/>
          <p:cNvSpPr/>
          <p:nvPr/>
        </p:nvSpPr>
        <p:spPr>
          <a:xfrm>
            <a:off x="6199631" y="3973068"/>
            <a:ext cx="5458968"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99631"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11"/>
          <p:cNvSpPr txBox="1"/>
          <p:nvPr/>
        </p:nvSpPr>
        <p:spPr>
          <a:xfrm>
            <a:off x="6437375" y="4219956"/>
            <a:ext cx="4983479" cy="411480"/>
          </a:xfrm>
          <a:prstGeom prst="rect">
            <a:avLst/>
          </a:prstGeom>
          <a:noFill/>
        </p:spPr>
        <p:txBody>
          <a:bodyPr wrap="none" lIns="0" rIns="0" tIns="0" bIns="0" anchor="t">
            <a:noAutofit/>
          </a:bodyPr>
          <a:lstStyle/>
          <a:p>
            <a:pPr algn="l">
              <a:lnSpc>
                <a:spcPts val="2261"/>
              </a:lnSpc>
              <a:spcBef>
                <a:spcPts val="0"/>
              </a:spcBef>
              <a:spcAft>
                <a:spcPts val="0"/>
              </a:spcAft>
              <a:defRPr sz="1950" b="1">
                <a:solidFill>
                  <a:srgbClr val="147E80"/>
                </a:solidFill>
                <a:latin typeface="Arial"/>
              </a:defRPr>
            </a:pPr>
            <a:r>
              <a:t>DOCUMENTS</a:t>
            </a:r>
          </a:p>
        </p:txBody>
      </p:sp>
      <p:sp>
        <p:nvSpPr>
          <p:cNvPr id="22" name="body-12"/>
          <p:cNvSpPr txBox="1"/>
          <p:nvPr/>
        </p:nvSpPr>
        <p:spPr>
          <a:xfrm>
            <a:off x="6437375" y="4768596"/>
            <a:ext cx="4983479" cy="809244"/>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Diagrams, source coverage and</a:t>
            </a:r>
          </a:p>
          <a:p>
            <a:pPr algn="l">
              <a:lnSpc>
                <a:spcPts val="2320"/>
              </a:lnSpc>
              <a:spcBef>
                <a:spcPts val="0"/>
              </a:spcBef>
              <a:spcAft>
                <a:spcPts val="0"/>
              </a:spcAft>
              <a:defRPr sz="2000" b="0">
                <a:solidFill>
                  <a:srgbClr val="587080"/>
                </a:solidFill>
                <a:latin typeface="Arial"/>
              </a:defRPr>
            </a:pPr>
            <a:r>
              <a:t>reproducible report evidence.</a:t>
            </a:r>
          </a:p>
        </p:txBody>
      </p:sp>
      <p:cxnSp>
        <p:nvCxnSpPr>
          <p:cNvPr id="23" name="Connector 22"/>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4"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5"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compiler/tests/test_yaounde_grammar.py</a:t>
            </a:r>
          </a:p>
        </p:txBody>
      </p:sp>
      <p:sp>
        <p:nvSpPr>
          <p:cNvPr id="26"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backend/tests/test_public_access.py</a:t>
            </a:r>
          </a:p>
        </p:txBody>
      </p:sp>
      <p:sp>
        <p:nvSpPr>
          <p:cNvPr id="27" name="source-1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frontend/tests/unit/FrancAnalyzer.test.tsx</a:t>
            </a:r>
          </a:p>
        </p:txBody>
      </p:sp>
      <p:sp>
        <p:nvSpPr>
          <p:cNvPr id="28" name="source-1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tools/tests/test_report_evidence.py</a:t>
            </a:r>
          </a:p>
        </p:txBody>
      </p:sp>
      <p:sp>
        <p:nvSpPr>
          <p:cNvPr id="29"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0"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095 / 100</a:t>
            </a:r>
          </a:p>
        </p:txBody>
      </p:sp>
      <p:sp>
        <p:nvSpPr>
          <p:cNvPr id="31" name="Rectangle 30"/>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0" y="6821424"/>
            <a:ext cx="115823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File map: UI and the request path</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compact index for questions during the demonstration.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FrancAnalyzer.tsx</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does Analyze begin?</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TestStatistics.tsx</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are history metrics</a:t>
            </a:r>
          </a:p>
          <a:p>
            <a:pPr algn="l">
              <a:lnSpc>
                <a:spcPts val="2088"/>
              </a:lnSpc>
              <a:spcBef>
                <a:spcPts val="0"/>
              </a:spcBef>
              <a:spcAft>
                <a:spcPts val="0"/>
              </a:spcAft>
              <a:defRPr sz="1800" b="0">
                <a:solidFill>
                  <a:srgbClr val="587080"/>
                </a:solidFill>
                <a:latin typeface="Arial"/>
              </a:defRPr>
            </a:pPr>
            <a:r>
              <a:t>displayed?</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Collection.tsx</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are records browsed?</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frontend/src</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api.ts</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are errors and headers</a:t>
            </a:r>
          </a:p>
          <a:p>
            <a:pPr algn="l">
              <a:lnSpc>
                <a:spcPts val="2088"/>
              </a:lnSpc>
              <a:spcBef>
                <a:spcPts val="0"/>
              </a:spcBef>
              <a:spcAft>
                <a:spcPts val="0"/>
              </a:spcAft>
              <a:defRPr sz="1800" b="0">
                <a:solidFill>
                  <a:srgbClr val="587080"/>
                </a:solidFill>
                <a:latin typeface="Arial"/>
              </a:defRPr>
            </a:pPr>
            <a:r>
              <a:t>handled?</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analyzer_api.py</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does the request enter?</a:t>
            </a:r>
          </a:p>
        </p:txBody>
      </p:sp>
      <p:sp>
        <p:nvSpPr>
          <p:cNvPr id="32" name="Rounded Rectangle 31"/>
          <p:cNvSpPr/>
          <p:nvPr/>
        </p:nvSpPr>
        <p:spPr>
          <a:xfrm>
            <a:off x="8086344"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8086344"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aption-20"/>
          <p:cNvSpPr txBox="1"/>
          <p:nvPr/>
        </p:nvSpPr>
        <p:spPr>
          <a:xfrm>
            <a:off x="8296656"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5" name="body-21"/>
          <p:cNvSpPr txBox="1"/>
          <p:nvPr/>
        </p:nvSpPr>
        <p:spPr>
          <a:xfrm>
            <a:off x="8296656"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analyzer_history.py</a:t>
            </a:r>
          </a:p>
        </p:txBody>
      </p:sp>
      <p:sp>
        <p:nvSpPr>
          <p:cNvPr id="36" name="body-22"/>
          <p:cNvSpPr txBox="1"/>
          <p:nvPr/>
        </p:nvSpPr>
        <p:spPr>
          <a:xfrm>
            <a:off x="8296656"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is its snapshot</a:t>
            </a:r>
          </a:p>
          <a:p>
            <a:pPr algn="l">
              <a:lnSpc>
                <a:spcPts val="2088"/>
              </a:lnSpc>
              <a:spcBef>
                <a:spcPts val="0"/>
              </a:spcBef>
              <a:spcAft>
                <a:spcPts val="0"/>
              </a:spcAft>
              <a:defRPr sz="1800" b="0">
                <a:solidFill>
                  <a:srgbClr val="587080"/>
                </a:solidFill>
                <a:latin typeface="Arial"/>
              </a:defRPr>
            </a:pPr>
            <a:r>
              <a:t>managed?</a:t>
            </a:r>
          </a:p>
        </p:txBody>
      </p:sp>
      <p:cxnSp>
        <p:nvCxnSpPr>
          <p:cNvPr id="37" name="Connector 3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footer-2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9" name="source-2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40" name="source-2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frontend/src/api.ts</a:t>
            </a:r>
          </a:p>
        </p:txBody>
      </p:sp>
      <p:sp>
        <p:nvSpPr>
          <p:cNvPr id="41" name="source-2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42" name="source-2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43" name="footer-2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4" name="footer-2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096 / 100</a:t>
            </a:r>
          </a:p>
        </p:txBody>
      </p:sp>
      <p:sp>
        <p:nvSpPr>
          <p:cNvPr id="45" name="Rectangle 4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0" y="6821424"/>
            <a:ext cx="1170431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File map: compiler and persistence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computational core stays separate from the public interface.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caption-5"/>
          <p:cNvSpPr txBox="1"/>
          <p:nvPr/>
        </p:nvSpPr>
        <p:spPr>
          <a:xfrm>
            <a:off x="749808"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compiler/lexer</a:t>
            </a:r>
          </a:p>
        </p:txBody>
      </p:sp>
      <p:sp>
        <p:nvSpPr>
          <p:cNvPr id="10" name="body-6"/>
          <p:cNvSpPr txBox="1"/>
          <p:nvPr/>
        </p:nvSpPr>
        <p:spPr>
          <a:xfrm>
            <a:off x="749808"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tokenizer.py</a:t>
            </a:r>
          </a:p>
        </p:txBody>
      </p:sp>
      <p:sp>
        <p:nvSpPr>
          <p:cNvPr id="11" name="body-7"/>
          <p:cNvSpPr txBox="1"/>
          <p:nvPr/>
        </p:nvSpPr>
        <p:spPr>
          <a:xfrm>
            <a:off x="749808"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How are raw tokens and labels</a:t>
            </a:r>
          </a:p>
          <a:p>
            <a:pPr algn="l">
              <a:lnSpc>
                <a:spcPts val="2088"/>
              </a:lnSpc>
              <a:spcBef>
                <a:spcPts val="0"/>
              </a:spcBef>
              <a:spcAft>
                <a:spcPts val="0"/>
              </a:spcAft>
              <a:defRPr sz="1800" b="0">
                <a:solidFill>
                  <a:srgbClr val="587080"/>
                </a:solidFill>
                <a:latin typeface="Arial"/>
              </a:defRPr>
            </a:pPr>
            <a:r>
              <a:t>produced?</a:t>
            </a:r>
          </a:p>
        </p:txBody>
      </p:sp>
      <p:sp>
        <p:nvSpPr>
          <p:cNvPr id="12" name="Rounded Rectangle 11"/>
          <p:cNvSpPr/>
          <p:nvPr/>
        </p:nvSpPr>
        <p:spPr>
          <a:xfrm>
            <a:off x="4312920"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12920" y="20299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caption-8"/>
          <p:cNvSpPr txBox="1"/>
          <p:nvPr/>
        </p:nvSpPr>
        <p:spPr>
          <a:xfrm>
            <a:off x="4523232"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15" name="body-9"/>
          <p:cNvSpPr txBox="1"/>
          <p:nvPr/>
        </p:nvSpPr>
        <p:spPr>
          <a:xfrm>
            <a:off x="4523232"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analysis.py</a:t>
            </a:r>
          </a:p>
        </p:txBody>
      </p:sp>
      <p:sp>
        <p:nvSpPr>
          <p:cNvPr id="16" name="body-10"/>
          <p:cNvSpPr txBox="1"/>
          <p:nvPr/>
        </p:nvSpPr>
        <p:spPr>
          <a:xfrm>
            <a:off x="4523232"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How are grammar sets and</a:t>
            </a:r>
          </a:p>
          <a:p>
            <a:pPr algn="l">
              <a:lnSpc>
                <a:spcPts val="2088"/>
              </a:lnSpc>
              <a:spcBef>
                <a:spcPts val="0"/>
              </a:spcBef>
              <a:spcAft>
                <a:spcPts val="0"/>
              </a:spcAft>
              <a:defRPr sz="1800" b="0">
                <a:solidFill>
                  <a:srgbClr val="587080"/>
                </a:solidFill>
                <a:latin typeface="Arial"/>
              </a:defRPr>
            </a:pPr>
            <a:r>
              <a:t>tables calculated?</a:t>
            </a:r>
          </a:p>
        </p:txBody>
      </p:sp>
      <p:sp>
        <p:nvSpPr>
          <p:cNvPr id="17" name="Rounded Rectangle 16"/>
          <p:cNvSpPr/>
          <p:nvPr/>
        </p:nvSpPr>
        <p:spPr>
          <a:xfrm>
            <a:off x="8086344" y="20299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086344" y="20299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aption-11"/>
          <p:cNvSpPr txBox="1"/>
          <p:nvPr/>
        </p:nvSpPr>
        <p:spPr>
          <a:xfrm>
            <a:off x="8296656" y="21854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0" name="body-12"/>
          <p:cNvSpPr txBox="1"/>
          <p:nvPr/>
        </p:nvSpPr>
        <p:spPr>
          <a:xfrm>
            <a:off x="8296656" y="24780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predictive.py</a:t>
            </a:r>
          </a:p>
        </p:txBody>
      </p:sp>
      <p:sp>
        <p:nvSpPr>
          <p:cNvPr id="21" name="body-13"/>
          <p:cNvSpPr txBox="1"/>
          <p:nvPr/>
        </p:nvSpPr>
        <p:spPr>
          <a:xfrm>
            <a:off x="8296656" y="29535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How does the stack accept or</a:t>
            </a:r>
          </a:p>
          <a:p>
            <a:pPr algn="l">
              <a:lnSpc>
                <a:spcPts val="2088"/>
              </a:lnSpc>
              <a:spcBef>
                <a:spcPts val="0"/>
              </a:spcBef>
              <a:spcAft>
                <a:spcPts val="0"/>
              </a:spcAft>
              <a:defRPr sz="1800" b="0">
                <a:solidFill>
                  <a:srgbClr val="587080"/>
                </a:solidFill>
                <a:latin typeface="Arial"/>
              </a:defRPr>
            </a:pPr>
            <a:r>
              <a:t>reject?</a:t>
            </a:r>
          </a:p>
        </p:txBody>
      </p:sp>
      <p:sp>
        <p:nvSpPr>
          <p:cNvPr id="22" name="Rounded Rectangle 21"/>
          <p:cNvSpPr/>
          <p:nvPr/>
        </p:nvSpPr>
        <p:spPr>
          <a:xfrm>
            <a:off x="539496"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39496"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aption-14"/>
          <p:cNvSpPr txBox="1"/>
          <p:nvPr/>
        </p:nvSpPr>
        <p:spPr>
          <a:xfrm>
            <a:off x="749808"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compiler/parser</a:t>
            </a:r>
          </a:p>
        </p:txBody>
      </p:sp>
      <p:sp>
        <p:nvSpPr>
          <p:cNvPr id="25" name="body-15"/>
          <p:cNvSpPr txBox="1"/>
          <p:nvPr/>
        </p:nvSpPr>
        <p:spPr>
          <a:xfrm>
            <a:off x="749808"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yaounde.py</a:t>
            </a:r>
          </a:p>
        </p:txBody>
      </p:sp>
      <p:sp>
        <p:nvSpPr>
          <p:cNvPr id="26" name="body-16"/>
          <p:cNvSpPr txBox="1"/>
          <p:nvPr/>
        </p:nvSpPr>
        <p:spPr>
          <a:xfrm>
            <a:off x="749808"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Why were these grammar</a:t>
            </a:r>
          </a:p>
          <a:p>
            <a:pPr algn="l">
              <a:lnSpc>
                <a:spcPts val="2088"/>
              </a:lnSpc>
              <a:spcBef>
                <a:spcPts val="0"/>
              </a:spcBef>
              <a:spcAft>
                <a:spcPts val="0"/>
              </a:spcAft>
              <a:defRPr sz="1800" b="0">
                <a:solidFill>
                  <a:srgbClr val="587080"/>
                </a:solidFill>
                <a:latin typeface="Arial"/>
              </a:defRPr>
            </a:pPr>
            <a:r>
              <a:t>rules chosen?</a:t>
            </a:r>
          </a:p>
        </p:txBody>
      </p:sp>
      <p:sp>
        <p:nvSpPr>
          <p:cNvPr id="27" name="Rounded Rectangle 26"/>
          <p:cNvSpPr/>
          <p:nvPr/>
        </p:nvSpPr>
        <p:spPr>
          <a:xfrm>
            <a:off x="4312920"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4312920" y="3973068"/>
            <a:ext cx="50292" cy="17419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aption-17"/>
          <p:cNvSpPr txBox="1"/>
          <p:nvPr/>
        </p:nvSpPr>
        <p:spPr>
          <a:xfrm>
            <a:off x="4523232"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0" name="body-18"/>
          <p:cNvSpPr txBox="1"/>
          <p:nvPr/>
        </p:nvSpPr>
        <p:spPr>
          <a:xfrm>
            <a:off x="4523232"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shared_workspace.py</a:t>
            </a:r>
          </a:p>
        </p:txBody>
      </p:sp>
      <p:sp>
        <p:nvSpPr>
          <p:cNvPr id="31" name="body-19"/>
          <p:cNvSpPr txBox="1"/>
          <p:nvPr/>
        </p:nvSpPr>
        <p:spPr>
          <a:xfrm>
            <a:off x="4523232"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How are public requests saved</a:t>
            </a:r>
          </a:p>
          <a:p>
            <a:pPr algn="l">
              <a:lnSpc>
                <a:spcPts val="2088"/>
              </a:lnSpc>
              <a:spcBef>
                <a:spcPts val="0"/>
              </a:spcBef>
              <a:spcAft>
                <a:spcPts val="0"/>
              </a:spcAft>
              <a:defRPr sz="1800" b="0">
                <a:solidFill>
                  <a:srgbClr val="587080"/>
                </a:solidFill>
                <a:latin typeface="Arial"/>
              </a:defRPr>
            </a:pPr>
            <a:r>
              <a:t>once?</a:t>
            </a:r>
          </a:p>
        </p:txBody>
      </p:sp>
      <p:sp>
        <p:nvSpPr>
          <p:cNvPr id="32" name="Rounded Rectangle 31"/>
          <p:cNvSpPr/>
          <p:nvPr/>
        </p:nvSpPr>
        <p:spPr>
          <a:xfrm>
            <a:off x="8086344" y="3973068"/>
            <a:ext cx="3572256" cy="17419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8086344" y="3973068"/>
            <a:ext cx="50292" cy="17419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aption-20"/>
          <p:cNvSpPr txBox="1"/>
          <p:nvPr/>
        </p:nvSpPr>
        <p:spPr>
          <a:xfrm>
            <a:off x="8296656" y="4128516"/>
            <a:ext cx="3151632" cy="201168"/>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147E80"/>
                </a:solidFill>
                <a:latin typeface="Consolas"/>
              </a:defRPr>
            </a:pPr>
            <a:r>
              <a:t>backend</a:t>
            </a:r>
          </a:p>
        </p:txBody>
      </p:sp>
      <p:sp>
        <p:nvSpPr>
          <p:cNvPr id="35" name="body-21"/>
          <p:cNvSpPr txBox="1"/>
          <p:nvPr/>
        </p:nvSpPr>
        <p:spPr>
          <a:xfrm>
            <a:off x="8296656" y="4421124"/>
            <a:ext cx="3151632" cy="384048"/>
          </a:xfrm>
          <a:prstGeom prst="rect">
            <a:avLst/>
          </a:prstGeom>
          <a:noFill/>
        </p:spPr>
        <p:txBody>
          <a:bodyPr wrap="none" lIns="0" rIns="0" tIns="0" bIns="0" anchor="t">
            <a:noAutofit/>
          </a:bodyPr>
          <a:lstStyle/>
          <a:p>
            <a:pPr algn="l">
              <a:lnSpc>
                <a:spcPts val="2320"/>
              </a:lnSpc>
              <a:spcBef>
                <a:spcPts val="0"/>
              </a:spcBef>
              <a:spcAft>
                <a:spcPts val="0"/>
              </a:spcAft>
              <a:defRPr sz="2000" b="1">
                <a:solidFill>
                  <a:srgbClr val="183747"/>
                </a:solidFill>
                <a:latin typeface="Arial"/>
              </a:defRPr>
            </a:pPr>
            <a:r>
              <a:t>workspaces.py</a:t>
            </a:r>
          </a:p>
        </p:txBody>
      </p:sp>
      <p:sp>
        <p:nvSpPr>
          <p:cNvPr id="36" name="body-22"/>
          <p:cNvSpPr txBox="1"/>
          <p:nvPr/>
        </p:nvSpPr>
        <p:spPr>
          <a:xfrm>
            <a:off x="8296656" y="4896612"/>
            <a:ext cx="3151632" cy="69951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Where is the SQLite</a:t>
            </a:r>
          </a:p>
          <a:p>
            <a:pPr algn="l">
              <a:lnSpc>
                <a:spcPts val="2088"/>
              </a:lnSpc>
              <a:spcBef>
                <a:spcPts val="0"/>
              </a:spcBef>
              <a:spcAft>
                <a:spcPts val="0"/>
              </a:spcAft>
              <a:defRPr sz="1800" b="0">
                <a:solidFill>
                  <a:srgbClr val="587080"/>
                </a:solidFill>
                <a:latin typeface="Arial"/>
              </a:defRPr>
            </a:pPr>
            <a:r>
              <a:t>workspace implemented?</a:t>
            </a:r>
          </a:p>
        </p:txBody>
      </p:sp>
      <p:cxnSp>
        <p:nvCxnSpPr>
          <p:cNvPr id="37" name="Connector 36"/>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8" name="footer-2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9" name="source-2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40" name="source-2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41" name="source-26">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42" name="source-27">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backend/shared_workspace.py</a:t>
            </a:r>
          </a:p>
        </p:txBody>
      </p:sp>
      <p:sp>
        <p:nvSpPr>
          <p:cNvPr id="43" name="footer-2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44" name="footer-2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097 / 100</a:t>
            </a:r>
          </a:p>
        </p:txBody>
      </p:sp>
      <p:sp>
        <p:nvSpPr>
          <p:cNvPr id="45" name="Rectangle 4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0" y="6821424"/>
            <a:ext cx="1182623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A safe demonstration in five moves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Use an existing saved result for a read-only rehearsal.</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OPEN</a:t>
            </a:r>
          </a:p>
        </p:txBody>
      </p:sp>
      <p:sp>
        <p:nvSpPr>
          <p:cNvPr id="10" name="body-7"/>
          <p:cNvSpPr txBox="1"/>
          <p:nvPr/>
        </p:nvSpPr>
        <p:spPr>
          <a:xfrm>
            <a:off x="731520"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Show the public</a:t>
            </a:r>
          </a:p>
          <a:p>
            <a:pPr algn="l">
              <a:lnSpc>
                <a:spcPts val="2088"/>
              </a:lnSpc>
              <a:spcBef>
                <a:spcPts val="0"/>
              </a:spcBef>
              <a:spcAft>
                <a:spcPts val="0"/>
              </a:spcAft>
              <a:defRPr sz="1800" b="0">
                <a:solidFill>
                  <a:srgbClr val="587080"/>
                </a:solidFill>
                <a:latin typeface="Arial"/>
              </a:defRPr>
            </a:pPr>
            <a:r>
              <a:t>Analyzer</a:t>
            </a:r>
          </a:p>
        </p:txBody>
      </p:sp>
      <p:sp>
        <p:nvSpPr>
          <p:cNvPr id="11" name="Chevron 10"/>
          <p:cNvSpPr/>
          <p:nvPr/>
        </p:nvSpPr>
        <p:spPr>
          <a:xfrm>
            <a:off x="262158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82732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01020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01020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INSPECT</a:t>
            </a:r>
          </a:p>
        </p:txBody>
      </p:sp>
      <p:sp>
        <p:nvSpPr>
          <p:cNvPr id="15" name="body-10"/>
          <p:cNvSpPr txBox="1"/>
          <p:nvPr/>
        </p:nvSpPr>
        <p:spPr>
          <a:xfrm>
            <a:off x="3010204" y="4041648"/>
            <a:ext cx="1629460" cy="768096"/>
          </a:xfrm>
          <a:prstGeom prst="rect">
            <a:avLst/>
          </a:prstGeom>
          <a:noFill/>
        </p:spPr>
        <p:txBody>
          <a:bodyPr wrap="none" lIns="0" rIns="0" tIns="0" bIns="0" anchor="t">
            <a:noAutofit/>
          </a:bodyPr>
          <a:lstStyle/>
          <a:p>
            <a:pPr algn="l">
              <a:lnSpc>
                <a:spcPts val="2029"/>
              </a:lnSpc>
              <a:spcBef>
                <a:spcPts val="0"/>
              </a:spcBef>
              <a:spcAft>
                <a:spcPts val="0"/>
              </a:spcAft>
              <a:defRPr sz="1750" b="0">
                <a:solidFill>
                  <a:srgbClr val="587080"/>
                </a:solidFill>
                <a:latin typeface="Arial"/>
              </a:defRPr>
            </a:pPr>
            <a:r>
              <a:t>Choose the</a:t>
            </a:r>
          </a:p>
          <a:p>
            <a:pPr algn="l">
              <a:lnSpc>
                <a:spcPts val="2029"/>
              </a:lnSpc>
              <a:spcBef>
                <a:spcPts val="0"/>
              </a:spcBef>
              <a:spcAft>
                <a:spcPts val="0"/>
              </a:spcAft>
              <a:defRPr sz="1750" b="0">
                <a:solidFill>
                  <a:srgbClr val="587080"/>
                </a:solidFill>
                <a:latin typeface="Arial"/>
              </a:defRPr>
            </a:pPr>
            <a:r>
              <a:t>existing S02 test</a:t>
            </a:r>
          </a:p>
        </p:txBody>
      </p:sp>
      <p:sp>
        <p:nvSpPr>
          <p:cNvPr id="16" name="Chevron 15"/>
          <p:cNvSpPr/>
          <p:nvPr/>
        </p:nvSpPr>
        <p:spPr>
          <a:xfrm>
            <a:off x="490026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510600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528888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528888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EXPLAIN</a:t>
            </a:r>
          </a:p>
        </p:txBody>
      </p:sp>
      <p:sp>
        <p:nvSpPr>
          <p:cNvPr id="20" name="body-13"/>
          <p:cNvSpPr txBox="1"/>
          <p:nvPr/>
        </p:nvSpPr>
        <p:spPr>
          <a:xfrm>
            <a:off x="5288889"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Compare</a:t>
            </a:r>
          </a:p>
          <a:p>
            <a:pPr algn="l">
              <a:lnSpc>
                <a:spcPts val="1972"/>
              </a:lnSpc>
              <a:spcBef>
                <a:spcPts val="0"/>
              </a:spcBef>
              <a:spcAft>
                <a:spcPts val="0"/>
              </a:spcAft>
              <a:defRPr sz="1700" b="0">
                <a:solidFill>
                  <a:srgbClr val="587080"/>
                </a:solidFill>
                <a:latin typeface="Arial"/>
              </a:defRPr>
            </a:pPr>
            <a:r>
              <a:t>tokens, verdict</a:t>
            </a:r>
          </a:p>
          <a:p>
            <a:pPr algn="l">
              <a:lnSpc>
                <a:spcPts val="1972"/>
              </a:lnSpc>
              <a:spcBef>
                <a:spcPts val="0"/>
              </a:spcBef>
              <a:spcAft>
                <a:spcPts val="0"/>
              </a:spcAft>
              <a:defRPr sz="1700" b="0">
                <a:solidFill>
                  <a:srgbClr val="587080"/>
                </a:solidFill>
                <a:latin typeface="Arial"/>
              </a:defRPr>
            </a:pPr>
            <a:r>
              <a:t>and trace</a:t>
            </a:r>
          </a:p>
        </p:txBody>
      </p:sp>
      <p:sp>
        <p:nvSpPr>
          <p:cNvPr id="21" name="Chevron 20"/>
          <p:cNvSpPr/>
          <p:nvPr/>
        </p:nvSpPr>
        <p:spPr>
          <a:xfrm>
            <a:off x="717895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38469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756757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756757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LOOK UP</a:t>
            </a:r>
          </a:p>
        </p:txBody>
      </p:sp>
      <p:sp>
        <p:nvSpPr>
          <p:cNvPr id="25" name="body-16"/>
          <p:cNvSpPr txBox="1"/>
          <p:nvPr/>
        </p:nvSpPr>
        <p:spPr>
          <a:xfrm>
            <a:off x="7567574"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Search kass in</a:t>
            </a:r>
          </a:p>
          <a:p>
            <a:pPr algn="l">
              <a:lnSpc>
                <a:spcPts val="2088"/>
              </a:lnSpc>
              <a:spcBef>
                <a:spcPts val="0"/>
              </a:spcBef>
              <a:spcAft>
                <a:spcPts val="0"/>
              </a:spcAft>
              <a:defRPr sz="1800" b="0">
                <a:solidFill>
                  <a:srgbClr val="587080"/>
                </a:solidFill>
                <a:latin typeface="Arial"/>
              </a:defRPr>
            </a:pPr>
            <a:r>
              <a:t>Dictionary</a:t>
            </a:r>
          </a:p>
        </p:txBody>
      </p:sp>
      <p:sp>
        <p:nvSpPr>
          <p:cNvPr id="26" name="Chevron 25"/>
          <p:cNvSpPr/>
          <p:nvPr/>
        </p:nvSpPr>
        <p:spPr>
          <a:xfrm>
            <a:off x="945763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966337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17"/>
          <p:cNvSpPr txBox="1"/>
          <p:nvPr/>
        </p:nvSpPr>
        <p:spPr>
          <a:xfrm>
            <a:off x="984625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05</a:t>
            </a:r>
          </a:p>
        </p:txBody>
      </p:sp>
      <p:sp>
        <p:nvSpPr>
          <p:cNvPr id="29" name="body-18"/>
          <p:cNvSpPr txBox="1"/>
          <p:nvPr/>
        </p:nvSpPr>
        <p:spPr>
          <a:xfrm>
            <a:off x="984625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CONNECT</a:t>
            </a:r>
          </a:p>
        </p:txBody>
      </p:sp>
      <p:sp>
        <p:nvSpPr>
          <p:cNvPr id="30" name="body-19"/>
          <p:cNvSpPr txBox="1"/>
          <p:nvPr/>
        </p:nvSpPr>
        <p:spPr>
          <a:xfrm>
            <a:off x="9846259"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Point to the</a:t>
            </a:r>
          </a:p>
          <a:p>
            <a:pPr algn="l">
              <a:lnSpc>
                <a:spcPts val="1972"/>
              </a:lnSpc>
              <a:spcBef>
                <a:spcPts val="0"/>
              </a:spcBef>
              <a:spcAft>
                <a:spcPts val="0"/>
              </a:spcAft>
              <a:defRPr sz="1700" b="0">
                <a:solidFill>
                  <a:srgbClr val="587080"/>
                </a:solidFill>
                <a:latin typeface="Arial"/>
              </a:defRPr>
            </a:pPr>
            <a:r>
              <a:t>responsible</a:t>
            </a:r>
          </a:p>
          <a:p>
            <a:pPr algn="l">
              <a:lnSpc>
                <a:spcPts val="1972"/>
              </a:lnSpc>
              <a:spcBef>
                <a:spcPts val="0"/>
              </a:spcBef>
              <a:spcAft>
                <a:spcPts val="0"/>
              </a:spcAft>
              <a:defRPr sz="1700" b="0">
                <a:solidFill>
                  <a:srgbClr val="587080"/>
                </a:solidFill>
                <a:latin typeface="Arial"/>
              </a:defRPr>
            </a:pPr>
            <a:r>
              <a:t>source files</a:t>
            </a:r>
          </a:p>
        </p:txBody>
      </p:sp>
      <p:sp>
        <p:nvSpPr>
          <p:cNvPr id="31" name="caption-20"/>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35"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36"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frontend/src/Dictionary.tsx</a:t>
            </a:r>
          </a:p>
        </p:txBody>
      </p:sp>
      <p:sp>
        <p:nvSpPr>
          <p:cNvPr id="37" name="source-25">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docs/README.md</a:t>
            </a:r>
          </a:p>
        </p:txBody>
      </p:sp>
      <p:sp>
        <p:nvSpPr>
          <p:cNvPr id="38" name="footer-2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098 / 100</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1194815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10 / EVIDENCE AND DEMONSTRATION</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Present the story; keep the depth</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All 100 slides are included. A short oral route is optional.</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1993392"/>
            <a:ext cx="11082528" cy="891539"/>
          </a:xfrm>
          <a:prstGeom prst="roundRect">
            <a:avLst>
              <a:gd name="adj" fmla="val 11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58952" y="2148840"/>
            <a:ext cx="3794760" cy="736092"/>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OPEN / 01, 05</a:t>
            </a:r>
          </a:p>
        </p:txBody>
      </p:sp>
      <p:sp>
        <p:nvSpPr>
          <p:cNvPr id="9" name="body-6"/>
          <p:cNvSpPr txBox="1"/>
          <p:nvPr/>
        </p:nvSpPr>
        <p:spPr>
          <a:xfrm>
            <a:off x="4700016" y="2148840"/>
            <a:ext cx="6647688" cy="74523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Introduce the product and its five pages.</a:t>
            </a:r>
          </a:p>
        </p:txBody>
      </p:sp>
      <p:sp>
        <p:nvSpPr>
          <p:cNvPr id="10" name="Rounded Rectangle 9"/>
          <p:cNvSpPr/>
          <p:nvPr/>
        </p:nvSpPr>
        <p:spPr>
          <a:xfrm>
            <a:off x="548640" y="2939796"/>
            <a:ext cx="11082528" cy="891539"/>
          </a:xfrm>
          <a:prstGeom prst="roundRect">
            <a:avLst>
              <a:gd name="adj" fmla="val 11000"/>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58952" y="3095244"/>
            <a:ext cx="3794760" cy="736092"/>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DEMO / 13, 17, 24, 35</a:t>
            </a:r>
          </a:p>
        </p:txBody>
      </p:sp>
      <p:sp>
        <p:nvSpPr>
          <p:cNvPr id="12" name="body-8"/>
          <p:cNvSpPr txBox="1"/>
          <p:nvPr/>
        </p:nvSpPr>
        <p:spPr>
          <a:xfrm>
            <a:off x="4700016" y="3095244"/>
            <a:ext cx="6647688" cy="74523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Show a request, a result, two verdicts and lookup.</a:t>
            </a:r>
          </a:p>
        </p:txBody>
      </p:sp>
      <p:sp>
        <p:nvSpPr>
          <p:cNvPr id="13" name="Rounded Rectangle 12"/>
          <p:cNvSpPr/>
          <p:nvPr/>
        </p:nvSpPr>
        <p:spPr>
          <a:xfrm>
            <a:off x="548640" y="3886200"/>
            <a:ext cx="11082528" cy="891539"/>
          </a:xfrm>
          <a:prstGeom prst="roundRect">
            <a:avLst>
              <a:gd name="adj" fmla="val 11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58952" y="4041648"/>
            <a:ext cx="3794760" cy="736092"/>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EXPLAIN / 56, 73, 88</a:t>
            </a:r>
          </a:p>
        </p:txBody>
      </p:sp>
      <p:sp>
        <p:nvSpPr>
          <p:cNvPr id="15" name="body-10"/>
          <p:cNvSpPr txBox="1"/>
          <p:nvPr/>
        </p:nvSpPr>
        <p:spPr>
          <a:xfrm>
            <a:off x="4700016" y="4041648"/>
            <a:ext cx="6647688" cy="74523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Connect lexer, parser and deployment.</a:t>
            </a:r>
          </a:p>
        </p:txBody>
      </p:sp>
      <p:sp>
        <p:nvSpPr>
          <p:cNvPr id="16" name="Rounded Rectangle 15"/>
          <p:cNvSpPr/>
          <p:nvPr/>
        </p:nvSpPr>
        <p:spPr>
          <a:xfrm>
            <a:off x="548640" y="4832604"/>
            <a:ext cx="11082528" cy="891539"/>
          </a:xfrm>
          <a:prstGeom prst="roundRect">
            <a:avLst>
              <a:gd name="adj" fmla="val 11000"/>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11"/>
          <p:cNvSpPr txBox="1"/>
          <p:nvPr/>
        </p:nvSpPr>
        <p:spPr>
          <a:xfrm>
            <a:off x="758952" y="4988052"/>
            <a:ext cx="3794760" cy="736092"/>
          </a:xfrm>
          <a:prstGeom prst="rect">
            <a:avLst/>
          </a:prstGeom>
          <a:noFill/>
        </p:spPr>
        <p:txBody>
          <a:bodyPr wrap="none" lIns="0" rIns="0" tIns="0" bIns="0" anchor="t">
            <a:noAutofit/>
          </a:bodyPr>
          <a:lstStyle/>
          <a:p>
            <a:pPr algn="l">
              <a:lnSpc>
                <a:spcPts val="2088"/>
              </a:lnSpc>
              <a:spcBef>
                <a:spcPts val="0"/>
              </a:spcBef>
              <a:spcAft>
                <a:spcPts val="0"/>
              </a:spcAft>
              <a:defRPr sz="1800" b="1">
                <a:solidFill>
                  <a:srgbClr val="147E80"/>
                </a:solidFill>
                <a:latin typeface="Arial"/>
              </a:defRPr>
            </a:pPr>
            <a:r>
              <a:t>CLOSE / 100</a:t>
            </a:r>
          </a:p>
        </p:txBody>
      </p:sp>
      <p:sp>
        <p:nvSpPr>
          <p:cNvPr id="18" name="body-12"/>
          <p:cNvSpPr txBox="1"/>
          <p:nvPr/>
        </p:nvSpPr>
        <p:spPr>
          <a:xfrm>
            <a:off x="4700016" y="4988052"/>
            <a:ext cx="6647688" cy="74523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Return to the value and invite questions.</a:t>
            </a:r>
          </a:p>
        </p:txBody>
      </p:sp>
      <p:cxnSp>
        <p:nvCxnSpPr>
          <p:cNvPr id="19" name="Connector 1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0"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1" name="source-14">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docs/final-report.tex</a:t>
            </a:r>
          </a:p>
        </p:txBody>
      </p:sp>
      <p:sp>
        <p:nvSpPr>
          <p:cNvPr id="22" name="source-15">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docs/README.md</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099 / 100</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1207007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123041"/>
        </a:solidFill>
        <a:effectLst/>
      </p:bgPr>
    </p:bg>
    <p:spTree>
      <p:nvGrpSpPr>
        <p:cNvPr id="1" name=""/>
        <p:cNvGrpSpPr/>
        <p:nvPr/>
      </p:nvGrpSpPr>
      <p:grpSpPr/>
      <p:sp>
        <p:nvSpPr>
          <p:cNvPr id="2" name="Rectangle 1"/>
          <p:cNvSpPr/>
          <p:nvPr/>
        </p:nvSpPr>
        <p:spPr>
          <a:xfrm>
            <a:off x="539496" y="576072"/>
            <a:ext cx="941832" cy="5029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section-1"/>
          <p:cNvSpPr txBox="1"/>
          <p:nvPr/>
        </p:nvSpPr>
        <p:spPr>
          <a:xfrm>
            <a:off x="539496" y="905256"/>
            <a:ext cx="9418320"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85BABB"/>
                </a:solidFill>
                <a:latin typeface="Arial"/>
              </a:defRPr>
            </a:pPr>
            <a:r>
              <a:t>CAMFRANGLAIS / COMPILER WORKSPACE</a:t>
            </a:r>
          </a:p>
        </p:txBody>
      </p:sp>
      <p:sp>
        <p:nvSpPr>
          <p:cNvPr id="4" name="title-2"/>
          <p:cNvSpPr txBox="1"/>
          <p:nvPr/>
        </p:nvSpPr>
        <p:spPr>
          <a:xfrm>
            <a:off x="548640" y="1700784"/>
            <a:ext cx="10515600" cy="1207008"/>
          </a:xfrm>
          <a:prstGeom prst="rect">
            <a:avLst/>
          </a:prstGeom>
          <a:noFill/>
        </p:spPr>
        <p:txBody>
          <a:bodyPr wrap="none" lIns="0" rIns="0" tIns="0" bIns="0" anchor="t">
            <a:noAutofit/>
          </a:bodyPr>
          <a:lstStyle/>
          <a:p>
            <a:pPr algn="l">
              <a:lnSpc>
                <a:spcPts val="5567"/>
              </a:lnSpc>
              <a:spcBef>
                <a:spcPts val="0"/>
              </a:spcBef>
              <a:spcAft>
                <a:spcPts val="0"/>
              </a:spcAft>
              <a:defRPr sz="4800" b="0">
                <a:solidFill>
                  <a:srgbClr val="FFFFFF"/>
                </a:solidFill>
                <a:latin typeface="Georgia"/>
              </a:defRPr>
            </a:pPr>
            <a:r>
              <a:t>From language to evidence.</a:t>
            </a:r>
          </a:p>
        </p:txBody>
      </p:sp>
      <p:sp>
        <p:nvSpPr>
          <p:cNvPr id="5" name="subtitle-3"/>
          <p:cNvSpPr txBox="1"/>
          <p:nvPr/>
        </p:nvSpPr>
        <p:spPr>
          <a:xfrm>
            <a:off x="594360" y="3017520"/>
            <a:ext cx="10515600" cy="658368"/>
          </a:xfrm>
          <a:prstGeom prst="rect">
            <a:avLst/>
          </a:prstGeom>
          <a:noFill/>
        </p:spPr>
        <p:txBody>
          <a:bodyPr wrap="none" lIns="0" rIns="0" tIns="0" bIns="0" anchor="t">
            <a:noAutofit/>
          </a:bodyPr>
          <a:lstStyle/>
          <a:p>
            <a:pPr algn="l">
              <a:lnSpc>
                <a:spcPts val="3596"/>
              </a:lnSpc>
              <a:spcBef>
                <a:spcPts val="0"/>
              </a:spcBef>
              <a:spcAft>
                <a:spcPts val="0"/>
              </a:spcAft>
              <a:defRPr sz="3100" b="0">
                <a:solidFill>
                  <a:srgbClr val="BBD2D3"/>
                </a:solidFill>
                <a:latin typeface="Arial"/>
              </a:defRPr>
            </a:pPr>
            <a:r>
              <a:t>Your questions, traced to the code.</a:t>
            </a:r>
          </a:p>
        </p:txBody>
      </p:sp>
      <p:sp>
        <p:nvSpPr>
          <p:cNvPr id="6" name="body-4"/>
          <p:cNvSpPr txBox="1"/>
          <p:nvPr/>
        </p:nvSpPr>
        <p:spPr>
          <a:xfrm>
            <a:off x="603504" y="4178808"/>
            <a:ext cx="3200400" cy="292608"/>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PRESERVE</a:t>
            </a:r>
          </a:p>
        </p:txBody>
      </p:sp>
      <p:sp>
        <p:nvSpPr>
          <p:cNvPr id="7" name="body-5"/>
          <p:cNvSpPr txBox="1"/>
          <p:nvPr/>
        </p:nvSpPr>
        <p:spPr>
          <a:xfrm>
            <a:off x="603504" y="4590288"/>
            <a:ext cx="3291840" cy="411480"/>
          </a:xfrm>
          <a:prstGeom prst="rect">
            <a:avLst/>
          </a:prstGeom>
          <a:noFill/>
        </p:spPr>
        <p:txBody>
          <a:bodyPr wrap="none" lIns="0" rIns="0" tIns="0" bIns="0" anchor="t">
            <a:noAutofit/>
          </a:bodyPr>
          <a:lstStyle/>
          <a:p>
            <a:pPr algn="l">
              <a:lnSpc>
                <a:spcPts val="2783"/>
              </a:lnSpc>
              <a:spcBef>
                <a:spcPts val="0"/>
              </a:spcBef>
              <a:spcAft>
                <a:spcPts val="0"/>
              </a:spcAft>
              <a:defRPr sz="2400" b="0">
                <a:solidFill>
                  <a:srgbClr val="FFFFFF"/>
                </a:solidFill>
                <a:latin typeface="Arial"/>
              </a:defRPr>
            </a:pPr>
            <a:r>
              <a:t>The original text</a:t>
            </a:r>
          </a:p>
        </p:txBody>
      </p:sp>
      <p:sp>
        <p:nvSpPr>
          <p:cNvPr id="8" name="body-6"/>
          <p:cNvSpPr txBox="1"/>
          <p:nvPr/>
        </p:nvSpPr>
        <p:spPr>
          <a:xfrm>
            <a:off x="4352544" y="4178808"/>
            <a:ext cx="3200400" cy="292608"/>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EXPLAIN</a:t>
            </a:r>
          </a:p>
        </p:txBody>
      </p:sp>
      <p:sp>
        <p:nvSpPr>
          <p:cNvPr id="9" name="body-7"/>
          <p:cNvSpPr txBox="1"/>
          <p:nvPr/>
        </p:nvSpPr>
        <p:spPr>
          <a:xfrm>
            <a:off x="4352544" y="4590288"/>
            <a:ext cx="3291840" cy="411480"/>
          </a:xfrm>
          <a:prstGeom prst="rect">
            <a:avLst/>
          </a:prstGeom>
          <a:noFill/>
        </p:spPr>
        <p:txBody>
          <a:bodyPr wrap="none" lIns="0" rIns="0" tIns="0" bIns="0" anchor="t">
            <a:noAutofit/>
          </a:bodyPr>
          <a:lstStyle/>
          <a:p>
            <a:pPr algn="l">
              <a:lnSpc>
                <a:spcPts val="2783"/>
              </a:lnSpc>
              <a:spcBef>
                <a:spcPts val="0"/>
              </a:spcBef>
              <a:spcAft>
                <a:spcPts val="0"/>
              </a:spcAft>
              <a:defRPr sz="2400" b="0">
                <a:solidFill>
                  <a:srgbClr val="FFFFFF"/>
                </a:solidFill>
                <a:latin typeface="Arial"/>
              </a:defRPr>
            </a:pPr>
            <a:r>
              <a:t>The rules and trace</a:t>
            </a:r>
          </a:p>
        </p:txBody>
      </p:sp>
      <p:sp>
        <p:nvSpPr>
          <p:cNvPr id="10" name="body-8"/>
          <p:cNvSpPr txBox="1"/>
          <p:nvPr/>
        </p:nvSpPr>
        <p:spPr>
          <a:xfrm>
            <a:off x="8101583" y="4178808"/>
            <a:ext cx="3200400" cy="292608"/>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RETAIN</a:t>
            </a:r>
          </a:p>
        </p:txBody>
      </p:sp>
      <p:sp>
        <p:nvSpPr>
          <p:cNvPr id="11" name="body-9"/>
          <p:cNvSpPr txBox="1"/>
          <p:nvPr/>
        </p:nvSpPr>
        <p:spPr>
          <a:xfrm>
            <a:off x="8101583" y="4590288"/>
            <a:ext cx="3291840" cy="411480"/>
          </a:xfrm>
          <a:prstGeom prst="rect">
            <a:avLst/>
          </a:prstGeom>
          <a:noFill/>
        </p:spPr>
        <p:txBody>
          <a:bodyPr wrap="none" lIns="0" rIns="0" tIns="0" bIns="0" anchor="t">
            <a:noAutofit/>
          </a:bodyPr>
          <a:lstStyle/>
          <a:p>
            <a:pPr algn="l">
              <a:lnSpc>
                <a:spcPts val="2783"/>
              </a:lnSpc>
              <a:spcBef>
                <a:spcPts val="0"/>
              </a:spcBef>
              <a:spcAft>
                <a:spcPts val="0"/>
              </a:spcAft>
              <a:defRPr sz="2400" b="0">
                <a:solidFill>
                  <a:srgbClr val="FFFFFF"/>
                </a:solidFill>
                <a:latin typeface="Arial"/>
              </a:defRPr>
            </a:pPr>
            <a:r>
              <a:t>The original result</a:t>
            </a:r>
          </a:p>
        </p:txBody>
      </p:sp>
      <p:sp>
        <p:nvSpPr>
          <p:cNvPr id="12" name="body-10">
            <a:hlinkClick r:id="rId2"/>
          </p:cNvPr>
          <p:cNvSpPr txBox="1"/>
          <p:nvPr/>
        </p:nvSpPr>
        <p:spPr>
          <a:xfrm>
            <a:off x="603504" y="5431536"/>
            <a:ext cx="9144000" cy="347472"/>
          </a:xfrm>
          <a:prstGeom prst="rect">
            <a:avLst/>
          </a:prstGeom>
          <a:noFill/>
        </p:spPr>
        <p:txBody>
          <a:bodyPr wrap="none" lIns="0" rIns="0" tIns="0" bIns="0" anchor="t">
            <a:noAutofit/>
          </a:bodyPr>
          <a:lstStyle/>
          <a:p>
            <a:pPr algn="l">
              <a:lnSpc>
                <a:spcPts val="2204"/>
              </a:lnSpc>
              <a:spcBef>
                <a:spcPts val="0"/>
              </a:spcBef>
              <a:spcAft>
                <a:spcPts val="0"/>
              </a:spcAft>
              <a:defRPr sz="1900" b="1">
                <a:solidFill>
                  <a:srgbClr val="7DD2C7"/>
                </a:solidFill>
                <a:latin typeface="Arial"/>
              </a:defRPr>
            </a:pPr>
            <a:r>
              <a:t>camfranglais.duckdns.org</a:t>
            </a:r>
          </a:p>
        </p:txBody>
      </p:sp>
      <p:cxnSp>
        <p:nvCxnSpPr>
          <p:cNvPr id="13" name="Connector 12"/>
          <p:cNvCxnSpPr/>
          <p:nvPr/>
        </p:nvCxnSpPr>
        <p:spPr>
          <a:xfrm>
            <a:off x="530352" y="6062472"/>
            <a:ext cx="11128248" cy="0"/>
          </a:xfrm>
          <a:prstGeom prst="line">
            <a:avLst/>
          </a:prstGeom>
          <a:ln w="8890">
            <a:solidFill>
              <a:srgbClr val="355565"/>
            </a:solidFill>
          </a:ln>
          <a:effectLst/>
        </p:spPr>
        <p:style>
          <a:lnRef idx="2">
            <a:schemeClr val="accent1"/>
          </a:lnRef>
          <a:fillRef idx="0">
            <a:schemeClr val="accent1"/>
          </a:fillRef>
          <a:effectRef idx="0">
            <a:schemeClr val="accent1"/>
          </a:effectRef>
          <a:fontRef idx="minor">
            <a:schemeClr val="tx1"/>
          </a:fontRef>
        </p:style>
      </p:cxnSp>
      <p:sp>
        <p:nvSpPr>
          <p:cNvPr id="14"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CBA261"/>
                </a:solidFill>
                <a:latin typeface="Arial"/>
              </a:defRPr>
            </a:pPr>
            <a:r>
              <a:t>IMPLEMENTATION / EVIDENCE</a:t>
            </a:r>
          </a:p>
        </p:txBody>
      </p:sp>
      <p:sp>
        <p:nvSpPr>
          <p:cNvPr id="15"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README.md</a:t>
            </a:r>
          </a:p>
        </p:txBody>
      </p:sp>
      <p:sp>
        <p:nvSpPr>
          <p:cNvPr id="16"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docs/README.md</a:t>
            </a:r>
          </a:p>
        </p:txBody>
      </p:sp>
      <p:sp>
        <p:nvSpPr>
          <p:cNvPr id="17"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B2CBCB"/>
                </a:solidFill>
                <a:latin typeface="Arial"/>
              </a:defRPr>
            </a:pPr>
            <a:r>
              <a:t>CS4110  /  SET A  /  27 SEP 2026</a:t>
            </a:r>
          </a:p>
        </p:txBody>
      </p:sp>
      <p:sp>
        <p:nvSpPr>
          <p:cNvPr id="18"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B2CBCB"/>
                </a:solidFill>
                <a:latin typeface="Arial"/>
              </a:defRPr>
            </a:pPr>
            <a:r>
              <a:t>100 / 100</a:t>
            </a:r>
          </a:p>
        </p:txBody>
      </p:sp>
      <p:sp>
        <p:nvSpPr>
          <p:cNvPr id="19" name="Rectangle 18"/>
          <p:cNvSpPr/>
          <p:nvPr/>
        </p:nvSpPr>
        <p:spPr>
          <a:xfrm>
            <a:off x="0" y="6821424"/>
            <a:ext cx="12191999" cy="36576"/>
          </a:xfrm>
          <a:prstGeom prst="rect">
            <a:avLst/>
          </a:prstGeom>
          <a:solidFill>
            <a:srgbClr val="2848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0" y="6821424"/>
            <a:ext cx="12191999" cy="36576"/>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Camfranglais | Application and Source Guide | 100 Slides</dc:title>
  <dc:subject>CS4110 SET A: public app, responsible source files, lexer and LL(1) parser</dc:subject>
  <dc:creator>Kwete Ngouba Junior Rayan; Djemtchimo Noukui Bruno Jonatan; Amina Boubakary</dc:creator>
  <cp:keywords>Camfranglais, compiler, CS4110, LL(1), DFA, source guide, 100 slides</cp:keywords>
  <dc:description>Editable slides with actual app screenshots, source references and speaker notes.</dc:description>
  <cp:lastModifiedBy>Steve Canny</cp:lastModifiedBy>
  <cp:revision>1</cp:revision>
  <dcterms:created xsi:type="dcterms:W3CDTF">2013-01-27T09:14:16Z</dcterms:created>
  <dcterms:modified xsi:type="dcterms:W3CDTF">2013-01-27T09:15:58Z</dcterms:modified>
  <cp:category/>
</cp:coreProperties>
</file>